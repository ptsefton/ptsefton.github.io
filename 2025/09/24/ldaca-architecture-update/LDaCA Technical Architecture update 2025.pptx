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9BA815-142A-4FB6-854A-6ADEC629850B}">
  <a:tblStyle styleId="{A29BA815-142A-4FB6-854A-6ADEC629850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3id.org/ldac/pilars"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dre.ada.edu.au/login" TargetMode="External"/><Relationship Id="rId3" Type="http://schemas.openxmlformats.org/officeDocument/2006/relationships/hyperlink" Target="https://www.elixir-finland.org/en/aai-rems-2/"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daca.edu.au/news/posts/fair-care-eresearch-2022/"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daca.edu.au/news/posts/open-repositories-2024-pilar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hema.org"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a:t>
            </a:r>
            <a:r>
              <a:rPr lang="en-GB"/>
              <a:t>presentation</a:t>
            </a:r>
            <a:r>
              <a:rPr lang="en-GB"/>
              <a:t> is an update on the LDaCA technical architecture for the LDaCA Steering Committee meeting 22 August 2025.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architecture for LDaCA has not changed significantly for the last couple of years. We are still basing our design on the [PILARS](</a:t>
            </a:r>
            <a:r>
              <a:rPr lang="en-GB" u="sng">
                <a:solidFill>
                  <a:schemeClr val="hlink"/>
                </a:solidFill>
                <a:hlinkClick r:id="rId2"/>
              </a:rPr>
              <a:t>http://w3id.org/ldac/pilars</a:t>
            </a:r>
            <a:r>
              <a:rPr lang="en-GB"/>
              <a:t>) </a:t>
            </a:r>
            <a:r>
              <a:rPr lang="en-GB"/>
              <a:t>protocols.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634385e3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634385e3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presentation will report on some recent developments, mostly in </a:t>
            </a:r>
            <a:r>
              <a:rPr lang="en-GB"/>
              <a:t>behind</a:t>
            </a:r>
            <a:r>
              <a:rPr lang="en-GB"/>
              <a:t>-the-scenes improvements to our software stack. It will give a brief refresh of </a:t>
            </a:r>
            <a:r>
              <a:rPr lang="en-GB"/>
              <a:t>the</a:t>
            </a:r>
            <a:r>
              <a:rPr lang="en-GB"/>
              <a:t> principles behind the LDaCA </a:t>
            </a:r>
            <a:r>
              <a:rPr lang="en-GB"/>
              <a:t>approach, and talk about our decentralised approach to data management and how it fits with the metadata standards we have been developing for the last few years. We will also show how the open source tools used across LDaCA’s network of collaborators are starting to be harmonised and shared between services, reducing development and maintenance costs and improving sustainability.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63eee6020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763eee6020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new RO-Crate API will extend portals and act as a baseline for other infrastructure that uses RO-Crates. For example, AROCAPI has basic routes (use cases) and specific configurations will be implemented (coded/programmed) for different portals.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 concrete example is that PARADISEC will implement different authentication routes (using the existing “Nabu” catalog) than the LDaCA data portal which uses [CADRE](</a:t>
            </a:r>
            <a:r>
              <a:rPr lang="en-GB" u="sng">
                <a:solidFill>
                  <a:schemeClr val="hlink"/>
                </a:solidFill>
                <a:hlinkClick r:id="rId2"/>
              </a:rPr>
              <a:t>https://cadre.ada.edu.au/login</a:t>
            </a:r>
            <a:r>
              <a:rPr lang="en-GB"/>
              <a:t>) ([REMS])(</a:t>
            </a:r>
            <a:r>
              <a:rPr lang="en-GB" u="sng">
                <a:solidFill>
                  <a:schemeClr val="hlink"/>
                </a:solidFill>
                <a:hlinkClick r:id="rId3"/>
              </a:rPr>
              <a:t>https://www.elixir-finland.org/en/aai-rems-2/</a:t>
            </a:r>
            <a:r>
              <a:rPr lang="en-GB"/>
              <a: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solidFill>
                  <a:schemeClr val="dk1"/>
                </a:solidFill>
              </a:rPr>
              <a:t>We are evaluating the API throughout its development, rather than waiting until John finishes his work on it.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771164ed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771164ed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GB">
                <a:solidFill>
                  <a:schemeClr val="dk1"/>
                </a:solidFill>
              </a:rPr>
              <a:t>Promising discussions are taking place with one of our partners about taking on LDaCA data long-term (instead of having to distribute the collections across partner institutions). This would give a consolidated basis for a Language Data repository and a broader Humanities data service.</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7634385e3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slide shows the LDaCA execution strategy. All of the strands (Collect &amp; organise, Conserve, Find, Access, Analyse, Guide) are relevant to the technical architecture.</a:t>
            </a:r>
            <a:endParaRPr/>
          </a:p>
        </p:txBody>
      </p:sp>
      <p:sp>
        <p:nvSpPr>
          <p:cNvPr id="77" name="Google Shape;77;g37634385e3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634385e3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7634385e3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From the very beginning of the project, the LDaC</a:t>
            </a:r>
            <a:r>
              <a:rPr lang="en-GB"/>
              <a:t>A architecture has been designed around the principle that to build a “Research Data Commons” we need to look after data above all else. We took an approach that considered long-term data management separately from current uses of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resulted in some design choices which are markedly different from those commonly seen in software development for research.</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solidFill>
                  <a:schemeClr val="dk1"/>
                </a:solidFill>
              </a:rPr>
              <a:t>Effort was put into: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Organising and describing data using open specifications BEFORE building features into applications;</a:t>
            </a:r>
            <a:endParaRPr/>
          </a:p>
          <a:p>
            <a:pPr indent="0" lvl="0" marL="0" rtl="0" algn="l">
              <a:spcBef>
                <a:spcPts val="0"/>
              </a:spcBef>
              <a:spcAft>
                <a:spcPts val="0"/>
              </a:spcAft>
              <a:buNone/>
            </a:pPr>
            <a:r>
              <a:rPr lang="en-GB"/>
              <a:t>- Designing an access-control system with long-term adaptability in mind (read [the story about that](</a:t>
            </a:r>
            <a:r>
              <a:rPr lang="en-GB" u="sng">
                <a:solidFill>
                  <a:schemeClr val="hlink"/>
                </a:solidFill>
                <a:hlinkClick r:id="rId2"/>
              </a:rPr>
              <a:t>https://www.ldaca.edu.au/news/posts/fair-care-eresearch-2022/</a:t>
            </a:r>
            <a:r>
              <a:rPr lang="en-GB"/>
              <a:t>) as presented at eResearch Australasia 2022);</a:t>
            </a:r>
            <a:endParaRPr/>
          </a:p>
          <a:p>
            <a:pPr indent="0" lvl="0" marL="0" rtl="0" algn="l">
              <a:spcBef>
                <a:spcPts val="0"/>
              </a:spcBef>
              <a:spcAft>
                <a:spcPts val="0"/>
              </a:spcAft>
              <a:buNone/>
            </a:pPr>
            <a:r>
              <a:rPr lang="en-GB"/>
              <a:t>- Batch-conversion of existing data to the new approach; and</a:t>
            </a:r>
            <a:endParaRPr/>
          </a:p>
          <a:p>
            <a:pPr indent="0" lvl="0" marL="0" rtl="0" algn="l">
              <a:spcBef>
                <a:spcPts val="0"/>
              </a:spcBef>
              <a:spcAft>
                <a:spcPts val="0"/>
              </a:spcAft>
              <a:buNone/>
            </a:pPr>
            <a:r>
              <a:rPr lang="en-GB"/>
              <a:t>- Developing a metadata framework and tools to implement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With this foundation, and the new interoperability we gain from our collaboration on the AROCAPI API, we are well placed to move into a </a:t>
            </a:r>
            <a:r>
              <a:rPr lang="en-GB"/>
              <a:t>phase of rapid expansion of the data assets building workspace services</a:t>
            </a:r>
            <a:r>
              <a:rPr lang="en-GB"/>
              <a:t>. For example: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The new LDaCA analytics forum will drive analytical workspaces</a:t>
            </a:r>
            <a:endParaRPr/>
          </a:p>
          <a:p>
            <a:pPr indent="0" lvl="0" marL="0" rtl="0" algn="l">
              <a:spcBef>
                <a:spcPts val="0"/>
              </a:spcBef>
              <a:spcAft>
                <a:spcPts val="0"/>
              </a:spcAft>
              <a:buNone/>
            </a:pPr>
            <a:r>
              <a:rPr lang="en-GB"/>
              <a:t>- Work by the LDaCA technical team will continue to improve data preparation workspaces, possibly by collaborating to adapt the Nyingarn Workspace for general purpose use.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63eee6020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763eee6020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In 2024, we released the Protocols for Implementing Long Term Archival Repositories (PILARS), described in this [2024 presentation at Open Repositories](</a:t>
            </a:r>
            <a:r>
              <a:rPr lang="en-GB" u="sng">
                <a:solidFill>
                  <a:schemeClr val="hlink"/>
                </a:solidFill>
                <a:hlinkClick r:id="rId2"/>
              </a:rPr>
              <a:t>https://www.ldaca.edu.au/news/posts/open-repositories-2024-pilars/</a:t>
            </a:r>
            <a:r>
              <a:rPr lang="en-GB">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763eee6020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For the rest of this presentation, we will focus on recent developments in the “Green zone” – the Archival Repository functions of the LDaCA architecture. We will not be talking about </a:t>
            </a:r>
            <a:r>
              <a:rPr lang="en-GB"/>
              <a:t>the</a:t>
            </a:r>
            <a:r>
              <a:rPr lang="en-GB"/>
              <a:t> analysis stream as that will be discussed in detail in the newly established Analytics Forum.</a:t>
            </a:r>
            <a:endParaRPr/>
          </a:p>
        </p:txBody>
      </p:sp>
      <p:sp>
        <p:nvSpPr>
          <p:cNvPr id="150" name="Google Shape;150;g3763eee6020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71164ed5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771164ed5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 wanted to throw in a personal story here. This is an unstaged picture of my (PT Sefton’s) garage this morning. The box of hard drives contains some old backups of mine just in case, and also my late father Ian Sefton’s physics education research data, stuff like student feedback from lab programs in the 80s trialling different approaches to teaching core </a:t>
            </a:r>
            <a:r>
              <a:rPr lang="en-GB"/>
              <a:t>physics</a:t>
            </a:r>
            <a:r>
              <a:rPr lang="en-GB"/>
              <a:t> concepts and extensive literature reviews. These HAVE been handed on to his younger colleagues but could </a:t>
            </a:r>
            <a:r>
              <a:rPr lang="en-GB"/>
              <a:t>easily have ended up only available here in this garage. I wanted to remind us all that this project is a once in a career opportunity to develop processes for organising data and putting it somewhere alongside other data in a Data Commons where (a) your descendants are not made responsible for it and put it in a box in the shed or chuck it in a skip; and (b) others can find it, use it (subject to the clear “data will” license permissions you left with the data to describe who should be allowed to do what with it), and build on your legacy.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Remember: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Storage is not data management (particularly if the storage is a shopping bag full of mistreated hard drives)</a:t>
            </a:r>
            <a:endParaRPr/>
          </a:p>
          <a:p>
            <a:pPr indent="0" lvl="0" marL="0" rtl="0" algn="l">
              <a:spcBef>
                <a:spcPts val="0"/>
              </a:spcBef>
              <a:spcAft>
                <a:spcPts val="0"/>
              </a:spcAft>
              <a:buNone/>
            </a:pPr>
            <a:r>
              <a:rPr lang="en-GB"/>
              <a:t>- Passing boxes of storage devices hand to hand is NOT a good strategy to conserve data</a:t>
            </a:r>
            <a:endParaRPr/>
          </a:p>
          <a:p>
            <a:pPr indent="0" lvl="0" marL="0" rtl="0" algn="l">
              <a:spcBef>
                <a:spcPts val="0"/>
              </a:spcBef>
              <a:spcAft>
                <a:spcPts val="0"/>
              </a:spcAft>
              <a:buNone/>
            </a:pPr>
            <a:r>
              <a:rPr lang="en-GB"/>
              <a:t>- Hard drives are not archives</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7634385e3c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7634385e3c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first principle of PILARS is that data </a:t>
            </a:r>
            <a:r>
              <a:rPr lang="en-GB"/>
              <a:t>should</a:t>
            </a:r>
            <a:r>
              <a:rPr lang="en-GB"/>
              <a:t> be portable, not locked-in to a particular mode of storage, interface or service. Following the lead of PARADISEC two decades ago, the protocols call for storing data in </a:t>
            </a:r>
            <a:r>
              <a:rPr lang="en-GB"/>
              <a:t>commodity</a:t>
            </a:r>
            <a:r>
              <a:rPr lang="en-GB"/>
              <a:t> storage services such as file systems or (cloud) object storage </a:t>
            </a:r>
            <a:r>
              <a:rPr lang="en-GB"/>
              <a:t>services. This means that data is available independently of any specific software. This diagram is a sketch of how this approach allows for a wide range of architectures – data stored according to the protocols can be indexed and served over an API (with appropriate access controls). Over the next few slides, we will show some of the architectures that have emerged over the last couple of years at LDaCA.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7634385e3c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7634385e3c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first example is the LDaCA data portal, which is a central access-controlled gateway to the data that we have been collecting.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NOTE: during the project it has been unclear how we would look after data at the conclusion of the project. No single organisation had put up its hand up to host data for the medium to long term, but as noted in the News section we have had some positive talks with one of our partner institutions indicating that they may have an appetite for hosting data that otherwise does not have a home, and/or providing some redundancy for at-risk collections where data </a:t>
            </a:r>
            <a:r>
              <a:rPr lang="en-GB"/>
              <a:t>custodians</a:t>
            </a:r>
            <a:r>
              <a:rPr lang="en-GB"/>
              <a:t> are comfortable with a copy residing at the university (we won’t say which one until negotiations are more advanced).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7634385e3c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7634385e3c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As part of the LDaCA / PARADISEC collaboration noted above, we have been </a:t>
            </a:r>
            <a:r>
              <a:rPr lang="en-GB"/>
              <a:t>working on the </a:t>
            </a:r>
            <a:r>
              <a:rPr lang="en-GB"/>
              <a:t>definition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634385e3c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7634385e3c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a:t>
            </a:r>
            <a:r>
              <a:rPr lang="en-GB"/>
              <a:t>have also explored other ways of sharing data assets, as listed in the slide.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763eee602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763eee602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GB">
                <a:solidFill>
                  <a:schemeClr val="dk1"/>
                </a:solidFill>
              </a:rPr>
              <a:t>Oni</a:t>
            </a:r>
            <a:r>
              <a:rPr lang="en-GB">
                <a:solidFill>
                  <a:schemeClr val="dk1"/>
                </a:solidFill>
              </a:rPr>
              <a:t> 👹 portal software for mid-to-large deployments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V1 is working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V2 under development with PARADISEC – a new shared API and code base that can be used across LDaCA and beyond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REMS - manage access control with identified users - CADRE project uses REMS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“Corpus tools” (~30) for migrating data from existing formats to LDaCA ready RO-Crate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Reduce cost of developing new migration tools by adapting existing corpus tools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Reproducible migration processes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Basis for quality assurance checks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Software libraries for managing data in RO-Crate, maintaining schemas etc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RO-Crate prep tools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Crate-O (now included in Nyingarn)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Crate-O-compatible spreadsheet templates for DIY data import and supporting familiar Excel-based workflows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LaMeta – now has RO-Crate support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RO-Crate playground to experiment with and validate metadata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Data preparation Workspaces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Niyingarn (focussed on manuscripts only ATM)</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TBD – Multi-modal workspace (audio &amp; video transcription)</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63eee60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763eee60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service agreement between LDaCA and CADRE has been signed, to manage access control.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REMS is still the backend of this tool, but CADRE built a wrapper so it looks more attractive.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CADRE version 2 is working on replacing the ADMIN component of REMS and is in testing phase now.</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763eee6020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763eee6020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Schemas</a:t>
            </a:r>
            <a:r>
              <a:rPr lang="en-GB"/>
              <a:t> are published online at </a:t>
            </a:r>
            <a:r>
              <a:rPr lang="en-GB" u="sng">
                <a:solidFill>
                  <a:schemeClr val="hlink"/>
                </a:solidFill>
                <a:hlinkClick r:id="rId2"/>
              </a:rPr>
              <a:t>schema.org</a:t>
            </a:r>
            <a:r>
              <a:rPr lang="en-GB"/>
              <a:t> for other organisations to use and extend.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763eee602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763eee602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diagram shows how the PILARS principles have been implemented by different organisations. Each example uses open source software, and accepted standards for metadata and storage, meaning that data is portable.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6cac3792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76cac3792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ro-crates are referenced via metadata for example pcdm:memberOf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76cac3792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76cac3792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763eee6020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763eee6020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slide shows one *potential* view of LDaCA’s architecture in 2026. There may be an opportunity to deepen the collaboration </a:t>
            </a:r>
            <a:r>
              <a:rPr lang="en-GB"/>
              <a:t>between</a:t>
            </a:r>
            <a:r>
              <a:rPr lang="en-GB"/>
              <a:t> the UQ LDaCA team and the PARADISEC team at Melbourne, sharing the development of more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For example, Nyingarn’s incomplete repository function could be done by a stand alone instance of the Oni portal, or as shown here, added to the LDaCA portal as a collection.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Likewise the non-existent user-focussed data preparation functions of Nyigarn, where a user can describe an </a:t>
            </a:r>
            <a:r>
              <a:rPr lang="en-GB"/>
              <a:t>object</a:t>
            </a:r>
            <a:r>
              <a:rPr lang="en-GB"/>
              <a:t> and submit it could be generalized for use in LDaCA.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Changes shown in this diagram: </a:t>
            </a:r>
            <a:endParaRPr/>
          </a:p>
          <a:p>
            <a:pPr indent="0" lvl="0" marL="0" rtl="0" algn="l">
              <a:spcBef>
                <a:spcPts val="0"/>
              </a:spcBef>
              <a:spcAft>
                <a:spcPts val="0"/>
              </a:spcAft>
              <a:buNone/>
            </a:pPr>
            <a:r>
              <a:rPr lang="en-GB"/>
              <a:t>- </a:t>
            </a:r>
            <a:r>
              <a:rPr lang="en-GB"/>
              <a:t>Remove the under-developed “[NOCFL]” storage service from Nyingarn and replace with either OCFL or an Object Store solution</a:t>
            </a:r>
            <a:endParaRPr/>
          </a:p>
          <a:p>
            <a:pPr indent="0" lvl="0" marL="0" rtl="0" algn="l">
              <a:spcBef>
                <a:spcPts val="0"/>
              </a:spcBef>
              <a:spcAft>
                <a:spcPts val="0"/>
              </a:spcAft>
              <a:buNone/>
            </a:pPr>
            <a:r>
              <a:rPr lang="en-GB"/>
              <a:t>- Upgrade Nyingarn workspace to be a generic data onboarding app for all kinds of data (rather than only manuscript transcription focus)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[NOCFL]: https://github.com/CoEDL/nocfl-js</a:t>
            </a:r>
            <a:endParaRPr/>
          </a:p>
          <a:p>
            <a:pPr indent="0" lvl="0" marL="0" rtl="0" algn="l">
              <a:spcBef>
                <a:spcPts val="0"/>
              </a:spcBef>
              <a:spcAft>
                <a:spcPts val="0"/>
              </a:spcAft>
              <a:buNone/>
            </a:pPr>
            <a:r>
              <a:rPr lang="en-GB"/>
              <a:t>[ARDC]: https://ardc.edu.au/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To conclude, we have an </a:t>
            </a:r>
            <a:r>
              <a:rPr lang="en-GB"/>
              <a:t>opportunity</a:t>
            </a:r>
            <a:r>
              <a:rPr lang="en-GB"/>
              <a:t> now to consider how the distributed LDaCA technical team can collaborate on key pieces of re-deployable infrastructure. This work is having an impact in other Australian Research Data Commons  ([ARDC]) co-investments.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creativecommons.org/licenses/by-sa/4.0/" TargetMode="External"/><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hyperlink" Target="https://www.ldaca.edu.au/news/posts/open-repositories-2024-pilars/)" TargetMode="External"/><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slide" Target="/ppt/slid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LDaCA Technical Architecture update 2025</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PT Sefton, Moises Sacal Bonequi, Ben Foley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What’s in this presentation?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News</a:t>
            </a:r>
            <a:endParaRPr/>
          </a:p>
          <a:p>
            <a:pPr indent="-342900" lvl="0" marL="457200" rtl="0" algn="l">
              <a:spcBef>
                <a:spcPts val="0"/>
              </a:spcBef>
              <a:spcAft>
                <a:spcPts val="0"/>
              </a:spcAft>
              <a:buSzPts val="1800"/>
              <a:buChar char="●"/>
            </a:pPr>
            <a:r>
              <a:rPr lang="en-GB"/>
              <a:t>Refresh memories of the distinction between Workspaces vs Archival Repositories</a:t>
            </a:r>
            <a:endParaRPr/>
          </a:p>
          <a:p>
            <a:pPr indent="-342900" lvl="0" marL="457200" rtl="0" algn="l">
              <a:spcBef>
                <a:spcPts val="0"/>
              </a:spcBef>
              <a:spcAft>
                <a:spcPts val="0"/>
              </a:spcAft>
              <a:buSzPts val="1800"/>
              <a:buChar char="●"/>
            </a:pPr>
            <a:r>
              <a:rPr lang="en-GB"/>
              <a:t>Explore the architecture of our work on Archival </a:t>
            </a:r>
            <a:r>
              <a:rPr lang="en-GB"/>
              <a:t>Repositories</a:t>
            </a:r>
            <a:endParaRPr/>
          </a:p>
          <a:p>
            <a:pPr indent="-317500" lvl="1" marL="914400" rtl="0" algn="l">
              <a:spcBef>
                <a:spcPts val="0"/>
              </a:spcBef>
              <a:spcAft>
                <a:spcPts val="0"/>
              </a:spcAft>
              <a:buSzPts val="1400"/>
              <a:buChar char="○"/>
            </a:pPr>
            <a:r>
              <a:rPr lang="en-GB"/>
              <a:t>Decentralised approach: multiple Data Stores under appropriate governance</a:t>
            </a:r>
            <a:endParaRPr/>
          </a:p>
          <a:p>
            <a:pPr indent="-317500" lvl="1" marL="914400" rtl="0" algn="l">
              <a:spcBef>
                <a:spcPts val="0"/>
              </a:spcBef>
              <a:spcAft>
                <a:spcPts val="0"/>
              </a:spcAft>
              <a:buSzPts val="1400"/>
              <a:buChar char="○"/>
            </a:pPr>
            <a:r>
              <a:rPr lang="en-GB"/>
              <a:t>Standards and specifications:</a:t>
            </a:r>
            <a:endParaRPr/>
          </a:p>
          <a:p>
            <a:pPr indent="-317500" lvl="2" marL="1371600" rtl="0" algn="l">
              <a:spcBef>
                <a:spcPts val="0"/>
              </a:spcBef>
              <a:spcAft>
                <a:spcPts val="0"/>
              </a:spcAft>
              <a:buSzPts val="1400"/>
              <a:buChar char="■"/>
            </a:pPr>
            <a:r>
              <a:rPr lang="en-GB"/>
              <a:t>RO-Crate for describing data objects</a:t>
            </a:r>
            <a:endParaRPr/>
          </a:p>
          <a:p>
            <a:pPr indent="-317500" lvl="2" marL="1371600" rtl="0" algn="l">
              <a:spcBef>
                <a:spcPts val="0"/>
              </a:spcBef>
              <a:spcAft>
                <a:spcPts val="0"/>
              </a:spcAft>
              <a:buSzPts val="1400"/>
              <a:buChar char="■"/>
            </a:pPr>
            <a:r>
              <a:rPr lang="en-GB"/>
              <a:t>RO-Crate Metadata Profiles for data interchange within a discipline or domain (like language data)</a:t>
            </a:r>
            <a:endParaRPr/>
          </a:p>
          <a:p>
            <a:pPr indent="-317500" lvl="1" marL="914400" rtl="0" algn="l">
              <a:spcBef>
                <a:spcPts val="0"/>
              </a:spcBef>
              <a:spcAft>
                <a:spcPts val="0"/>
              </a:spcAft>
              <a:buSzPts val="1400"/>
              <a:buChar char="○"/>
            </a:pPr>
            <a:r>
              <a:rPr lang="en-GB"/>
              <a:t>Open source tools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News!</a:t>
            </a:r>
            <a:endParaRPr/>
          </a:p>
        </p:txBody>
      </p:sp>
      <p:sp>
        <p:nvSpPr>
          <p:cNvPr id="67" name="Google Shape;67;p15"/>
          <p:cNvSpPr txBox="1"/>
          <p:nvPr>
            <p:ph idx="1" type="body"/>
          </p:nvPr>
        </p:nvSpPr>
        <p:spPr>
          <a:xfrm>
            <a:off x="311700" y="1152475"/>
            <a:ext cx="56130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a:t>John Ferlito (PARADISEC) has created a new version of the LDaCA portal using a simpler API that can be used for PARADISEC and LDaCA (and potentially Nyingarn and many other repositories)</a:t>
            </a:r>
            <a:endParaRPr/>
          </a:p>
          <a:p>
            <a:pPr indent="-342900" lvl="0" marL="457200" rtl="0" algn="l">
              <a:spcBef>
                <a:spcPts val="0"/>
              </a:spcBef>
              <a:spcAft>
                <a:spcPts val="0"/>
              </a:spcAft>
              <a:buSzPts val="1800"/>
              <a:buChar char="●"/>
            </a:pPr>
            <a:r>
              <a:rPr lang="en-GB"/>
              <a:t>New API is “An RO-Crate API” - AROCAPI</a:t>
            </a:r>
            <a:endParaRPr/>
          </a:p>
          <a:p>
            <a:pPr indent="-317500" lvl="1" marL="914400" rtl="0" algn="l">
              <a:spcBef>
                <a:spcPts val="0"/>
              </a:spcBef>
              <a:spcAft>
                <a:spcPts val="0"/>
              </a:spcAft>
              <a:buSzPts val="1400"/>
              <a:buChar char="○"/>
            </a:pPr>
            <a:r>
              <a:rPr lang="en-GB"/>
              <a:t>Generic API for collections of Objects/Items</a:t>
            </a:r>
            <a:endParaRPr/>
          </a:p>
          <a:p>
            <a:pPr indent="-317500" lvl="1" marL="914400" rtl="0" algn="l">
              <a:spcBef>
                <a:spcPts val="0"/>
              </a:spcBef>
              <a:spcAft>
                <a:spcPts val="0"/>
              </a:spcAft>
              <a:buSzPts val="1400"/>
              <a:buChar char="○"/>
            </a:pPr>
            <a:r>
              <a:rPr lang="en-GB"/>
              <a:t>Objects are described using RO-Crates</a:t>
            </a:r>
            <a:endParaRPr/>
          </a:p>
          <a:p>
            <a:pPr indent="-342900" lvl="0" marL="457200" rtl="0" algn="l">
              <a:spcBef>
                <a:spcPts val="0"/>
              </a:spcBef>
              <a:spcAft>
                <a:spcPts val="0"/>
              </a:spcAft>
              <a:buSzPts val="1800"/>
              <a:buChar char="●"/>
            </a:pPr>
            <a:r>
              <a:rPr lang="en-GB"/>
              <a:t>Working together on a new Oni-stack using the new API </a:t>
            </a:r>
            <a:endParaRPr/>
          </a:p>
          <a:p>
            <a:pPr indent="-342900" lvl="0" marL="457200" rtl="0" algn="l">
              <a:spcBef>
                <a:spcPts val="0"/>
              </a:spcBef>
              <a:spcAft>
                <a:spcPts val="0"/>
              </a:spcAft>
              <a:buSzPts val="1800"/>
              <a:buChar char="●"/>
            </a:pPr>
            <a:r>
              <a:rPr lang="en-GB"/>
              <a:t>New stack can be used for RAPID and other data portals</a:t>
            </a:r>
            <a:endParaRPr/>
          </a:p>
        </p:txBody>
      </p:sp>
      <p:pic>
        <p:nvPicPr>
          <p:cNvPr id="68" name="Google Shape;68;p15"/>
          <p:cNvPicPr preferRelativeResize="0"/>
          <p:nvPr/>
        </p:nvPicPr>
        <p:blipFill>
          <a:blip r:embed="rId3">
            <a:alphaModFix/>
          </a:blip>
          <a:stretch>
            <a:fillRect/>
          </a:stretch>
        </p:blipFill>
        <p:spPr>
          <a:xfrm>
            <a:off x="6209850" y="556225"/>
            <a:ext cx="2547317" cy="3820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More news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GB" sz="18000"/>
              <a:t>🤞💾</a:t>
            </a:r>
            <a:endParaRPr sz="18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p:nvPr/>
        </p:nvSpPr>
        <p:spPr>
          <a:xfrm>
            <a:off x="351450" y="902900"/>
            <a:ext cx="918000" cy="627600"/>
          </a:xfrm>
          <a:prstGeom prst="roundRect">
            <a:avLst>
              <a:gd fmla="val 16667" name="adj"/>
            </a:avLst>
          </a:prstGeom>
          <a:solidFill>
            <a:srgbClr val="4C70F6">
              <a:alpha val="2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latin typeface="Calibri"/>
                <a:ea typeface="Calibri"/>
                <a:cs typeface="Calibri"/>
                <a:sym typeface="Calibri"/>
              </a:rPr>
              <a:t>collect &amp;</a:t>
            </a:r>
            <a:endParaRPr b="1">
              <a:latin typeface="Calibri"/>
              <a:ea typeface="Calibri"/>
              <a:cs typeface="Calibri"/>
              <a:sym typeface="Calibri"/>
            </a:endParaRPr>
          </a:p>
          <a:p>
            <a:pPr indent="0" lvl="0" marL="0" marR="0" rtl="0" algn="ctr">
              <a:lnSpc>
                <a:spcPct val="100000"/>
              </a:lnSpc>
              <a:spcBef>
                <a:spcPts val="0"/>
              </a:spcBef>
              <a:spcAft>
                <a:spcPts val="0"/>
              </a:spcAft>
              <a:buNone/>
            </a:pPr>
            <a:r>
              <a:rPr b="1" lang="en-GB">
                <a:latin typeface="Calibri"/>
                <a:ea typeface="Calibri"/>
                <a:cs typeface="Calibri"/>
                <a:sym typeface="Calibri"/>
              </a:rPr>
              <a:t>organise</a:t>
            </a:r>
            <a:endParaRPr b="1">
              <a:latin typeface="Calibri"/>
              <a:ea typeface="Calibri"/>
              <a:cs typeface="Calibri"/>
              <a:sym typeface="Calibri"/>
            </a:endParaRPr>
          </a:p>
        </p:txBody>
      </p:sp>
      <p:sp>
        <p:nvSpPr>
          <p:cNvPr id="80" name="Google Shape;80;p17"/>
          <p:cNvSpPr/>
          <p:nvPr/>
        </p:nvSpPr>
        <p:spPr>
          <a:xfrm>
            <a:off x="1396582" y="929963"/>
            <a:ext cx="1937400" cy="627600"/>
          </a:xfrm>
          <a:prstGeom prst="roundRect">
            <a:avLst>
              <a:gd fmla="val 16667" name="adj"/>
            </a:avLst>
          </a:prstGeom>
          <a:solidFill>
            <a:srgbClr val="4C70F6">
              <a:alpha val="21250"/>
            </a:srgbClr>
          </a:solid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1100"/>
              <a:buFont typeface="Arial"/>
              <a:buNone/>
            </a:pPr>
            <a:r>
              <a:rPr lang="en-GB" sz="1000">
                <a:solidFill>
                  <a:schemeClr val="dk1"/>
                </a:solidFill>
                <a:latin typeface="Calibri"/>
                <a:ea typeface="Calibri"/>
                <a:cs typeface="Calibri"/>
                <a:sym typeface="Calibri"/>
              </a:rPr>
              <a:t>Language data is rarely organised or described in reusable ways, if it's described at all</a:t>
            </a:r>
            <a:endParaRPr sz="1000">
              <a:latin typeface="Calibri"/>
              <a:ea typeface="Calibri"/>
              <a:cs typeface="Calibri"/>
              <a:sym typeface="Calibri"/>
            </a:endParaRPr>
          </a:p>
        </p:txBody>
      </p:sp>
      <p:sp>
        <p:nvSpPr>
          <p:cNvPr id="81" name="Google Shape;81;p17"/>
          <p:cNvSpPr/>
          <p:nvPr/>
        </p:nvSpPr>
        <p:spPr>
          <a:xfrm>
            <a:off x="351450" y="1587125"/>
            <a:ext cx="918000" cy="627600"/>
          </a:xfrm>
          <a:prstGeom prst="roundRect">
            <a:avLst>
              <a:gd fmla="val 16667" name="adj"/>
            </a:avLst>
          </a:prstGeom>
          <a:solidFill>
            <a:srgbClr val="00D700">
              <a:alpha val="1750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latin typeface="Calibri"/>
                <a:ea typeface="Calibri"/>
                <a:cs typeface="Calibri"/>
                <a:sym typeface="Calibri"/>
              </a:rPr>
              <a:t>c</a:t>
            </a:r>
            <a:r>
              <a:rPr b="1" lang="en-GB">
                <a:latin typeface="Calibri"/>
                <a:ea typeface="Calibri"/>
                <a:cs typeface="Calibri"/>
                <a:sym typeface="Calibri"/>
              </a:rPr>
              <a:t>onserve</a:t>
            </a:r>
            <a:endParaRPr b="1">
              <a:latin typeface="Calibri"/>
              <a:ea typeface="Calibri"/>
              <a:cs typeface="Calibri"/>
              <a:sym typeface="Calibri"/>
            </a:endParaRPr>
          </a:p>
        </p:txBody>
      </p:sp>
      <p:sp>
        <p:nvSpPr>
          <p:cNvPr id="82" name="Google Shape;82;p17"/>
          <p:cNvSpPr/>
          <p:nvPr/>
        </p:nvSpPr>
        <p:spPr>
          <a:xfrm>
            <a:off x="1396582" y="1603663"/>
            <a:ext cx="1937400" cy="627600"/>
          </a:xfrm>
          <a:prstGeom prst="roundRect">
            <a:avLst>
              <a:gd fmla="val 16667" name="adj"/>
            </a:avLst>
          </a:prstGeom>
          <a:solidFill>
            <a:srgbClr val="00D700">
              <a:alpha val="1750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latin typeface="Calibri"/>
                <a:ea typeface="Calibri"/>
                <a:cs typeface="Calibri"/>
                <a:sym typeface="Calibri"/>
              </a:rPr>
              <a:t>A lot of language data is at risk of being lost forever </a:t>
            </a:r>
            <a:endParaRPr sz="1000">
              <a:latin typeface="Calibri"/>
              <a:ea typeface="Calibri"/>
              <a:cs typeface="Calibri"/>
              <a:sym typeface="Calibri"/>
            </a:endParaRPr>
          </a:p>
        </p:txBody>
      </p:sp>
      <p:sp>
        <p:nvSpPr>
          <p:cNvPr id="83" name="Google Shape;83;p17"/>
          <p:cNvSpPr/>
          <p:nvPr/>
        </p:nvSpPr>
        <p:spPr>
          <a:xfrm>
            <a:off x="351503" y="2272550"/>
            <a:ext cx="918000" cy="627600"/>
          </a:xfrm>
          <a:prstGeom prst="roundRect">
            <a:avLst>
              <a:gd fmla="val 16667" name="adj"/>
            </a:avLst>
          </a:prstGeom>
          <a:solidFill>
            <a:srgbClr val="FFC000">
              <a:alpha val="218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latin typeface="Calibri"/>
                <a:ea typeface="Calibri"/>
                <a:cs typeface="Calibri"/>
                <a:sym typeface="Calibri"/>
              </a:rPr>
              <a:t>find</a:t>
            </a:r>
            <a:endParaRPr b="1">
              <a:latin typeface="Calibri"/>
              <a:ea typeface="Calibri"/>
              <a:cs typeface="Calibri"/>
              <a:sym typeface="Calibri"/>
            </a:endParaRPr>
          </a:p>
        </p:txBody>
      </p:sp>
      <p:sp>
        <p:nvSpPr>
          <p:cNvPr id="84" name="Google Shape;84;p17"/>
          <p:cNvSpPr/>
          <p:nvPr/>
        </p:nvSpPr>
        <p:spPr>
          <a:xfrm>
            <a:off x="1396582" y="2280697"/>
            <a:ext cx="1937400" cy="627600"/>
          </a:xfrm>
          <a:prstGeom prst="roundRect">
            <a:avLst>
              <a:gd fmla="val 16667" name="adj"/>
            </a:avLst>
          </a:prstGeom>
          <a:solidFill>
            <a:srgbClr val="FFC000">
              <a:alpha val="218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latin typeface="Calibri"/>
                <a:ea typeface="Calibri"/>
                <a:cs typeface="Calibri"/>
                <a:sym typeface="Calibri"/>
              </a:rPr>
              <a:t>It’s difficult to know what language data exists and where to find it</a:t>
            </a:r>
            <a:endParaRPr sz="1000">
              <a:latin typeface="Calibri"/>
              <a:ea typeface="Calibri"/>
              <a:cs typeface="Calibri"/>
              <a:sym typeface="Calibri"/>
            </a:endParaRPr>
          </a:p>
        </p:txBody>
      </p:sp>
      <p:sp>
        <p:nvSpPr>
          <p:cNvPr id="85" name="Google Shape;85;p17"/>
          <p:cNvSpPr/>
          <p:nvPr/>
        </p:nvSpPr>
        <p:spPr>
          <a:xfrm>
            <a:off x="1396582" y="3646649"/>
            <a:ext cx="19374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Font typeface="Arial"/>
              <a:buNone/>
            </a:pPr>
            <a:r>
              <a:rPr lang="en-GB" sz="1000">
                <a:latin typeface="Calibri"/>
                <a:ea typeface="Calibri"/>
                <a:cs typeface="Calibri"/>
                <a:sym typeface="Calibri"/>
              </a:rPr>
              <a:t>Ad</a:t>
            </a:r>
            <a:r>
              <a:rPr lang="en-GB" sz="1000">
                <a:solidFill>
                  <a:schemeClr val="dk1"/>
                </a:solidFill>
                <a:latin typeface="Calibri"/>
                <a:ea typeface="Calibri"/>
                <a:cs typeface="Calibri"/>
                <a:sym typeface="Calibri"/>
              </a:rPr>
              <a:t> hoc tools, analysis and annotation methods are used, lacking reproducibility</a:t>
            </a:r>
            <a:endParaRPr sz="1000">
              <a:solidFill>
                <a:schemeClr val="dk1"/>
              </a:solidFill>
              <a:latin typeface="Calibri"/>
              <a:ea typeface="Calibri"/>
              <a:cs typeface="Calibri"/>
              <a:sym typeface="Calibri"/>
            </a:endParaRPr>
          </a:p>
        </p:txBody>
      </p:sp>
      <p:sp>
        <p:nvSpPr>
          <p:cNvPr id="86" name="Google Shape;86;p17"/>
          <p:cNvSpPr/>
          <p:nvPr/>
        </p:nvSpPr>
        <p:spPr>
          <a:xfrm>
            <a:off x="6289931" y="3646650"/>
            <a:ext cx="23931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Font typeface="Arial"/>
              <a:buNone/>
            </a:pPr>
            <a:r>
              <a:rPr lang="en-GB" sz="1000">
                <a:solidFill>
                  <a:schemeClr val="dk1"/>
                </a:solidFill>
                <a:latin typeface="Calibri"/>
                <a:ea typeface="Calibri"/>
                <a:cs typeface="Calibri"/>
                <a:sym typeface="Calibri"/>
              </a:rPr>
              <a:t>Shared tools can process, analyse, reuse, repurpose, annotate, visualise and enhance data at scale</a:t>
            </a:r>
            <a:endParaRPr sz="1000">
              <a:latin typeface="Calibri"/>
              <a:ea typeface="Calibri"/>
              <a:cs typeface="Calibri"/>
              <a:sym typeface="Calibri"/>
            </a:endParaRPr>
          </a:p>
        </p:txBody>
      </p:sp>
      <p:sp>
        <p:nvSpPr>
          <p:cNvPr id="87" name="Google Shape;87;p17"/>
          <p:cNvSpPr/>
          <p:nvPr/>
        </p:nvSpPr>
        <p:spPr>
          <a:xfrm>
            <a:off x="351503" y="2960350"/>
            <a:ext cx="918000" cy="627600"/>
          </a:xfrm>
          <a:prstGeom prst="roundRect">
            <a:avLst>
              <a:gd fmla="val 16667" name="adj"/>
            </a:avLst>
          </a:prstGeom>
          <a:solidFill>
            <a:srgbClr val="9BE766">
              <a:alpha val="2313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latin typeface="Calibri"/>
                <a:ea typeface="Calibri"/>
                <a:cs typeface="Calibri"/>
                <a:sym typeface="Calibri"/>
              </a:rPr>
              <a:t>access</a:t>
            </a:r>
            <a:endParaRPr b="1">
              <a:latin typeface="Calibri"/>
              <a:ea typeface="Calibri"/>
              <a:cs typeface="Calibri"/>
              <a:sym typeface="Calibri"/>
            </a:endParaRPr>
          </a:p>
        </p:txBody>
      </p:sp>
      <p:sp>
        <p:nvSpPr>
          <p:cNvPr id="88" name="Google Shape;88;p17"/>
          <p:cNvSpPr/>
          <p:nvPr/>
        </p:nvSpPr>
        <p:spPr>
          <a:xfrm>
            <a:off x="1396585" y="2956158"/>
            <a:ext cx="1937400" cy="627600"/>
          </a:xfrm>
          <a:prstGeom prst="roundRect">
            <a:avLst>
              <a:gd fmla="val 16667" name="adj"/>
            </a:avLst>
          </a:prstGeom>
          <a:solidFill>
            <a:srgbClr val="9BE766">
              <a:alpha val="2313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latin typeface="Calibri"/>
                <a:ea typeface="Calibri"/>
                <a:cs typeface="Calibri"/>
                <a:sym typeface="Calibri"/>
              </a:rPr>
              <a:t>Processes for granting permissions and getting access to data are either absent or aren’t easy to understand or apply</a:t>
            </a:r>
            <a:endParaRPr sz="1000">
              <a:latin typeface="Calibri"/>
              <a:ea typeface="Calibri"/>
              <a:cs typeface="Calibri"/>
              <a:sym typeface="Calibri"/>
            </a:endParaRPr>
          </a:p>
        </p:txBody>
      </p:sp>
      <p:sp>
        <p:nvSpPr>
          <p:cNvPr id="89" name="Google Shape;89;p17">
            <a:hlinkClick action="ppaction://hlinksldjump" r:id="rId3"/>
          </p:cNvPr>
          <p:cNvSpPr/>
          <p:nvPr/>
        </p:nvSpPr>
        <p:spPr>
          <a:xfrm>
            <a:off x="351503" y="3646649"/>
            <a:ext cx="9180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GB">
                <a:latin typeface="Calibri"/>
                <a:ea typeface="Calibri"/>
                <a:cs typeface="Calibri"/>
                <a:sym typeface="Calibri"/>
              </a:rPr>
              <a:t>analyse</a:t>
            </a:r>
            <a:r>
              <a:rPr lang="en-GB" sz="1000">
                <a:solidFill>
                  <a:schemeClr val="dk1"/>
                </a:solidFill>
                <a:latin typeface="Calibri"/>
                <a:ea typeface="Calibri"/>
                <a:cs typeface="Calibri"/>
                <a:sym typeface="Calibri"/>
              </a:rPr>
              <a:t> </a:t>
            </a:r>
            <a:endParaRPr b="1">
              <a:latin typeface="Calibri"/>
              <a:ea typeface="Calibri"/>
              <a:cs typeface="Calibri"/>
              <a:sym typeface="Calibri"/>
            </a:endParaRPr>
          </a:p>
        </p:txBody>
      </p:sp>
      <p:sp>
        <p:nvSpPr>
          <p:cNvPr id="90" name="Google Shape;90;p17"/>
          <p:cNvSpPr/>
          <p:nvPr/>
        </p:nvSpPr>
        <p:spPr>
          <a:xfrm>
            <a:off x="6289931" y="929963"/>
            <a:ext cx="2393100" cy="627600"/>
          </a:xfrm>
          <a:prstGeom prst="roundRect">
            <a:avLst>
              <a:gd fmla="val 16667" name="adj"/>
            </a:avLst>
          </a:prstGeom>
          <a:solidFill>
            <a:srgbClr val="4C70F6">
              <a:alpha val="2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solidFill>
                  <a:schemeClr val="dk1"/>
                </a:solidFill>
                <a:latin typeface="Calibri"/>
                <a:ea typeface="Calibri"/>
                <a:cs typeface="Calibri"/>
                <a:sym typeface="Calibri"/>
              </a:rPr>
              <a:t>Standards and tools are available and being applied </a:t>
            </a:r>
            <a:r>
              <a:rPr lang="en-GB" sz="1000">
                <a:latin typeface="Calibri"/>
                <a:ea typeface="Calibri"/>
                <a:cs typeface="Calibri"/>
                <a:sym typeface="Calibri"/>
              </a:rPr>
              <a:t>by</a:t>
            </a:r>
            <a:r>
              <a:rPr lang="en-GB" sz="1000">
                <a:solidFill>
                  <a:schemeClr val="dk1"/>
                </a:solidFill>
                <a:latin typeface="Calibri"/>
                <a:ea typeface="Calibri"/>
                <a:cs typeface="Calibri"/>
                <a:sym typeface="Calibri"/>
              </a:rPr>
              <a:t> data stewards</a:t>
            </a:r>
            <a:endParaRPr sz="1000">
              <a:solidFill>
                <a:schemeClr val="dk1"/>
              </a:solidFill>
              <a:latin typeface="Calibri"/>
              <a:ea typeface="Calibri"/>
              <a:cs typeface="Calibri"/>
              <a:sym typeface="Calibri"/>
            </a:endParaRPr>
          </a:p>
        </p:txBody>
      </p:sp>
      <p:sp>
        <p:nvSpPr>
          <p:cNvPr id="91" name="Google Shape;91;p17"/>
          <p:cNvSpPr/>
          <p:nvPr/>
        </p:nvSpPr>
        <p:spPr>
          <a:xfrm>
            <a:off x="6289931" y="1603662"/>
            <a:ext cx="2393100" cy="627600"/>
          </a:xfrm>
          <a:prstGeom prst="roundRect">
            <a:avLst>
              <a:gd fmla="val 16667" name="adj"/>
            </a:avLst>
          </a:prstGeom>
          <a:solidFill>
            <a:srgbClr val="00D700">
              <a:alpha val="1750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solidFill>
                  <a:schemeClr val="dk1"/>
                </a:solidFill>
                <a:latin typeface="Calibri"/>
                <a:ea typeface="Calibri"/>
                <a:cs typeface="Calibri"/>
                <a:sym typeface="Calibri"/>
              </a:rPr>
              <a:t>Good governance</a:t>
            </a:r>
            <a:r>
              <a:rPr lang="en-GB" sz="1000">
                <a:solidFill>
                  <a:schemeClr val="dk1"/>
                </a:solidFill>
                <a:latin typeface="Calibri"/>
                <a:ea typeface="Calibri"/>
                <a:cs typeface="Calibri"/>
                <a:sym typeface="Calibri"/>
              </a:rPr>
              <a:t> and standardised, </a:t>
            </a:r>
            <a:r>
              <a:rPr lang="en-GB" sz="1000">
                <a:latin typeface="Calibri"/>
                <a:ea typeface="Calibri"/>
                <a:cs typeface="Calibri"/>
                <a:sym typeface="Calibri"/>
              </a:rPr>
              <a:t>distributed</a:t>
            </a:r>
            <a:r>
              <a:rPr lang="en-GB" sz="1000">
                <a:solidFill>
                  <a:schemeClr val="dk1"/>
                </a:solidFill>
                <a:latin typeface="Calibri"/>
                <a:ea typeface="Calibri"/>
                <a:cs typeface="Calibri"/>
                <a:sym typeface="Calibri"/>
              </a:rPr>
              <a:t> </a:t>
            </a:r>
            <a:r>
              <a:rPr lang="en-GB" sz="1000">
                <a:latin typeface="Calibri"/>
                <a:ea typeface="Calibri"/>
                <a:cs typeface="Calibri"/>
                <a:sym typeface="Calibri"/>
              </a:rPr>
              <a:t>storage</a:t>
            </a:r>
            <a:r>
              <a:rPr lang="en-GB" sz="1000">
                <a:solidFill>
                  <a:schemeClr val="dk1"/>
                </a:solidFill>
                <a:latin typeface="Calibri"/>
                <a:ea typeface="Calibri"/>
                <a:cs typeface="Calibri"/>
                <a:sym typeface="Calibri"/>
              </a:rPr>
              <a:t> of data </a:t>
            </a:r>
            <a:r>
              <a:rPr lang="en-GB" sz="1000">
                <a:solidFill>
                  <a:schemeClr val="dk1"/>
                </a:solidFill>
                <a:latin typeface="Calibri"/>
                <a:ea typeface="Calibri"/>
                <a:cs typeface="Calibri"/>
                <a:sym typeface="Calibri"/>
              </a:rPr>
              <a:t>helps </a:t>
            </a:r>
            <a:endParaRPr sz="10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GB" sz="1000">
                <a:solidFill>
                  <a:schemeClr val="dk1"/>
                </a:solidFill>
                <a:latin typeface="Calibri"/>
                <a:ea typeface="Calibri"/>
                <a:cs typeface="Calibri"/>
                <a:sym typeface="Calibri"/>
              </a:rPr>
              <a:t>preserve and return data</a:t>
            </a:r>
            <a:endParaRPr sz="1000">
              <a:solidFill>
                <a:schemeClr val="dk1"/>
              </a:solidFill>
              <a:latin typeface="Calibri"/>
              <a:ea typeface="Calibri"/>
              <a:cs typeface="Calibri"/>
              <a:sym typeface="Calibri"/>
            </a:endParaRPr>
          </a:p>
        </p:txBody>
      </p:sp>
      <p:sp>
        <p:nvSpPr>
          <p:cNvPr id="92" name="Google Shape;92;p17"/>
          <p:cNvSpPr/>
          <p:nvPr/>
        </p:nvSpPr>
        <p:spPr>
          <a:xfrm>
            <a:off x="6289931" y="2280697"/>
            <a:ext cx="2393100" cy="627600"/>
          </a:xfrm>
          <a:prstGeom prst="roundRect">
            <a:avLst>
              <a:gd fmla="val 16667" name="adj"/>
            </a:avLst>
          </a:prstGeom>
          <a:solidFill>
            <a:srgbClr val="FFC000">
              <a:alpha val="218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latin typeface="Calibri"/>
                <a:ea typeface="Calibri"/>
                <a:cs typeface="Calibri"/>
                <a:sym typeface="Calibri"/>
              </a:rPr>
              <a:t>Discovering and locating language data is easy via linked portals</a:t>
            </a:r>
            <a:endParaRPr sz="1000">
              <a:latin typeface="Calibri"/>
              <a:ea typeface="Calibri"/>
              <a:cs typeface="Calibri"/>
              <a:sym typeface="Calibri"/>
            </a:endParaRPr>
          </a:p>
        </p:txBody>
      </p:sp>
      <p:sp>
        <p:nvSpPr>
          <p:cNvPr id="93" name="Google Shape;93;p17"/>
          <p:cNvSpPr/>
          <p:nvPr/>
        </p:nvSpPr>
        <p:spPr>
          <a:xfrm>
            <a:off x="6304581" y="2956158"/>
            <a:ext cx="2393100" cy="627600"/>
          </a:xfrm>
          <a:prstGeom prst="roundRect">
            <a:avLst>
              <a:gd fmla="val 16667" name="adj"/>
            </a:avLst>
          </a:prstGeom>
          <a:solidFill>
            <a:srgbClr val="9BE766">
              <a:alpha val="2313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latin typeface="Calibri"/>
                <a:ea typeface="Calibri"/>
                <a:cs typeface="Calibri"/>
                <a:sym typeface="Calibri"/>
              </a:rPr>
              <a:t>Access controls are in place and easy to use, so that data access can be given to the right people </a:t>
            </a:r>
            <a:endParaRPr sz="1000">
              <a:latin typeface="Calibri"/>
              <a:ea typeface="Calibri"/>
              <a:cs typeface="Calibri"/>
              <a:sym typeface="Calibri"/>
            </a:endParaRPr>
          </a:p>
        </p:txBody>
      </p:sp>
      <p:sp>
        <p:nvSpPr>
          <p:cNvPr id="94" name="Google Shape;94;p17"/>
          <p:cNvSpPr txBox="1"/>
          <p:nvPr/>
        </p:nvSpPr>
        <p:spPr>
          <a:xfrm>
            <a:off x="351375" y="160711"/>
            <a:ext cx="8417400" cy="3771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2000">
                <a:solidFill>
                  <a:schemeClr val="dk1"/>
                </a:solidFill>
                <a:latin typeface="Calibri"/>
                <a:ea typeface="Calibri"/>
                <a:cs typeface="Calibri"/>
                <a:sym typeface="Calibri"/>
              </a:rPr>
              <a:t>LDaCA Execution Strategy Overview</a:t>
            </a:r>
            <a:endParaRPr b="1" sz="2000">
              <a:latin typeface="Calibri"/>
              <a:ea typeface="Calibri"/>
              <a:cs typeface="Calibri"/>
              <a:sym typeface="Calibri"/>
            </a:endParaRPr>
          </a:p>
        </p:txBody>
      </p:sp>
      <p:sp>
        <p:nvSpPr>
          <p:cNvPr id="95" name="Google Shape;95;p17"/>
          <p:cNvSpPr/>
          <p:nvPr/>
        </p:nvSpPr>
        <p:spPr>
          <a:xfrm>
            <a:off x="3448725" y="962600"/>
            <a:ext cx="2719200" cy="4019100"/>
          </a:xfrm>
          <a:prstGeom prst="homePlate">
            <a:avLst>
              <a:gd fmla="val 11728" name="adj"/>
            </a:avLst>
          </a:prstGeom>
          <a:solidFill>
            <a:srgbClr val="6FFCFC">
              <a:alpha val="28610"/>
            </a:srgbClr>
          </a:solidFill>
          <a:ln cap="flat" cmpd="sng" w="9525">
            <a:solidFill>
              <a:srgbClr val="6FFCFC"/>
            </a:solidFill>
            <a:prstDash val="solid"/>
            <a:round/>
            <a:headEnd len="sm" w="sm" type="none"/>
            <a:tailEnd len="sm" w="sm" type="none"/>
          </a:ln>
        </p:spPr>
        <p:txBody>
          <a:bodyPr anchorCtr="0" anchor="ctr" bIns="34275" lIns="67500" spcFirstLastPara="1" rIns="68575" wrap="square" tIns="34275">
            <a:noAutofit/>
          </a:bodyPr>
          <a:lstStyle/>
          <a:p>
            <a:pPr indent="-139700" lvl="0" marL="139700" marR="0" rtl="0" algn="l">
              <a:lnSpc>
                <a:spcPct val="100000"/>
              </a:lnSpc>
              <a:spcBef>
                <a:spcPts val="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Strengthen the data management </a:t>
            </a:r>
            <a:br>
              <a:rPr lang="en-GB" sz="1000">
                <a:solidFill>
                  <a:schemeClr val="dk1"/>
                </a:solidFill>
                <a:latin typeface="Calibri"/>
                <a:ea typeface="Calibri"/>
                <a:cs typeface="Calibri"/>
                <a:sym typeface="Calibri"/>
              </a:rPr>
            </a:br>
            <a:r>
              <a:rPr lang="en-GB" sz="1000">
                <a:solidFill>
                  <a:schemeClr val="dk1"/>
                </a:solidFill>
                <a:latin typeface="Calibri"/>
                <a:ea typeface="Calibri"/>
                <a:cs typeface="Calibri"/>
                <a:sym typeface="Calibri"/>
              </a:rPr>
              <a:t>skills of language worker communities </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Develop shared tools, standards and technical infrastructure to help data stewards care for  data for </a:t>
            </a:r>
            <a:br>
              <a:rPr lang="en-GB" sz="1000">
                <a:solidFill>
                  <a:schemeClr val="dk1"/>
                </a:solidFill>
                <a:latin typeface="Calibri"/>
                <a:ea typeface="Calibri"/>
                <a:cs typeface="Calibri"/>
                <a:sym typeface="Calibri"/>
              </a:rPr>
            </a:br>
            <a:r>
              <a:rPr lang="en-GB" sz="1000">
                <a:solidFill>
                  <a:schemeClr val="dk1"/>
                </a:solidFill>
                <a:latin typeface="Calibri"/>
                <a:ea typeface="Calibri"/>
                <a:cs typeface="Calibri"/>
                <a:sym typeface="Calibri"/>
              </a:rPr>
              <a:t>the long term</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Build data portals with useful search functions and lightweight technical structures</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Create guidance for data stewards to document and grant access and reuse rights</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Support language communities to gain greater control over their language data</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Develop tools for data and metadata conversion, processing, analysis, annotation, visualisation, and enrichment</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Develop and guide the implementation</a:t>
            </a:r>
            <a:br>
              <a:rPr lang="en-GB" sz="1000">
                <a:solidFill>
                  <a:schemeClr val="dk1"/>
                </a:solidFill>
                <a:latin typeface="Calibri"/>
                <a:ea typeface="Calibri"/>
                <a:cs typeface="Calibri"/>
                <a:sym typeface="Calibri"/>
              </a:rPr>
            </a:br>
            <a:r>
              <a:rPr lang="en-GB" sz="1000">
                <a:solidFill>
                  <a:schemeClr val="dk1"/>
                </a:solidFill>
                <a:latin typeface="Calibri"/>
                <a:ea typeface="Calibri"/>
                <a:cs typeface="Calibri"/>
                <a:sym typeface="Calibri"/>
              </a:rPr>
              <a:t>of local and national policy and governance toolkits</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800"/>
              </a:spcAft>
              <a:buClr>
                <a:schemeClr val="dk1"/>
              </a:buClr>
              <a:buSzPts val="1000"/>
              <a:buFont typeface="Calibri"/>
              <a:buChar char="-"/>
            </a:pPr>
            <a:r>
              <a:rPr lang="en-GB" sz="1000">
                <a:solidFill>
                  <a:schemeClr val="dk1"/>
                </a:solidFill>
                <a:latin typeface="Calibri"/>
                <a:ea typeface="Calibri"/>
                <a:cs typeface="Calibri"/>
                <a:sym typeface="Calibri"/>
              </a:rPr>
              <a:t>Provide examples and training for </a:t>
            </a:r>
            <a:br>
              <a:rPr lang="en-GB" sz="1000">
                <a:solidFill>
                  <a:schemeClr val="dk1"/>
                </a:solidFill>
                <a:latin typeface="Calibri"/>
                <a:ea typeface="Calibri"/>
                <a:cs typeface="Calibri"/>
                <a:sym typeface="Calibri"/>
              </a:rPr>
            </a:br>
            <a:r>
              <a:rPr lang="en-GB" sz="1000">
                <a:solidFill>
                  <a:schemeClr val="dk1"/>
                </a:solidFill>
                <a:latin typeface="Calibri"/>
                <a:ea typeface="Calibri"/>
                <a:cs typeface="Calibri"/>
                <a:sym typeface="Calibri"/>
              </a:rPr>
              <a:t>research at scale</a:t>
            </a:r>
            <a:endParaRPr sz="1000">
              <a:solidFill>
                <a:schemeClr val="dk1"/>
              </a:solidFill>
              <a:latin typeface="Calibri"/>
              <a:ea typeface="Calibri"/>
              <a:cs typeface="Calibri"/>
              <a:sym typeface="Calibri"/>
            </a:endParaRPr>
          </a:p>
        </p:txBody>
      </p:sp>
      <p:sp>
        <p:nvSpPr>
          <p:cNvPr id="96" name="Google Shape;96;p17"/>
          <p:cNvSpPr/>
          <p:nvPr/>
        </p:nvSpPr>
        <p:spPr>
          <a:xfrm>
            <a:off x="351503" y="4329223"/>
            <a:ext cx="918000" cy="626400"/>
          </a:xfrm>
          <a:prstGeom prst="roundRect">
            <a:avLst>
              <a:gd fmla="val 16667" name="adj"/>
            </a:avLst>
          </a:prstGeom>
          <a:solidFill>
            <a:srgbClr val="B1D7FA">
              <a:alpha val="31009"/>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GB">
                <a:latin typeface="Calibri"/>
                <a:ea typeface="Calibri"/>
                <a:cs typeface="Calibri"/>
                <a:sym typeface="Calibri"/>
              </a:rPr>
              <a:t>guide</a:t>
            </a:r>
            <a:endParaRPr b="1">
              <a:latin typeface="Calibri"/>
              <a:ea typeface="Calibri"/>
              <a:cs typeface="Calibri"/>
              <a:sym typeface="Calibri"/>
            </a:endParaRPr>
          </a:p>
        </p:txBody>
      </p:sp>
      <p:sp>
        <p:nvSpPr>
          <p:cNvPr id="97" name="Google Shape;97;p17"/>
          <p:cNvSpPr/>
          <p:nvPr/>
        </p:nvSpPr>
        <p:spPr>
          <a:xfrm>
            <a:off x="6282676" y="4329224"/>
            <a:ext cx="2393100" cy="626400"/>
          </a:xfrm>
          <a:prstGeom prst="roundRect">
            <a:avLst>
              <a:gd fmla="val 16667" name="adj"/>
            </a:avLst>
          </a:prstGeom>
          <a:solidFill>
            <a:srgbClr val="B1D7FA">
              <a:alpha val="31009"/>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000">
                <a:latin typeface="Calibri"/>
                <a:ea typeface="Calibri"/>
                <a:cs typeface="Calibri"/>
                <a:sym typeface="Calibri"/>
              </a:rPr>
              <a:t>Best practice advice and training for working with language data is available from a single source which is easy to find</a:t>
            </a:r>
            <a:endParaRPr sz="1000">
              <a:latin typeface="Calibri"/>
              <a:ea typeface="Calibri"/>
              <a:cs typeface="Calibri"/>
              <a:sym typeface="Calibri"/>
            </a:endParaRPr>
          </a:p>
        </p:txBody>
      </p:sp>
      <p:sp>
        <p:nvSpPr>
          <p:cNvPr id="98" name="Google Shape;98;p17"/>
          <p:cNvSpPr/>
          <p:nvPr/>
        </p:nvSpPr>
        <p:spPr>
          <a:xfrm>
            <a:off x="1396574" y="4329224"/>
            <a:ext cx="1937400" cy="626400"/>
          </a:xfrm>
          <a:prstGeom prst="roundRect">
            <a:avLst>
              <a:gd fmla="val 16667" name="adj"/>
            </a:avLst>
          </a:prstGeom>
          <a:solidFill>
            <a:srgbClr val="B1D7FA">
              <a:alpha val="31009"/>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000">
                <a:latin typeface="Calibri"/>
                <a:ea typeface="Calibri"/>
                <a:cs typeface="Calibri"/>
                <a:sym typeface="Calibri"/>
              </a:rPr>
              <a:t>Guidance and training for collecting, handling, using and analysing data are scattered and hard to find</a:t>
            </a:r>
            <a:endParaRPr sz="1000">
              <a:latin typeface="Calibri"/>
              <a:ea typeface="Calibri"/>
              <a:cs typeface="Calibri"/>
              <a:sym typeface="Calibri"/>
            </a:endParaRPr>
          </a:p>
        </p:txBody>
      </p:sp>
      <p:sp>
        <p:nvSpPr>
          <p:cNvPr id="99" name="Google Shape;99;p17"/>
          <p:cNvSpPr txBox="1"/>
          <p:nvPr/>
        </p:nvSpPr>
        <p:spPr>
          <a:xfrm>
            <a:off x="7752025" y="18850"/>
            <a:ext cx="1348500" cy="284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900">
                <a:solidFill>
                  <a:schemeClr val="dk2"/>
                </a:solidFill>
              </a:rPr>
              <a:t>Version: 2025-07-31</a:t>
            </a:r>
            <a:endParaRPr sz="900">
              <a:solidFill>
                <a:schemeClr val="dk2"/>
              </a:solidFill>
            </a:endParaRPr>
          </a:p>
        </p:txBody>
      </p:sp>
      <p:sp>
        <p:nvSpPr>
          <p:cNvPr id="100" name="Google Shape;100;p17"/>
          <p:cNvSpPr/>
          <p:nvPr/>
        </p:nvSpPr>
        <p:spPr>
          <a:xfrm>
            <a:off x="288250" y="4006475"/>
            <a:ext cx="1039200" cy="3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700" u="sng">
                <a:solidFill>
                  <a:schemeClr val="hlink"/>
                </a:solidFill>
                <a:hlinkClick action="ppaction://hlinkshowjump?jump=nextslide"/>
              </a:rPr>
              <a:t>&gt; analysis overview</a:t>
            </a:r>
            <a:endParaRPr sz="700"/>
          </a:p>
        </p:txBody>
      </p:sp>
      <p:sp>
        <p:nvSpPr>
          <p:cNvPr id="101" name="Google Shape;101;p17"/>
          <p:cNvSpPr txBox="1"/>
          <p:nvPr/>
        </p:nvSpPr>
        <p:spPr>
          <a:xfrm>
            <a:off x="1540875" y="561957"/>
            <a:ext cx="17928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500">
                <a:solidFill>
                  <a:schemeClr val="dk1"/>
                </a:solidFill>
                <a:latin typeface="Calibri"/>
                <a:ea typeface="Calibri"/>
                <a:cs typeface="Calibri"/>
                <a:sym typeface="Calibri"/>
              </a:rPr>
              <a:t>Starting </a:t>
            </a:r>
            <a:r>
              <a:rPr b="1" i="0" lang="en-GB" sz="1500" u="none" cap="none" strike="noStrike">
                <a:solidFill>
                  <a:schemeClr val="dk1"/>
                </a:solidFill>
                <a:latin typeface="Calibri"/>
                <a:ea typeface="Calibri"/>
                <a:cs typeface="Calibri"/>
                <a:sym typeface="Calibri"/>
              </a:rPr>
              <a:t>state (2021)</a:t>
            </a:r>
            <a:endParaRPr b="1" sz="1500">
              <a:latin typeface="Calibri"/>
              <a:ea typeface="Calibri"/>
              <a:cs typeface="Calibri"/>
              <a:sym typeface="Calibri"/>
            </a:endParaRPr>
          </a:p>
        </p:txBody>
      </p:sp>
      <p:sp>
        <p:nvSpPr>
          <p:cNvPr id="102" name="Google Shape;102;p17"/>
          <p:cNvSpPr txBox="1"/>
          <p:nvPr/>
        </p:nvSpPr>
        <p:spPr>
          <a:xfrm>
            <a:off x="6304575" y="567483"/>
            <a:ext cx="23712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500">
                <a:solidFill>
                  <a:schemeClr val="dk1"/>
                </a:solidFill>
                <a:latin typeface="Calibri"/>
                <a:ea typeface="Calibri"/>
                <a:cs typeface="Calibri"/>
                <a:sym typeface="Calibri"/>
              </a:rPr>
              <a:t>Desired state (2028)</a:t>
            </a:r>
            <a:endParaRPr b="1" sz="1500">
              <a:latin typeface="Calibri"/>
              <a:ea typeface="Calibri"/>
              <a:cs typeface="Calibri"/>
              <a:sym typeface="Calibri"/>
            </a:endParaRPr>
          </a:p>
        </p:txBody>
      </p:sp>
      <p:sp>
        <p:nvSpPr>
          <p:cNvPr id="103" name="Google Shape;103;p17"/>
          <p:cNvSpPr txBox="1"/>
          <p:nvPr/>
        </p:nvSpPr>
        <p:spPr>
          <a:xfrm>
            <a:off x="3448725" y="567483"/>
            <a:ext cx="23931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500">
                <a:solidFill>
                  <a:schemeClr val="dk1"/>
                </a:solidFill>
                <a:latin typeface="Calibri"/>
                <a:ea typeface="Calibri"/>
                <a:cs typeface="Calibri"/>
                <a:sym typeface="Calibri"/>
              </a:rPr>
              <a:t>Activities</a:t>
            </a:r>
            <a:endParaRPr b="1" sz="15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p:nvPr/>
        </p:nvSpPr>
        <p:spPr>
          <a:xfrm>
            <a:off x="1122550" y="99650"/>
            <a:ext cx="2871000" cy="4630800"/>
          </a:xfrm>
          <a:prstGeom prst="roundRect">
            <a:avLst>
              <a:gd fmla="val 5888" name="adj"/>
            </a:avLst>
          </a:prstGeom>
          <a:solidFill>
            <a:srgbClr val="F4CCCC"/>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8"/>
          <p:cNvSpPr/>
          <p:nvPr/>
        </p:nvSpPr>
        <p:spPr>
          <a:xfrm>
            <a:off x="5858125" y="99650"/>
            <a:ext cx="3131400" cy="4630800"/>
          </a:xfrm>
          <a:prstGeom prst="roundRect">
            <a:avLst>
              <a:gd fmla="val 6327" name="adj"/>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8"/>
          <p:cNvSpPr txBox="1"/>
          <p:nvPr/>
        </p:nvSpPr>
        <p:spPr>
          <a:xfrm>
            <a:off x="5989391" y="247269"/>
            <a:ext cx="2524500" cy="338700"/>
          </a:xfrm>
          <a:prstGeom prst="rect">
            <a:avLst/>
          </a:prstGeom>
          <a:noFill/>
          <a:ln cap="flat" cmpd="sng" w="9525">
            <a:solidFill>
              <a:srgbClr val="B6D7A8"/>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000"/>
              <a:t>Repositories: institutional, domain or both</a:t>
            </a:r>
            <a:endParaRPr sz="1000"/>
          </a:p>
        </p:txBody>
      </p:sp>
      <p:sp>
        <p:nvSpPr>
          <p:cNvPr id="111" name="Google Shape;111;p18"/>
          <p:cNvSpPr/>
          <p:nvPr/>
        </p:nvSpPr>
        <p:spPr>
          <a:xfrm>
            <a:off x="6525446" y="1991863"/>
            <a:ext cx="765285" cy="380394"/>
          </a:xfrm>
          <a:prstGeom prst="flowChartMagneticDisk">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p:nvPr/>
        </p:nvSpPr>
        <p:spPr>
          <a:xfrm>
            <a:off x="6791628" y="2165064"/>
            <a:ext cx="765285" cy="380394"/>
          </a:xfrm>
          <a:prstGeom prst="flowChartMagneticDisk">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a:off x="7041393" y="2349195"/>
            <a:ext cx="765285" cy="380394"/>
          </a:xfrm>
          <a:prstGeom prst="flowChartMagneticDisk">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8"/>
          <p:cNvSpPr/>
          <p:nvPr/>
        </p:nvSpPr>
        <p:spPr>
          <a:xfrm>
            <a:off x="7243569" y="2545458"/>
            <a:ext cx="765285" cy="380394"/>
          </a:xfrm>
          <a:prstGeom prst="flowChartMagneticDisk">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8"/>
          <p:cNvSpPr/>
          <p:nvPr/>
        </p:nvSpPr>
        <p:spPr>
          <a:xfrm>
            <a:off x="7556913" y="2711351"/>
            <a:ext cx="765285" cy="380394"/>
          </a:xfrm>
          <a:prstGeom prst="flowChartMagneticDisk">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p:nvPr/>
        </p:nvSpPr>
        <p:spPr>
          <a:xfrm>
            <a:off x="6504841" y="738588"/>
            <a:ext cx="1669167" cy="659806"/>
          </a:xfrm>
          <a:prstGeom prst="flowChartMagneticDisk">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8"/>
          <p:cNvSpPr txBox="1"/>
          <p:nvPr/>
        </p:nvSpPr>
        <p:spPr>
          <a:xfrm>
            <a:off x="6673289" y="1006825"/>
            <a:ext cx="1417800" cy="3231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t>Find / Access services</a:t>
            </a:r>
            <a:endParaRPr sz="900"/>
          </a:p>
        </p:txBody>
      </p:sp>
      <p:sp>
        <p:nvSpPr>
          <p:cNvPr id="118" name="Google Shape;118;p18"/>
          <p:cNvSpPr/>
          <p:nvPr/>
        </p:nvSpPr>
        <p:spPr>
          <a:xfrm>
            <a:off x="110425" y="1006825"/>
            <a:ext cx="909900" cy="1031400"/>
          </a:xfrm>
          <a:prstGeom prst="rect">
            <a:avLst/>
          </a:prstGeom>
          <a:solidFill>
            <a:srgbClr val="A4C2F4"/>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900"/>
              <a:t>Research Data Management Plan</a:t>
            </a:r>
            <a:endParaRPr sz="900"/>
          </a:p>
        </p:txBody>
      </p:sp>
      <p:sp>
        <p:nvSpPr>
          <p:cNvPr id="119" name="Google Shape;119;p18"/>
          <p:cNvSpPr txBox="1"/>
          <p:nvPr/>
        </p:nvSpPr>
        <p:spPr>
          <a:xfrm>
            <a:off x="1239201" y="209075"/>
            <a:ext cx="22206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rPr>
              <a:t>Workspaces:</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105850" lvl="0" marL="72000" rtl="0" algn="l">
              <a:spcBef>
                <a:spcPts val="0"/>
              </a:spcBef>
              <a:spcAft>
                <a:spcPts val="0"/>
              </a:spcAft>
              <a:buClr>
                <a:schemeClr val="dk1"/>
              </a:buClr>
              <a:buSzPts val="1100"/>
              <a:buChar char="●"/>
            </a:pPr>
            <a:r>
              <a:rPr lang="en-GB" sz="1100">
                <a:solidFill>
                  <a:schemeClr val="dk1"/>
                </a:solidFill>
              </a:rPr>
              <a:t>working storage</a:t>
            </a:r>
            <a:endParaRPr sz="1100">
              <a:solidFill>
                <a:schemeClr val="dk1"/>
              </a:solidFill>
            </a:endParaRPr>
          </a:p>
          <a:p>
            <a:pPr indent="-105850" lvl="0" marL="72000" rtl="0" algn="l">
              <a:spcBef>
                <a:spcPts val="0"/>
              </a:spcBef>
              <a:spcAft>
                <a:spcPts val="0"/>
              </a:spcAft>
              <a:buClr>
                <a:schemeClr val="dk1"/>
              </a:buClr>
              <a:buSzPts val="1100"/>
              <a:buChar char="●"/>
            </a:pPr>
            <a:r>
              <a:rPr lang="en-GB" sz="1100">
                <a:solidFill>
                  <a:schemeClr val="dk1"/>
                </a:solidFill>
              </a:rPr>
              <a:t>domain</a:t>
            </a:r>
            <a:r>
              <a:rPr lang="en-GB" sz="1100">
                <a:solidFill>
                  <a:schemeClr val="dk1"/>
                </a:solidFill>
              </a:rPr>
              <a:t> </a:t>
            </a:r>
            <a:r>
              <a:rPr lang="en-GB" sz="1100">
                <a:solidFill>
                  <a:schemeClr val="dk1"/>
                </a:solidFill>
              </a:rPr>
              <a:t>specific tools</a:t>
            </a:r>
            <a:endParaRPr sz="1100">
              <a:solidFill>
                <a:schemeClr val="dk1"/>
              </a:solidFill>
            </a:endParaRPr>
          </a:p>
          <a:p>
            <a:pPr indent="-105850" lvl="0" marL="72000" rtl="0" algn="l">
              <a:spcBef>
                <a:spcPts val="0"/>
              </a:spcBef>
              <a:spcAft>
                <a:spcPts val="0"/>
              </a:spcAft>
              <a:buClr>
                <a:schemeClr val="dk1"/>
              </a:buClr>
              <a:buSzPts val="1100"/>
              <a:buChar char="●"/>
            </a:pPr>
            <a:r>
              <a:rPr lang="en-GB" sz="1100">
                <a:solidFill>
                  <a:schemeClr val="dk1"/>
                </a:solidFill>
              </a:rPr>
              <a:t>domain</a:t>
            </a:r>
            <a:r>
              <a:rPr lang="en-GB" sz="1100">
                <a:solidFill>
                  <a:schemeClr val="dk1"/>
                </a:solidFill>
              </a:rPr>
              <a:t> </a:t>
            </a:r>
            <a:r>
              <a:rPr lang="en-GB" sz="1100">
                <a:solidFill>
                  <a:schemeClr val="dk1"/>
                </a:solidFill>
              </a:rPr>
              <a:t>specific services</a:t>
            </a:r>
            <a:endParaRPr/>
          </a:p>
        </p:txBody>
      </p:sp>
      <p:sp>
        <p:nvSpPr>
          <p:cNvPr id="120" name="Google Shape;120;p18"/>
          <p:cNvSpPr txBox="1"/>
          <p:nvPr/>
        </p:nvSpPr>
        <p:spPr>
          <a:xfrm>
            <a:off x="3170063" y="3426000"/>
            <a:ext cx="76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collect</a:t>
            </a:r>
            <a:endParaRPr/>
          </a:p>
        </p:txBody>
      </p:sp>
      <p:sp>
        <p:nvSpPr>
          <p:cNvPr id="121" name="Google Shape;121;p18"/>
          <p:cNvSpPr txBox="1"/>
          <p:nvPr/>
        </p:nvSpPr>
        <p:spPr>
          <a:xfrm>
            <a:off x="2712428" y="1667868"/>
            <a:ext cx="93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describe</a:t>
            </a:r>
            <a:endParaRPr/>
          </a:p>
        </p:txBody>
      </p:sp>
      <p:sp>
        <p:nvSpPr>
          <p:cNvPr id="122" name="Google Shape;122;p18"/>
          <p:cNvSpPr txBox="1"/>
          <p:nvPr/>
        </p:nvSpPr>
        <p:spPr>
          <a:xfrm>
            <a:off x="1193280" y="3514633"/>
            <a:ext cx="90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analyse</a:t>
            </a:r>
            <a:endParaRPr/>
          </a:p>
        </p:txBody>
      </p:sp>
      <p:cxnSp>
        <p:nvCxnSpPr>
          <p:cNvPr id="123" name="Google Shape;123;p18"/>
          <p:cNvCxnSpPr>
            <a:stCxn id="118" idx="2"/>
            <a:endCxn id="108" idx="1"/>
          </p:cNvCxnSpPr>
          <p:nvPr/>
        </p:nvCxnSpPr>
        <p:spPr>
          <a:xfrm flipH="1" rot="-5400000">
            <a:off x="655525" y="1948075"/>
            <a:ext cx="376800" cy="557100"/>
          </a:xfrm>
          <a:prstGeom prst="curvedConnector2">
            <a:avLst/>
          </a:prstGeom>
          <a:noFill/>
          <a:ln cap="flat" cmpd="sng" w="38100">
            <a:solidFill>
              <a:schemeClr val="dk2"/>
            </a:solidFill>
            <a:prstDash val="solid"/>
            <a:round/>
            <a:headEnd len="med" w="med" type="none"/>
            <a:tailEnd len="med" w="med" type="triangle"/>
          </a:ln>
        </p:spPr>
      </p:cxnSp>
      <p:sp>
        <p:nvSpPr>
          <p:cNvPr id="124" name="Google Shape;124;p18"/>
          <p:cNvSpPr txBox="1"/>
          <p:nvPr/>
        </p:nvSpPr>
        <p:spPr>
          <a:xfrm>
            <a:off x="3993800" y="967500"/>
            <a:ext cx="18642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000FF"/>
                </a:solidFill>
              </a:rPr>
              <a:t>Reusable</a:t>
            </a:r>
            <a:r>
              <a:rPr lang="en-GB" sz="1200"/>
              <a:t>, </a:t>
            </a:r>
            <a:r>
              <a:rPr lang="en-GB" sz="1200">
                <a:solidFill>
                  <a:srgbClr val="0000FF"/>
                </a:solidFill>
              </a:rPr>
              <a:t>Interoperable</a:t>
            </a:r>
            <a:r>
              <a:rPr lang="en-GB" sz="1200"/>
              <a:t> </a:t>
            </a:r>
            <a:endParaRPr sz="1200"/>
          </a:p>
          <a:p>
            <a:pPr indent="0" lvl="0" marL="0" rtl="0" algn="l">
              <a:spcBef>
                <a:spcPts val="0"/>
              </a:spcBef>
              <a:spcAft>
                <a:spcPts val="0"/>
              </a:spcAft>
              <a:buNone/>
            </a:pPr>
            <a:r>
              <a:rPr lang="en-GB" sz="1200"/>
              <a:t>data objects</a:t>
            </a:r>
            <a:endParaRPr sz="1200"/>
          </a:p>
          <a:p>
            <a:pPr indent="-292100" lvl="0" marL="457200" rtl="0" algn="l">
              <a:spcBef>
                <a:spcPts val="0"/>
              </a:spcBef>
              <a:spcAft>
                <a:spcPts val="0"/>
              </a:spcAft>
              <a:buSzPts val="1000"/>
              <a:buChar char="➔"/>
            </a:pPr>
            <a:r>
              <a:rPr lang="en-GB" sz="1000"/>
              <a:t>deposit early</a:t>
            </a:r>
            <a:endParaRPr sz="1000"/>
          </a:p>
          <a:p>
            <a:pPr indent="-292100" lvl="0" marL="457200" rtl="0" algn="l">
              <a:spcBef>
                <a:spcPts val="0"/>
              </a:spcBef>
              <a:spcAft>
                <a:spcPts val="0"/>
              </a:spcAft>
              <a:buSzPts val="1000"/>
              <a:buChar char="➔"/>
            </a:pPr>
            <a:r>
              <a:rPr lang="en-GB" sz="1000"/>
              <a:t>deposit often</a:t>
            </a:r>
            <a:endParaRPr sz="1000"/>
          </a:p>
        </p:txBody>
      </p:sp>
      <p:sp>
        <p:nvSpPr>
          <p:cNvPr id="125" name="Google Shape;125;p18"/>
          <p:cNvSpPr txBox="1"/>
          <p:nvPr/>
        </p:nvSpPr>
        <p:spPr>
          <a:xfrm>
            <a:off x="6406900" y="3844075"/>
            <a:ext cx="2409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solidFill>
                  <a:srgbClr val="0000FF"/>
                </a:solidFill>
              </a:rPr>
              <a:t>Findable</a:t>
            </a:r>
            <a:r>
              <a:rPr lang="en-GB" sz="1200"/>
              <a:t>, </a:t>
            </a:r>
            <a:r>
              <a:rPr lang="en-GB" sz="1200">
                <a:solidFill>
                  <a:srgbClr val="0000FF"/>
                </a:solidFill>
              </a:rPr>
              <a:t>Accessible</a:t>
            </a:r>
            <a:r>
              <a:rPr lang="en-GB" sz="1200"/>
              <a:t>, </a:t>
            </a:r>
            <a:r>
              <a:rPr lang="en-GB" sz="1200">
                <a:solidFill>
                  <a:srgbClr val="0000FF"/>
                </a:solidFill>
              </a:rPr>
              <a:t>Reusable</a:t>
            </a:r>
            <a:r>
              <a:rPr lang="en-GB" sz="1200"/>
              <a:t> data objects</a:t>
            </a:r>
            <a:endParaRPr sz="1200"/>
          </a:p>
        </p:txBody>
      </p:sp>
      <p:sp>
        <p:nvSpPr>
          <p:cNvPr id="126" name="Google Shape;126;p18"/>
          <p:cNvSpPr txBox="1"/>
          <p:nvPr/>
        </p:nvSpPr>
        <p:spPr>
          <a:xfrm>
            <a:off x="4110453" y="3694975"/>
            <a:ext cx="171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reuse data objects</a:t>
            </a:r>
            <a:endParaRPr/>
          </a:p>
        </p:txBody>
      </p:sp>
      <p:grpSp>
        <p:nvGrpSpPr>
          <p:cNvPr id="127" name="Google Shape;127;p18"/>
          <p:cNvGrpSpPr/>
          <p:nvPr/>
        </p:nvGrpSpPr>
        <p:grpSpPr>
          <a:xfrm>
            <a:off x="3125415" y="1653096"/>
            <a:ext cx="3175968" cy="2165100"/>
            <a:chOff x="3996791" y="1358201"/>
            <a:chExt cx="2256300" cy="2165100"/>
          </a:xfrm>
        </p:grpSpPr>
        <p:sp>
          <p:nvSpPr>
            <p:cNvPr id="128" name="Google Shape;128;p18"/>
            <p:cNvSpPr/>
            <p:nvPr/>
          </p:nvSpPr>
          <p:spPr>
            <a:xfrm rot="-1754537">
              <a:off x="4253197" y="1688215"/>
              <a:ext cx="1743487" cy="1505073"/>
            </a:xfrm>
            <a:prstGeom prst="blockArc">
              <a:avLst>
                <a:gd fmla="val 14327713" name="adj1"/>
                <a:gd fmla="val 0" name="adj2"/>
                <a:gd fmla="val 25000" name="adj3"/>
              </a:avLst>
            </a:prstGeom>
            <a:solidFill>
              <a:srgbClr val="FF9900"/>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8"/>
            <p:cNvSpPr/>
            <p:nvPr/>
          </p:nvSpPr>
          <p:spPr>
            <a:xfrm rot="-2332579">
              <a:off x="5537702" y="2054168"/>
              <a:ext cx="486725" cy="245193"/>
            </a:xfrm>
            <a:custGeom>
              <a:rect b="b" l="l" r="r" t="t"/>
              <a:pathLst>
                <a:path extrusionOk="0" h="20636" w="40964">
                  <a:moveTo>
                    <a:pt x="0" y="0"/>
                  </a:moveTo>
                  <a:lnTo>
                    <a:pt x="20636" y="20636"/>
                  </a:lnTo>
                  <a:lnTo>
                    <a:pt x="40964" y="309"/>
                  </a:lnTo>
                  <a:close/>
                </a:path>
              </a:pathLst>
            </a:custGeom>
            <a:solidFill>
              <a:srgbClr val="FF9900"/>
            </a:solidFill>
            <a:ln cap="flat" cmpd="sng" w="9525">
              <a:solidFill>
                <a:srgbClr val="FF9900"/>
              </a:solidFill>
              <a:prstDash val="solid"/>
              <a:round/>
              <a:headEnd len="med" w="med" type="none"/>
              <a:tailEnd len="med" w="med" type="none"/>
            </a:ln>
          </p:spPr>
        </p:sp>
      </p:grpSp>
      <p:grpSp>
        <p:nvGrpSpPr>
          <p:cNvPr id="130" name="Google Shape;130;p18"/>
          <p:cNvGrpSpPr/>
          <p:nvPr/>
        </p:nvGrpSpPr>
        <p:grpSpPr>
          <a:xfrm>
            <a:off x="3602333" y="1719223"/>
            <a:ext cx="3131381" cy="2195700"/>
            <a:chOff x="4485581" y="1887664"/>
            <a:chExt cx="2273400" cy="2195700"/>
          </a:xfrm>
        </p:grpSpPr>
        <p:sp>
          <p:nvSpPr>
            <p:cNvPr id="131" name="Google Shape;131;p18"/>
            <p:cNvSpPr/>
            <p:nvPr/>
          </p:nvSpPr>
          <p:spPr>
            <a:xfrm rot="8903317">
              <a:off x="4750592" y="2232966"/>
              <a:ext cx="1743377" cy="1505096"/>
            </a:xfrm>
            <a:prstGeom prst="blockArc">
              <a:avLst>
                <a:gd fmla="val 14327713" name="adj1"/>
                <a:gd fmla="val 0" name="adj2"/>
                <a:gd fmla="val 25000" name="adj3"/>
              </a:avLst>
            </a:prstGeom>
            <a:solidFill>
              <a:srgbClr val="FF9900"/>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8"/>
            <p:cNvSpPr/>
            <p:nvPr/>
          </p:nvSpPr>
          <p:spPr>
            <a:xfrm rot="8850619">
              <a:off x="4758739" y="3147026"/>
              <a:ext cx="486743" cy="245201"/>
            </a:xfrm>
            <a:custGeom>
              <a:rect b="b" l="l" r="r" t="t"/>
              <a:pathLst>
                <a:path extrusionOk="0" h="20636" w="40964">
                  <a:moveTo>
                    <a:pt x="0" y="0"/>
                  </a:moveTo>
                  <a:lnTo>
                    <a:pt x="20636" y="20636"/>
                  </a:lnTo>
                  <a:lnTo>
                    <a:pt x="40964" y="309"/>
                  </a:lnTo>
                  <a:close/>
                </a:path>
              </a:pathLst>
            </a:custGeom>
            <a:solidFill>
              <a:srgbClr val="FF9900"/>
            </a:solidFill>
            <a:ln cap="flat" cmpd="sng" w="9525">
              <a:solidFill>
                <a:srgbClr val="FF9900"/>
              </a:solidFill>
              <a:prstDash val="solid"/>
              <a:round/>
              <a:headEnd len="med" w="med" type="none"/>
              <a:tailEnd len="med" w="med" type="none"/>
            </a:ln>
          </p:spPr>
        </p:sp>
      </p:grpSp>
      <p:pic>
        <p:nvPicPr>
          <p:cNvPr descr="Creative Commons License" id="133" name="Google Shape;133;p18"/>
          <p:cNvPicPr preferRelativeResize="0"/>
          <p:nvPr/>
        </p:nvPicPr>
        <p:blipFill>
          <a:blip r:embed="rId3">
            <a:alphaModFix/>
          </a:blip>
          <a:stretch>
            <a:fillRect/>
          </a:stretch>
        </p:blipFill>
        <p:spPr>
          <a:xfrm>
            <a:off x="152400" y="5209301"/>
            <a:ext cx="729436" cy="12799"/>
          </a:xfrm>
          <a:prstGeom prst="rect">
            <a:avLst/>
          </a:prstGeom>
          <a:noFill/>
          <a:ln>
            <a:noFill/>
          </a:ln>
        </p:spPr>
      </p:pic>
      <p:sp>
        <p:nvSpPr>
          <p:cNvPr id="134" name="Google Shape;134;p18"/>
          <p:cNvSpPr txBox="1"/>
          <p:nvPr/>
        </p:nvSpPr>
        <p:spPr>
          <a:xfrm>
            <a:off x="3185200" y="4885325"/>
            <a:ext cx="4905900" cy="22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900">
                <a:solidFill>
                  <a:schemeClr val="dk1"/>
                </a:solidFill>
              </a:rPr>
              <a:t>V1.0 </a:t>
            </a:r>
            <a:r>
              <a:rPr lang="en-GB" sz="900"/>
              <a:t>© Marco La Rosa, Peter Sefton 2021 </a:t>
            </a:r>
            <a:r>
              <a:rPr lang="en-GB" sz="950" u="sng">
                <a:solidFill>
                  <a:schemeClr val="hlink"/>
                </a:solidFill>
                <a:highlight>
                  <a:srgbClr val="FFFFFF"/>
                </a:highlight>
                <a:hlinkClick r:id="rId4"/>
              </a:rPr>
              <a:t>https://creativecommons.org/licenses/by-sa/4.0/</a:t>
            </a:r>
            <a:r>
              <a:rPr lang="en-GB" sz="900"/>
              <a:t> </a:t>
            </a:r>
            <a:endParaRPr sz="900"/>
          </a:p>
        </p:txBody>
      </p:sp>
      <p:sp>
        <p:nvSpPr>
          <p:cNvPr id="135" name="Google Shape;135;p1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36" name="Google Shape;136;p18"/>
          <p:cNvPicPr preferRelativeResize="0"/>
          <p:nvPr/>
        </p:nvPicPr>
        <p:blipFill>
          <a:blip r:embed="rId5">
            <a:alphaModFix/>
          </a:blip>
          <a:stretch>
            <a:fillRect/>
          </a:stretch>
        </p:blipFill>
        <p:spPr>
          <a:xfrm>
            <a:off x="8173988" y="4815938"/>
            <a:ext cx="838200" cy="295275"/>
          </a:xfrm>
          <a:prstGeom prst="rect">
            <a:avLst/>
          </a:prstGeom>
          <a:noFill/>
          <a:ln>
            <a:noFill/>
          </a:ln>
        </p:spPr>
      </p:pic>
      <p:grpSp>
        <p:nvGrpSpPr>
          <p:cNvPr id="137" name="Google Shape;137;p18"/>
          <p:cNvGrpSpPr/>
          <p:nvPr/>
        </p:nvGrpSpPr>
        <p:grpSpPr>
          <a:xfrm>
            <a:off x="1647222" y="1991884"/>
            <a:ext cx="1836300" cy="1919937"/>
            <a:chOff x="1647222" y="2144284"/>
            <a:chExt cx="1836300" cy="1919937"/>
          </a:xfrm>
        </p:grpSpPr>
        <p:sp>
          <p:nvSpPr>
            <p:cNvPr id="138" name="Google Shape;138;p18"/>
            <p:cNvSpPr/>
            <p:nvPr/>
          </p:nvSpPr>
          <p:spPr>
            <a:xfrm>
              <a:off x="1647222" y="2144284"/>
              <a:ext cx="1836300" cy="1836300"/>
            </a:xfrm>
            <a:prstGeom prst="donut">
              <a:avLst>
                <a:gd fmla="val 16376" name="adj"/>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rot="2700000">
              <a:off x="3195772" y="2464912"/>
              <a:ext cx="115400" cy="464145"/>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8"/>
            <p:cNvSpPr/>
            <p:nvPr/>
          </p:nvSpPr>
          <p:spPr>
            <a:xfrm rot="7547844">
              <a:off x="1808758" y="2523820"/>
              <a:ext cx="115400" cy="418148"/>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8"/>
            <p:cNvSpPr/>
            <p:nvPr/>
          </p:nvSpPr>
          <p:spPr>
            <a:xfrm rot="10800000">
              <a:off x="2507629" y="3622021"/>
              <a:ext cx="115500" cy="4422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19"/>
          <p:cNvPicPr preferRelativeResize="0"/>
          <p:nvPr/>
        </p:nvPicPr>
        <p:blipFill>
          <a:blip r:embed="rId3">
            <a:alphaModFix/>
          </a:blip>
          <a:stretch>
            <a:fillRect/>
          </a:stretch>
        </p:blipFill>
        <p:spPr>
          <a:xfrm>
            <a:off x="64950" y="-1"/>
            <a:ext cx="7429698" cy="4659574"/>
          </a:xfrm>
          <a:prstGeom prst="rect">
            <a:avLst/>
          </a:prstGeom>
          <a:noFill/>
          <a:ln>
            <a:noFill/>
          </a:ln>
        </p:spPr>
      </p:pic>
      <p:pic>
        <p:nvPicPr>
          <p:cNvPr id="147" name="Google Shape;147;p19">
            <a:hlinkClick r:id="rId4"/>
          </p:cNvPr>
          <p:cNvPicPr preferRelativeResize="0"/>
          <p:nvPr/>
        </p:nvPicPr>
        <p:blipFill>
          <a:blip r:embed="rId5">
            <a:alphaModFix/>
          </a:blip>
          <a:stretch>
            <a:fillRect/>
          </a:stretch>
        </p:blipFill>
        <p:spPr>
          <a:xfrm>
            <a:off x="4333700" y="2068450"/>
            <a:ext cx="4645549" cy="2591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p:nvPr/>
        </p:nvSpPr>
        <p:spPr>
          <a:xfrm>
            <a:off x="59450" y="3648150"/>
            <a:ext cx="3389400" cy="659700"/>
          </a:xfrm>
          <a:prstGeom prst="rect">
            <a:avLst/>
          </a:prstGeom>
          <a:solidFill>
            <a:srgbClr val="F4CCCC"/>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0"/>
          <p:cNvSpPr/>
          <p:nvPr/>
        </p:nvSpPr>
        <p:spPr>
          <a:xfrm>
            <a:off x="59450" y="790875"/>
            <a:ext cx="3389400" cy="2855700"/>
          </a:xfrm>
          <a:prstGeom prst="rect">
            <a:avLst/>
          </a:prstGeom>
          <a:solidFill>
            <a:srgbClr val="B6D7A8"/>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0"/>
          <p:cNvSpPr/>
          <p:nvPr/>
        </p:nvSpPr>
        <p:spPr>
          <a:xfrm>
            <a:off x="351450" y="902900"/>
            <a:ext cx="918000" cy="627600"/>
          </a:xfrm>
          <a:prstGeom prst="roundRect">
            <a:avLst>
              <a:gd fmla="val 16667" name="adj"/>
            </a:avLst>
          </a:prstGeom>
          <a:solidFill>
            <a:srgbClr val="4C70F6">
              <a:alpha val="2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latin typeface="Calibri"/>
                <a:ea typeface="Calibri"/>
                <a:cs typeface="Calibri"/>
                <a:sym typeface="Calibri"/>
              </a:rPr>
              <a:t>collect &amp;</a:t>
            </a:r>
            <a:endParaRPr b="1">
              <a:latin typeface="Calibri"/>
              <a:ea typeface="Calibri"/>
              <a:cs typeface="Calibri"/>
              <a:sym typeface="Calibri"/>
            </a:endParaRPr>
          </a:p>
          <a:p>
            <a:pPr indent="0" lvl="0" marL="0" marR="0" rtl="0" algn="ctr">
              <a:lnSpc>
                <a:spcPct val="100000"/>
              </a:lnSpc>
              <a:spcBef>
                <a:spcPts val="0"/>
              </a:spcBef>
              <a:spcAft>
                <a:spcPts val="0"/>
              </a:spcAft>
              <a:buNone/>
            </a:pPr>
            <a:r>
              <a:rPr b="1" lang="en-GB">
                <a:latin typeface="Calibri"/>
                <a:ea typeface="Calibri"/>
                <a:cs typeface="Calibri"/>
                <a:sym typeface="Calibri"/>
              </a:rPr>
              <a:t>organise</a:t>
            </a:r>
            <a:endParaRPr b="1">
              <a:latin typeface="Calibri"/>
              <a:ea typeface="Calibri"/>
              <a:cs typeface="Calibri"/>
              <a:sym typeface="Calibri"/>
            </a:endParaRPr>
          </a:p>
        </p:txBody>
      </p:sp>
      <p:sp>
        <p:nvSpPr>
          <p:cNvPr id="155" name="Google Shape;155;p20"/>
          <p:cNvSpPr/>
          <p:nvPr/>
        </p:nvSpPr>
        <p:spPr>
          <a:xfrm>
            <a:off x="1396582" y="929963"/>
            <a:ext cx="1937400" cy="627600"/>
          </a:xfrm>
          <a:prstGeom prst="roundRect">
            <a:avLst>
              <a:gd fmla="val 16667" name="adj"/>
            </a:avLst>
          </a:prstGeom>
          <a:solidFill>
            <a:srgbClr val="4C70F6">
              <a:alpha val="21250"/>
            </a:srgbClr>
          </a:solid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1100"/>
              <a:buFont typeface="Arial"/>
              <a:buNone/>
            </a:pPr>
            <a:r>
              <a:rPr lang="en-GB" sz="1000">
                <a:solidFill>
                  <a:schemeClr val="dk1"/>
                </a:solidFill>
                <a:latin typeface="Calibri"/>
                <a:ea typeface="Calibri"/>
                <a:cs typeface="Calibri"/>
                <a:sym typeface="Calibri"/>
              </a:rPr>
              <a:t>Language data is rarely organised or described in reusable ways, if it's described at all</a:t>
            </a:r>
            <a:endParaRPr sz="1000">
              <a:latin typeface="Calibri"/>
              <a:ea typeface="Calibri"/>
              <a:cs typeface="Calibri"/>
              <a:sym typeface="Calibri"/>
            </a:endParaRPr>
          </a:p>
        </p:txBody>
      </p:sp>
      <p:sp>
        <p:nvSpPr>
          <p:cNvPr id="156" name="Google Shape;156;p20"/>
          <p:cNvSpPr/>
          <p:nvPr/>
        </p:nvSpPr>
        <p:spPr>
          <a:xfrm>
            <a:off x="351450" y="1587125"/>
            <a:ext cx="918000" cy="627600"/>
          </a:xfrm>
          <a:prstGeom prst="roundRect">
            <a:avLst>
              <a:gd fmla="val 16667" name="adj"/>
            </a:avLst>
          </a:prstGeom>
          <a:solidFill>
            <a:srgbClr val="00D700">
              <a:alpha val="1750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latin typeface="Calibri"/>
                <a:ea typeface="Calibri"/>
                <a:cs typeface="Calibri"/>
                <a:sym typeface="Calibri"/>
              </a:rPr>
              <a:t>c</a:t>
            </a:r>
            <a:r>
              <a:rPr b="1" lang="en-GB">
                <a:latin typeface="Calibri"/>
                <a:ea typeface="Calibri"/>
                <a:cs typeface="Calibri"/>
                <a:sym typeface="Calibri"/>
              </a:rPr>
              <a:t>onserve</a:t>
            </a:r>
            <a:endParaRPr b="1">
              <a:latin typeface="Calibri"/>
              <a:ea typeface="Calibri"/>
              <a:cs typeface="Calibri"/>
              <a:sym typeface="Calibri"/>
            </a:endParaRPr>
          </a:p>
        </p:txBody>
      </p:sp>
      <p:sp>
        <p:nvSpPr>
          <p:cNvPr id="157" name="Google Shape;157;p20"/>
          <p:cNvSpPr/>
          <p:nvPr/>
        </p:nvSpPr>
        <p:spPr>
          <a:xfrm>
            <a:off x="1396582" y="1603663"/>
            <a:ext cx="1937400" cy="627600"/>
          </a:xfrm>
          <a:prstGeom prst="roundRect">
            <a:avLst>
              <a:gd fmla="val 16667" name="adj"/>
            </a:avLst>
          </a:prstGeom>
          <a:solidFill>
            <a:srgbClr val="00D700">
              <a:alpha val="1750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latin typeface="Calibri"/>
                <a:ea typeface="Calibri"/>
                <a:cs typeface="Calibri"/>
                <a:sym typeface="Calibri"/>
              </a:rPr>
              <a:t>A lot of language data is at risk of being lost forever </a:t>
            </a:r>
            <a:endParaRPr sz="1000">
              <a:latin typeface="Calibri"/>
              <a:ea typeface="Calibri"/>
              <a:cs typeface="Calibri"/>
              <a:sym typeface="Calibri"/>
            </a:endParaRPr>
          </a:p>
        </p:txBody>
      </p:sp>
      <p:sp>
        <p:nvSpPr>
          <p:cNvPr id="158" name="Google Shape;158;p20"/>
          <p:cNvSpPr/>
          <p:nvPr/>
        </p:nvSpPr>
        <p:spPr>
          <a:xfrm>
            <a:off x="351503" y="2272550"/>
            <a:ext cx="918000" cy="627600"/>
          </a:xfrm>
          <a:prstGeom prst="roundRect">
            <a:avLst>
              <a:gd fmla="val 16667" name="adj"/>
            </a:avLst>
          </a:prstGeom>
          <a:solidFill>
            <a:srgbClr val="FFC000">
              <a:alpha val="218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latin typeface="Calibri"/>
                <a:ea typeface="Calibri"/>
                <a:cs typeface="Calibri"/>
                <a:sym typeface="Calibri"/>
              </a:rPr>
              <a:t>find</a:t>
            </a:r>
            <a:endParaRPr b="1">
              <a:latin typeface="Calibri"/>
              <a:ea typeface="Calibri"/>
              <a:cs typeface="Calibri"/>
              <a:sym typeface="Calibri"/>
            </a:endParaRPr>
          </a:p>
        </p:txBody>
      </p:sp>
      <p:sp>
        <p:nvSpPr>
          <p:cNvPr id="159" name="Google Shape;159;p20"/>
          <p:cNvSpPr/>
          <p:nvPr/>
        </p:nvSpPr>
        <p:spPr>
          <a:xfrm>
            <a:off x="1396582" y="2280697"/>
            <a:ext cx="1937400" cy="627600"/>
          </a:xfrm>
          <a:prstGeom prst="roundRect">
            <a:avLst>
              <a:gd fmla="val 16667" name="adj"/>
            </a:avLst>
          </a:prstGeom>
          <a:solidFill>
            <a:srgbClr val="FFC000">
              <a:alpha val="218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latin typeface="Calibri"/>
                <a:ea typeface="Calibri"/>
                <a:cs typeface="Calibri"/>
                <a:sym typeface="Calibri"/>
              </a:rPr>
              <a:t>It’s difficult to know what language data exists and where to find it</a:t>
            </a:r>
            <a:endParaRPr sz="1000">
              <a:latin typeface="Calibri"/>
              <a:ea typeface="Calibri"/>
              <a:cs typeface="Calibri"/>
              <a:sym typeface="Calibri"/>
            </a:endParaRPr>
          </a:p>
        </p:txBody>
      </p:sp>
      <p:sp>
        <p:nvSpPr>
          <p:cNvPr id="160" name="Google Shape;160;p20"/>
          <p:cNvSpPr/>
          <p:nvPr/>
        </p:nvSpPr>
        <p:spPr>
          <a:xfrm>
            <a:off x="1396582" y="3646649"/>
            <a:ext cx="19374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Font typeface="Arial"/>
              <a:buNone/>
            </a:pPr>
            <a:r>
              <a:rPr lang="en-GB" sz="1000">
                <a:latin typeface="Calibri"/>
                <a:ea typeface="Calibri"/>
                <a:cs typeface="Calibri"/>
                <a:sym typeface="Calibri"/>
              </a:rPr>
              <a:t>Ad</a:t>
            </a:r>
            <a:r>
              <a:rPr lang="en-GB" sz="1000">
                <a:solidFill>
                  <a:schemeClr val="dk1"/>
                </a:solidFill>
                <a:latin typeface="Calibri"/>
                <a:ea typeface="Calibri"/>
                <a:cs typeface="Calibri"/>
                <a:sym typeface="Calibri"/>
              </a:rPr>
              <a:t> hoc tools, analysis and annotation methods are used, lacking reproducibility</a:t>
            </a:r>
            <a:endParaRPr sz="1000">
              <a:solidFill>
                <a:schemeClr val="dk1"/>
              </a:solidFill>
              <a:latin typeface="Calibri"/>
              <a:ea typeface="Calibri"/>
              <a:cs typeface="Calibri"/>
              <a:sym typeface="Calibri"/>
            </a:endParaRPr>
          </a:p>
        </p:txBody>
      </p:sp>
      <p:sp>
        <p:nvSpPr>
          <p:cNvPr id="161" name="Google Shape;161;p20"/>
          <p:cNvSpPr/>
          <p:nvPr/>
        </p:nvSpPr>
        <p:spPr>
          <a:xfrm>
            <a:off x="6289931" y="3646650"/>
            <a:ext cx="23931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Font typeface="Arial"/>
              <a:buNone/>
            </a:pPr>
            <a:r>
              <a:rPr lang="en-GB" sz="1000">
                <a:solidFill>
                  <a:schemeClr val="dk1"/>
                </a:solidFill>
                <a:latin typeface="Calibri"/>
                <a:ea typeface="Calibri"/>
                <a:cs typeface="Calibri"/>
                <a:sym typeface="Calibri"/>
              </a:rPr>
              <a:t>Shared tools can process, analyse, reuse, repurpose, annotate, visualise and enhance data at scale</a:t>
            </a:r>
            <a:endParaRPr sz="1000">
              <a:latin typeface="Calibri"/>
              <a:ea typeface="Calibri"/>
              <a:cs typeface="Calibri"/>
              <a:sym typeface="Calibri"/>
            </a:endParaRPr>
          </a:p>
        </p:txBody>
      </p:sp>
      <p:sp>
        <p:nvSpPr>
          <p:cNvPr id="162" name="Google Shape;162;p20"/>
          <p:cNvSpPr/>
          <p:nvPr/>
        </p:nvSpPr>
        <p:spPr>
          <a:xfrm>
            <a:off x="351503" y="2960350"/>
            <a:ext cx="918000" cy="627600"/>
          </a:xfrm>
          <a:prstGeom prst="roundRect">
            <a:avLst>
              <a:gd fmla="val 16667" name="adj"/>
            </a:avLst>
          </a:prstGeom>
          <a:solidFill>
            <a:srgbClr val="9BE766">
              <a:alpha val="2313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latin typeface="Calibri"/>
                <a:ea typeface="Calibri"/>
                <a:cs typeface="Calibri"/>
                <a:sym typeface="Calibri"/>
              </a:rPr>
              <a:t>access</a:t>
            </a:r>
            <a:endParaRPr b="1">
              <a:latin typeface="Calibri"/>
              <a:ea typeface="Calibri"/>
              <a:cs typeface="Calibri"/>
              <a:sym typeface="Calibri"/>
            </a:endParaRPr>
          </a:p>
        </p:txBody>
      </p:sp>
      <p:sp>
        <p:nvSpPr>
          <p:cNvPr id="163" name="Google Shape;163;p20"/>
          <p:cNvSpPr/>
          <p:nvPr/>
        </p:nvSpPr>
        <p:spPr>
          <a:xfrm>
            <a:off x="1396585" y="2956158"/>
            <a:ext cx="1937400" cy="627600"/>
          </a:xfrm>
          <a:prstGeom prst="roundRect">
            <a:avLst>
              <a:gd fmla="val 16667" name="adj"/>
            </a:avLst>
          </a:prstGeom>
          <a:solidFill>
            <a:srgbClr val="9BE766">
              <a:alpha val="2313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latin typeface="Calibri"/>
                <a:ea typeface="Calibri"/>
                <a:cs typeface="Calibri"/>
                <a:sym typeface="Calibri"/>
              </a:rPr>
              <a:t>Processes for granting permissions and getting access to data are either absent or aren’t easy to understand or apply</a:t>
            </a:r>
            <a:endParaRPr sz="1000">
              <a:latin typeface="Calibri"/>
              <a:ea typeface="Calibri"/>
              <a:cs typeface="Calibri"/>
              <a:sym typeface="Calibri"/>
            </a:endParaRPr>
          </a:p>
        </p:txBody>
      </p:sp>
      <p:sp>
        <p:nvSpPr>
          <p:cNvPr id="164" name="Google Shape;164;p20">
            <a:hlinkClick action="ppaction://hlinksldjump" r:id="rId3"/>
          </p:cNvPr>
          <p:cNvSpPr/>
          <p:nvPr/>
        </p:nvSpPr>
        <p:spPr>
          <a:xfrm>
            <a:off x="351503" y="3646649"/>
            <a:ext cx="9180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GB">
                <a:latin typeface="Calibri"/>
                <a:ea typeface="Calibri"/>
                <a:cs typeface="Calibri"/>
                <a:sym typeface="Calibri"/>
              </a:rPr>
              <a:t>analyse</a:t>
            </a:r>
            <a:r>
              <a:rPr lang="en-GB" sz="1000">
                <a:solidFill>
                  <a:schemeClr val="dk1"/>
                </a:solidFill>
                <a:latin typeface="Calibri"/>
                <a:ea typeface="Calibri"/>
                <a:cs typeface="Calibri"/>
                <a:sym typeface="Calibri"/>
              </a:rPr>
              <a:t> </a:t>
            </a:r>
            <a:endParaRPr b="1">
              <a:latin typeface="Calibri"/>
              <a:ea typeface="Calibri"/>
              <a:cs typeface="Calibri"/>
              <a:sym typeface="Calibri"/>
            </a:endParaRPr>
          </a:p>
        </p:txBody>
      </p:sp>
      <p:sp>
        <p:nvSpPr>
          <p:cNvPr id="165" name="Google Shape;165;p20"/>
          <p:cNvSpPr/>
          <p:nvPr/>
        </p:nvSpPr>
        <p:spPr>
          <a:xfrm>
            <a:off x="6289931" y="929963"/>
            <a:ext cx="2393100" cy="627600"/>
          </a:xfrm>
          <a:prstGeom prst="roundRect">
            <a:avLst>
              <a:gd fmla="val 16667" name="adj"/>
            </a:avLst>
          </a:prstGeom>
          <a:solidFill>
            <a:srgbClr val="4C70F6">
              <a:alpha val="2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solidFill>
                  <a:schemeClr val="dk1"/>
                </a:solidFill>
                <a:latin typeface="Calibri"/>
                <a:ea typeface="Calibri"/>
                <a:cs typeface="Calibri"/>
                <a:sym typeface="Calibri"/>
              </a:rPr>
              <a:t>Standards and tools are available and being applied </a:t>
            </a:r>
            <a:r>
              <a:rPr lang="en-GB" sz="1000">
                <a:latin typeface="Calibri"/>
                <a:ea typeface="Calibri"/>
                <a:cs typeface="Calibri"/>
                <a:sym typeface="Calibri"/>
              </a:rPr>
              <a:t>by</a:t>
            </a:r>
            <a:r>
              <a:rPr lang="en-GB" sz="1000">
                <a:solidFill>
                  <a:schemeClr val="dk1"/>
                </a:solidFill>
                <a:latin typeface="Calibri"/>
                <a:ea typeface="Calibri"/>
                <a:cs typeface="Calibri"/>
                <a:sym typeface="Calibri"/>
              </a:rPr>
              <a:t> data stewards</a:t>
            </a:r>
            <a:endParaRPr sz="1000">
              <a:solidFill>
                <a:schemeClr val="dk1"/>
              </a:solidFill>
              <a:latin typeface="Calibri"/>
              <a:ea typeface="Calibri"/>
              <a:cs typeface="Calibri"/>
              <a:sym typeface="Calibri"/>
            </a:endParaRPr>
          </a:p>
        </p:txBody>
      </p:sp>
      <p:sp>
        <p:nvSpPr>
          <p:cNvPr id="166" name="Google Shape;166;p20"/>
          <p:cNvSpPr/>
          <p:nvPr/>
        </p:nvSpPr>
        <p:spPr>
          <a:xfrm>
            <a:off x="6289931" y="1603662"/>
            <a:ext cx="2393100" cy="627600"/>
          </a:xfrm>
          <a:prstGeom prst="roundRect">
            <a:avLst>
              <a:gd fmla="val 16667" name="adj"/>
            </a:avLst>
          </a:prstGeom>
          <a:solidFill>
            <a:srgbClr val="00D700">
              <a:alpha val="1750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solidFill>
                  <a:schemeClr val="dk1"/>
                </a:solidFill>
                <a:latin typeface="Calibri"/>
                <a:ea typeface="Calibri"/>
                <a:cs typeface="Calibri"/>
                <a:sym typeface="Calibri"/>
              </a:rPr>
              <a:t>Good governance</a:t>
            </a:r>
            <a:r>
              <a:rPr lang="en-GB" sz="1000">
                <a:solidFill>
                  <a:schemeClr val="dk1"/>
                </a:solidFill>
                <a:latin typeface="Calibri"/>
                <a:ea typeface="Calibri"/>
                <a:cs typeface="Calibri"/>
                <a:sym typeface="Calibri"/>
              </a:rPr>
              <a:t> and standardised, </a:t>
            </a:r>
            <a:r>
              <a:rPr lang="en-GB" sz="1000">
                <a:latin typeface="Calibri"/>
                <a:ea typeface="Calibri"/>
                <a:cs typeface="Calibri"/>
                <a:sym typeface="Calibri"/>
              </a:rPr>
              <a:t>distributed</a:t>
            </a:r>
            <a:r>
              <a:rPr lang="en-GB" sz="1000">
                <a:solidFill>
                  <a:schemeClr val="dk1"/>
                </a:solidFill>
                <a:latin typeface="Calibri"/>
                <a:ea typeface="Calibri"/>
                <a:cs typeface="Calibri"/>
                <a:sym typeface="Calibri"/>
              </a:rPr>
              <a:t> </a:t>
            </a:r>
            <a:r>
              <a:rPr lang="en-GB" sz="1000">
                <a:latin typeface="Calibri"/>
                <a:ea typeface="Calibri"/>
                <a:cs typeface="Calibri"/>
                <a:sym typeface="Calibri"/>
              </a:rPr>
              <a:t>storage</a:t>
            </a:r>
            <a:r>
              <a:rPr lang="en-GB" sz="1000">
                <a:solidFill>
                  <a:schemeClr val="dk1"/>
                </a:solidFill>
                <a:latin typeface="Calibri"/>
                <a:ea typeface="Calibri"/>
                <a:cs typeface="Calibri"/>
                <a:sym typeface="Calibri"/>
              </a:rPr>
              <a:t> of data </a:t>
            </a:r>
            <a:r>
              <a:rPr lang="en-GB" sz="1000">
                <a:solidFill>
                  <a:schemeClr val="dk1"/>
                </a:solidFill>
                <a:latin typeface="Calibri"/>
                <a:ea typeface="Calibri"/>
                <a:cs typeface="Calibri"/>
                <a:sym typeface="Calibri"/>
              </a:rPr>
              <a:t>helps </a:t>
            </a:r>
            <a:endParaRPr sz="10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GB" sz="1000">
                <a:solidFill>
                  <a:schemeClr val="dk1"/>
                </a:solidFill>
                <a:latin typeface="Calibri"/>
                <a:ea typeface="Calibri"/>
                <a:cs typeface="Calibri"/>
                <a:sym typeface="Calibri"/>
              </a:rPr>
              <a:t>preserve and return data</a:t>
            </a:r>
            <a:endParaRPr sz="1000">
              <a:solidFill>
                <a:schemeClr val="dk1"/>
              </a:solidFill>
              <a:latin typeface="Calibri"/>
              <a:ea typeface="Calibri"/>
              <a:cs typeface="Calibri"/>
              <a:sym typeface="Calibri"/>
            </a:endParaRPr>
          </a:p>
        </p:txBody>
      </p:sp>
      <p:sp>
        <p:nvSpPr>
          <p:cNvPr id="167" name="Google Shape;167;p20"/>
          <p:cNvSpPr/>
          <p:nvPr/>
        </p:nvSpPr>
        <p:spPr>
          <a:xfrm>
            <a:off x="6289931" y="2280697"/>
            <a:ext cx="2393100" cy="627600"/>
          </a:xfrm>
          <a:prstGeom prst="roundRect">
            <a:avLst>
              <a:gd fmla="val 16667" name="adj"/>
            </a:avLst>
          </a:prstGeom>
          <a:solidFill>
            <a:srgbClr val="FFC000">
              <a:alpha val="218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latin typeface="Calibri"/>
                <a:ea typeface="Calibri"/>
                <a:cs typeface="Calibri"/>
                <a:sym typeface="Calibri"/>
              </a:rPr>
              <a:t>Discovering and locating language data is easy via linked portals</a:t>
            </a:r>
            <a:endParaRPr sz="1000">
              <a:latin typeface="Calibri"/>
              <a:ea typeface="Calibri"/>
              <a:cs typeface="Calibri"/>
              <a:sym typeface="Calibri"/>
            </a:endParaRPr>
          </a:p>
        </p:txBody>
      </p:sp>
      <p:sp>
        <p:nvSpPr>
          <p:cNvPr id="168" name="Google Shape;168;p20"/>
          <p:cNvSpPr/>
          <p:nvPr/>
        </p:nvSpPr>
        <p:spPr>
          <a:xfrm>
            <a:off x="6304581" y="2956158"/>
            <a:ext cx="2393100" cy="627600"/>
          </a:xfrm>
          <a:prstGeom prst="roundRect">
            <a:avLst>
              <a:gd fmla="val 16667" name="adj"/>
            </a:avLst>
          </a:prstGeom>
          <a:solidFill>
            <a:srgbClr val="9BE766">
              <a:alpha val="2313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latin typeface="Calibri"/>
                <a:ea typeface="Calibri"/>
                <a:cs typeface="Calibri"/>
                <a:sym typeface="Calibri"/>
              </a:rPr>
              <a:t>Access controls are in place and easy to use, so that data access can be given to the right people </a:t>
            </a:r>
            <a:endParaRPr sz="1000">
              <a:latin typeface="Calibri"/>
              <a:ea typeface="Calibri"/>
              <a:cs typeface="Calibri"/>
              <a:sym typeface="Calibri"/>
            </a:endParaRPr>
          </a:p>
        </p:txBody>
      </p:sp>
      <p:sp>
        <p:nvSpPr>
          <p:cNvPr id="169" name="Google Shape;169;p20"/>
          <p:cNvSpPr txBox="1"/>
          <p:nvPr/>
        </p:nvSpPr>
        <p:spPr>
          <a:xfrm>
            <a:off x="351375" y="160711"/>
            <a:ext cx="8417400" cy="3771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2000">
                <a:solidFill>
                  <a:schemeClr val="dk1"/>
                </a:solidFill>
                <a:latin typeface="Calibri"/>
                <a:ea typeface="Calibri"/>
                <a:cs typeface="Calibri"/>
                <a:sym typeface="Calibri"/>
              </a:rPr>
              <a:t>LDaCA Execution Strategy Overview</a:t>
            </a:r>
            <a:endParaRPr b="1" sz="2000">
              <a:latin typeface="Calibri"/>
              <a:ea typeface="Calibri"/>
              <a:cs typeface="Calibri"/>
              <a:sym typeface="Calibri"/>
            </a:endParaRPr>
          </a:p>
        </p:txBody>
      </p:sp>
      <p:sp>
        <p:nvSpPr>
          <p:cNvPr id="170" name="Google Shape;170;p20"/>
          <p:cNvSpPr/>
          <p:nvPr/>
        </p:nvSpPr>
        <p:spPr>
          <a:xfrm>
            <a:off x="3448725" y="962600"/>
            <a:ext cx="2719200" cy="4019100"/>
          </a:xfrm>
          <a:prstGeom prst="homePlate">
            <a:avLst>
              <a:gd fmla="val 11728" name="adj"/>
            </a:avLst>
          </a:prstGeom>
          <a:solidFill>
            <a:srgbClr val="6FFCFC">
              <a:alpha val="28610"/>
            </a:srgbClr>
          </a:solidFill>
          <a:ln cap="flat" cmpd="sng" w="9525">
            <a:solidFill>
              <a:srgbClr val="6FFCFC"/>
            </a:solidFill>
            <a:prstDash val="solid"/>
            <a:round/>
            <a:headEnd len="sm" w="sm" type="none"/>
            <a:tailEnd len="sm" w="sm" type="none"/>
          </a:ln>
        </p:spPr>
        <p:txBody>
          <a:bodyPr anchorCtr="0" anchor="ctr" bIns="34275" lIns="67500" spcFirstLastPara="1" rIns="68575" wrap="square" tIns="34275">
            <a:noAutofit/>
          </a:bodyPr>
          <a:lstStyle/>
          <a:p>
            <a:pPr indent="-139700" lvl="0" marL="139700" marR="0" rtl="0" algn="l">
              <a:lnSpc>
                <a:spcPct val="100000"/>
              </a:lnSpc>
              <a:spcBef>
                <a:spcPts val="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Strengthen the data management </a:t>
            </a:r>
            <a:br>
              <a:rPr lang="en-GB" sz="1000">
                <a:solidFill>
                  <a:schemeClr val="dk1"/>
                </a:solidFill>
                <a:latin typeface="Calibri"/>
                <a:ea typeface="Calibri"/>
                <a:cs typeface="Calibri"/>
                <a:sym typeface="Calibri"/>
              </a:rPr>
            </a:br>
            <a:r>
              <a:rPr lang="en-GB" sz="1000">
                <a:solidFill>
                  <a:schemeClr val="dk1"/>
                </a:solidFill>
                <a:latin typeface="Calibri"/>
                <a:ea typeface="Calibri"/>
                <a:cs typeface="Calibri"/>
                <a:sym typeface="Calibri"/>
              </a:rPr>
              <a:t>skills of language worker communities </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Develop shared tools, standards and technical infrastructure to help data stewards care for  data for </a:t>
            </a:r>
            <a:br>
              <a:rPr lang="en-GB" sz="1000">
                <a:solidFill>
                  <a:schemeClr val="dk1"/>
                </a:solidFill>
                <a:latin typeface="Calibri"/>
                <a:ea typeface="Calibri"/>
                <a:cs typeface="Calibri"/>
                <a:sym typeface="Calibri"/>
              </a:rPr>
            </a:br>
            <a:r>
              <a:rPr lang="en-GB" sz="1000">
                <a:solidFill>
                  <a:schemeClr val="dk1"/>
                </a:solidFill>
                <a:latin typeface="Calibri"/>
                <a:ea typeface="Calibri"/>
                <a:cs typeface="Calibri"/>
                <a:sym typeface="Calibri"/>
              </a:rPr>
              <a:t>the long term</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Build data portals with useful search functions and lightweight technical structures</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Create guidance for data stewards to document and grant access and reuse rights</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Support language communities to gain greater control over their language data</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Develop tools for data and metadata conversion, processing, analysis, annotation, visualisation, and enrichment</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0"/>
              </a:spcAft>
              <a:buClr>
                <a:schemeClr val="dk1"/>
              </a:buClr>
              <a:buSzPts val="1000"/>
              <a:buFont typeface="Calibri"/>
              <a:buChar char="-"/>
            </a:pPr>
            <a:r>
              <a:rPr lang="en-GB" sz="1000">
                <a:solidFill>
                  <a:schemeClr val="dk1"/>
                </a:solidFill>
                <a:latin typeface="Calibri"/>
                <a:ea typeface="Calibri"/>
                <a:cs typeface="Calibri"/>
                <a:sym typeface="Calibri"/>
              </a:rPr>
              <a:t>Develop and guide the implementation</a:t>
            </a:r>
            <a:br>
              <a:rPr lang="en-GB" sz="1000">
                <a:solidFill>
                  <a:schemeClr val="dk1"/>
                </a:solidFill>
                <a:latin typeface="Calibri"/>
                <a:ea typeface="Calibri"/>
                <a:cs typeface="Calibri"/>
                <a:sym typeface="Calibri"/>
              </a:rPr>
            </a:br>
            <a:r>
              <a:rPr lang="en-GB" sz="1000">
                <a:solidFill>
                  <a:schemeClr val="dk1"/>
                </a:solidFill>
                <a:latin typeface="Calibri"/>
                <a:ea typeface="Calibri"/>
                <a:cs typeface="Calibri"/>
                <a:sym typeface="Calibri"/>
              </a:rPr>
              <a:t>of local and national policy and governance toolkits</a:t>
            </a:r>
            <a:endParaRPr sz="1000">
              <a:solidFill>
                <a:schemeClr val="dk1"/>
              </a:solidFill>
              <a:latin typeface="Calibri"/>
              <a:ea typeface="Calibri"/>
              <a:cs typeface="Calibri"/>
              <a:sym typeface="Calibri"/>
            </a:endParaRPr>
          </a:p>
          <a:p>
            <a:pPr indent="-139700" lvl="0" marL="139700" marR="0" rtl="0" algn="l">
              <a:lnSpc>
                <a:spcPct val="100000"/>
              </a:lnSpc>
              <a:spcBef>
                <a:spcPts val="800"/>
              </a:spcBef>
              <a:spcAft>
                <a:spcPts val="800"/>
              </a:spcAft>
              <a:buClr>
                <a:schemeClr val="dk1"/>
              </a:buClr>
              <a:buSzPts val="1000"/>
              <a:buFont typeface="Calibri"/>
              <a:buChar char="-"/>
            </a:pPr>
            <a:r>
              <a:rPr lang="en-GB" sz="1000">
                <a:solidFill>
                  <a:schemeClr val="dk1"/>
                </a:solidFill>
                <a:latin typeface="Calibri"/>
                <a:ea typeface="Calibri"/>
                <a:cs typeface="Calibri"/>
                <a:sym typeface="Calibri"/>
              </a:rPr>
              <a:t>Provide examples and training for </a:t>
            </a:r>
            <a:br>
              <a:rPr lang="en-GB" sz="1000">
                <a:solidFill>
                  <a:schemeClr val="dk1"/>
                </a:solidFill>
                <a:latin typeface="Calibri"/>
                <a:ea typeface="Calibri"/>
                <a:cs typeface="Calibri"/>
                <a:sym typeface="Calibri"/>
              </a:rPr>
            </a:br>
            <a:r>
              <a:rPr lang="en-GB" sz="1000">
                <a:solidFill>
                  <a:schemeClr val="dk1"/>
                </a:solidFill>
                <a:latin typeface="Calibri"/>
                <a:ea typeface="Calibri"/>
                <a:cs typeface="Calibri"/>
                <a:sym typeface="Calibri"/>
              </a:rPr>
              <a:t>research at scale</a:t>
            </a:r>
            <a:endParaRPr sz="1000">
              <a:solidFill>
                <a:schemeClr val="dk1"/>
              </a:solidFill>
              <a:latin typeface="Calibri"/>
              <a:ea typeface="Calibri"/>
              <a:cs typeface="Calibri"/>
              <a:sym typeface="Calibri"/>
            </a:endParaRPr>
          </a:p>
        </p:txBody>
      </p:sp>
      <p:sp>
        <p:nvSpPr>
          <p:cNvPr id="171" name="Google Shape;171;p20"/>
          <p:cNvSpPr/>
          <p:nvPr/>
        </p:nvSpPr>
        <p:spPr>
          <a:xfrm>
            <a:off x="351503" y="4329223"/>
            <a:ext cx="918000" cy="626400"/>
          </a:xfrm>
          <a:prstGeom prst="roundRect">
            <a:avLst>
              <a:gd fmla="val 16667" name="adj"/>
            </a:avLst>
          </a:prstGeom>
          <a:solidFill>
            <a:srgbClr val="B1D7FA">
              <a:alpha val="31009"/>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GB">
                <a:latin typeface="Calibri"/>
                <a:ea typeface="Calibri"/>
                <a:cs typeface="Calibri"/>
                <a:sym typeface="Calibri"/>
              </a:rPr>
              <a:t>guide</a:t>
            </a:r>
            <a:endParaRPr b="1">
              <a:latin typeface="Calibri"/>
              <a:ea typeface="Calibri"/>
              <a:cs typeface="Calibri"/>
              <a:sym typeface="Calibri"/>
            </a:endParaRPr>
          </a:p>
        </p:txBody>
      </p:sp>
      <p:sp>
        <p:nvSpPr>
          <p:cNvPr id="172" name="Google Shape;172;p20"/>
          <p:cNvSpPr/>
          <p:nvPr/>
        </p:nvSpPr>
        <p:spPr>
          <a:xfrm>
            <a:off x="6282676" y="4329224"/>
            <a:ext cx="2393100" cy="626400"/>
          </a:xfrm>
          <a:prstGeom prst="roundRect">
            <a:avLst>
              <a:gd fmla="val 16667" name="adj"/>
            </a:avLst>
          </a:prstGeom>
          <a:solidFill>
            <a:srgbClr val="B1D7FA">
              <a:alpha val="31009"/>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000">
                <a:latin typeface="Calibri"/>
                <a:ea typeface="Calibri"/>
                <a:cs typeface="Calibri"/>
                <a:sym typeface="Calibri"/>
              </a:rPr>
              <a:t>Best practice advice and training for working with language data is available from a single source which is easy to find</a:t>
            </a:r>
            <a:endParaRPr sz="1000">
              <a:latin typeface="Calibri"/>
              <a:ea typeface="Calibri"/>
              <a:cs typeface="Calibri"/>
              <a:sym typeface="Calibri"/>
            </a:endParaRPr>
          </a:p>
        </p:txBody>
      </p:sp>
      <p:sp>
        <p:nvSpPr>
          <p:cNvPr id="173" name="Google Shape;173;p20"/>
          <p:cNvSpPr/>
          <p:nvPr/>
        </p:nvSpPr>
        <p:spPr>
          <a:xfrm>
            <a:off x="1396574" y="4329224"/>
            <a:ext cx="1937400" cy="626400"/>
          </a:xfrm>
          <a:prstGeom prst="roundRect">
            <a:avLst>
              <a:gd fmla="val 16667" name="adj"/>
            </a:avLst>
          </a:prstGeom>
          <a:solidFill>
            <a:srgbClr val="B1D7FA">
              <a:alpha val="31009"/>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000">
                <a:latin typeface="Calibri"/>
                <a:ea typeface="Calibri"/>
                <a:cs typeface="Calibri"/>
                <a:sym typeface="Calibri"/>
              </a:rPr>
              <a:t>Guidance and training for collecting, handling, using and analysing data are scattered and hard to find</a:t>
            </a:r>
            <a:endParaRPr sz="1000">
              <a:latin typeface="Calibri"/>
              <a:ea typeface="Calibri"/>
              <a:cs typeface="Calibri"/>
              <a:sym typeface="Calibri"/>
            </a:endParaRPr>
          </a:p>
        </p:txBody>
      </p:sp>
      <p:sp>
        <p:nvSpPr>
          <p:cNvPr id="174" name="Google Shape;174;p20"/>
          <p:cNvSpPr txBox="1"/>
          <p:nvPr/>
        </p:nvSpPr>
        <p:spPr>
          <a:xfrm>
            <a:off x="7752025" y="18850"/>
            <a:ext cx="1348500" cy="284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900">
                <a:solidFill>
                  <a:schemeClr val="dk2"/>
                </a:solidFill>
              </a:rPr>
              <a:t>Version: 2025-07-31</a:t>
            </a:r>
            <a:endParaRPr sz="900">
              <a:solidFill>
                <a:schemeClr val="dk2"/>
              </a:solidFill>
            </a:endParaRPr>
          </a:p>
        </p:txBody>
      </p:sp>
      <p:sp>
        <p:nvSpPr>
          <p:cNvPr id="175" name="Google Shape;175;p20"/>
          <p:cNvSpPr txBox="1"/>
          <p:nvPr/>
        </p:nvSpPr>
        <p:spPr>
          <a:xfrm>
            <a:off x="1540875" y="561957"/>
            <a:ext cx="17928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500">
                <a:solidFill>
                  <a:schemeClr val="dk1"/>
                </a:solidFill>
                <a:latin typeface="Calibri"/>
                <a:ea typeface="Calibri"/>
                <a:cs typeface="Calibri"/>
                <a:sym typeface="Calibri"/>
              </a:rPr>
              <a:t>Starting </a:t>
            </a:r>
            <a:r>
              <a:rPr b="1" i="0" lang="en-GB" sz="1500" u="none" cap="none" strike="noStrike">
                <a:solidFill>
                  <a:schemeClr val="dk1"/>
                </a:solidFill>
                <a:latin typeface="Calibri"/>
                <a:ea typeface="Calibri"/>
                <a:cs typeface="Calibri"/>
                <a:sym typeface="Calibri"/>
              </a:rPr>
              <a:t>state (2021)</a:t>
            </a:r>
            <a:endParaRPr b="1" sz="1500">
              <a:latin typeface="Calibri"/>
              <a:ea typeface="Calibri"/>
              <a:cs typeface="Calibri"/>
              <a:sym typeface="Calibri"/>
            </a:endParaRPr>
          </a:p>
        </p:txBody>
      </p:sp>
      <p:sp>
        <p:nvSpPr>
          <p:cNvPr id="176" name="Google Shape;176;p20"/>
          <p:cNvSpPr txBox="1"/>
          <p:nvPr/>
        </p:nvSpPr>
        <p:spPr>
          <a:xfrm>
            <a:off x="6304575" y="567483"/>
            <a:ext cx="23712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500">
                <a:solidFill>
                  <a:schemeClr val="dk1"/>
                </a:solidFill>
                <a:latin typeface="Calibri"/>
                <a:ea typeface="Calibri"/>
                <a:cs typeface="Calibri"/>
                <a:sym typeface="Calibri"/>
              </a:rPr>
              <a:t>Desired state (2028)</a:t>
            </a:r>
            <a:endParaRPr b="1" sz="1500">
              <a:latin typeface="Calibri"/>
              <a:ea typeface="Calibri"/>
              <a:cs typeface="Calibri"/>
              <a:sym typeface="Calibri"/>
            </a:endParaRPr>
          </a:p>
        </p:txBody>
      </p:sp>
      <p:sp>
        <p:nvSpPr>
          <p:cNvPr id="177" name="Google Shape;177;p20"/>
          <p:cNvSpPr txBox="1"/>
          <p:nvPr/>
        </p:nvSpPr>
        <p:spPr>
          <a:xfrm>
            <a:off x="3448725" y="567483"/>
            <a:ext cx="23931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500">
                <a:solidFill>
                  <a:schemeClr val="dk1"/>
                </a:solidFill>
                <a:latin typeface="Calibri"/>
                <a:ea typeface="Calibri"/>
                <a:cs typeface="Calibri"/>
                <a:sym typeface="Calibri"/>
              </a:rPr>
              <a:t>Activities</a:t>
            </a:r>
            <a:endParaRPr b="1" sz="15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1" title="2025-08-22 08.26.34.jpg"/>
          <p:cNvPicPr preferRelativeResize="0"/>
          <p:nvPr/>
        </p:nvPicPr>
        <p:blipFill>
          <a:blip r:embed="rId3">
            <a:alphaModFix/>
          </a:blip>
          <a:stretch>
            <a:fillRect/>
          </a:stretch>
        </p:blipFill>
        <p:spPr>
          <a:xfrm>
            <a:off x="152400" y="152400"/>
            <a:ext cx="2336799" cy="1752611"/>
          </a:xfrm>
          <a:prstGeom prst="rect">
            <a:avLst/>
          </a:prstGeom>
          <a:noFill/>
          <a:ln>
            <a:noFill/>
          </a:ln>
        </p:spPr>
      </p:pic>
      <p:pic>
        <p:nvPicPr>
          <p:cNvPr id="183" name="Google Shape;183;p21" title="2025-08-22 08.26.22.jpg"/>
          <p:cNvPicPr preferRelativeResize="0"/>
          <p:nvPr/>
        </p:nvPicPr>
        <p:blipFill>
          <a:blip r:embed="rId4">
            <a:alphaModFix/>
          </a:blip>
          <a:stretch>
            <a:fillRect/>
          </a:stretch>
        </p:blipFill>
        <p:spPr>
          <a:xfrm>
            <a:off x="2489200" y="0"/>
            <a:ext cx="6654802" cy="4991101"/>
          </a:xfrm>
          <a:prstGeom prst="rect">
            <a:avLst/>
          </a:prstGeom>
          <a:noFill/>
          <a:ln>
            <a:noFill/>
          </a:ln>
        </p:spPr>
      </p:pic>
      <p:cxnSp>
        <p:nvCxnSpPr>
          <p:cNvPr id="184" name="Google Shape;184;p21"/>
          <p:cNvCxnSpPr/>
          <p:nvPr/>
        </p:nvCxnSpPr>
        <p:spPr>
          <a:xfrm>
            <a:off x="2115625" y="1134675"/>
            <a:ext cx="4033800" cy="1019700"/>
          </a:xfrm>
          <a:prstGeom prst="straightConnector1">
            <a:avLst/>
          </a:prstGeom>
          <a:noFill/>
          <a:ln cap="flat" cmpd="sng" w="38100">
            <a:solidFill>
              <a:srgbClr val="FF0000"/>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2"/>
          <p:cNvPicPr preferRelativeResize="0"/>
          <p:nvPr/>
        </p:nvPicPr>
        <p:blipFill>
          <a:blip r:embed="rId3">
            <a:alphaModFix/>
          </a:blip>
          <a:stretch>
            <a:fillRect/>
          </a:stretch>
        </p:blipFill>
        <p:spPr>
          <a:xfrm>
            <a:off x="862150" y="400200"/>
            <a:ext cx="6617575" cy="4551450"/>
          </a:xfrm>
          <a:prstGeom prst="rect">
            <a:avLst/>
          </a:prstGeom>
          <a:noFill/>
          <a:ln>
            <a:noFill/>
          </a:ln>
        </p:spPr>
      </p:pic>
      <p:sp>
        <p:nvSpPr>
          <p:cNvPr id="190" name="Google Shape;190;p22"/>
          <p:cNvSpPr txBox="1"/>
          <p:nvPr/>
        </p:nvSpPr>
        <p:spPr>
          <a:xfrm>
            <a:off x="464575" y="240600"/>
            <a:ext cx="6953400" cy="6156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t>PILARS 1: </a:t>
            </a:r>
            <a:r>
              <a:rPr lang="en-GB"/>
              <a:t>Data is Portable: assets are not locked-in to a particular mode of storage, interface or service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One storage service ↔ One API ↔ One Portal</a:t>
            </a:r>
            <a:endParaRPr/>
          </a:p>
        </p:txBody>
      </p:sp>
      <p:pic>
        <p:nvPicPr>
          <p:cNvPr id="196" name="Google Shape;196;p23"/>
          <p:cNvPicPr preferRelativeResize="0"/>
          <p:nvPr/>
        </p:nvPicPr>
        <p:blipFill>
          <a:blip r:embed="rId3">
            <a:alphaModFix/>
          </a:blip>
          <a:stretch>
            <a:fillRect/>
          </a:stretch>
        </p:blipFill>
        <p:spPr>
          <a:xfrm>
            <a:off x="91275" y="1094575"/>
            <a:ext cx="5470377" cy="3381581"/>
          </a:xfrm>
          <a:prstGeom prst="rect">
            <a:avLst/>
          </a:prstGeom>
          <a:noFill/>
          <a:ln>
            <a:noFill/>
          </a:ln>
          <a:effectLst>
            <a:outerShdw blurRad="57150" rotWithShape="0" algn="bl" dir="5400000" dist="19050">
              <a:srgbClr val="000000">
                <a:alpha val="50000"/>
              </a:srgbClr>
            </a:outerShdw>
          </a:effectLst>
        </p:spPr>
      </p:pic>
      <p:pic>
        <p:nvPicPr>
          <p:cNvPr id="197" name="Google Shape;197;p23"/>
          <p:cNvPicPr preferRelativeResize="0"/>
          <p:nvPr/>
        </p:nvPicPr>
        <p:blipFill>
          <a:blip r:embed="rId4">
            <a:alphaModFix/>
          </a:blip>
          <a:stretch>
            <a:fillRect/>
          </a:stretch>
        </p:blipFill>
        <p:spPr>
          <a:xfrm>
            <a:off x="5430748" y="864175"/>
            <a:ext cx="3618902" cy="2602975"/>
          </a:xfrm>
          <a:prstGeom prst="rect">
            <a:avLst/>
          </a:prstGeom>
          <a:noFill/>
          <a:ln>
            <a:noFill/>
          </a:ln>
        </p:spPr>
      </p:pic>
      <p:sp>
        <p:nvSpPr>
          <p:cNvPr id="198" name="Google Shape;198;p23"/>
          <p:cNvSpPr/>
          <p:nvPr/>
        </p:nvSpPr>
        <p:spPr>
          <a:xfrm>
            <a:off x="7520700" y="1240750"/>
            <a:ext cx="1435800" cy="2096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3"/>
          <p:cNvSpPr txBox="1"/>
          <p:nvPr/>
        </p:nvSpPr>
        <p:spPr>
          <a:xfrm>
            <a:off x="5717400" y="3467150"/>
            <a:ext cx="30456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rgbClr val="FF0000"/>
                </a:solidFill>
              </a:rPr>
              <a:t>This pattern will be used for LDaCA, the Batchelor CALL Collection, RAPID (Hansard) the UTS Research Data  </a:t>
            </a:r>
            <a:r>
              <a:rPr lang="en-GB" sz="1500">
                <a:solidFill>
                  <a:srgbClr val="FF0000"/>
                </a:solidFill>
              </a:rPr>
              <a:t>Repo</a:t>
            </a:r>
            <a:r>
              <a:rPr lang="en-GB" sz="1500">
                <a:solidFill>
                  <a:srgbClr val="FF0000"/>
                </a:solidFill>
              </a:rPr>
              <a:t>sitory </a:t>
            </a:r>
            <a:r>
              <a:rPr lang="en-GB" sz="1500">
                <a:solidFill>
                  <a:srgbClr val="FF0000"/>
                </a:solidFill>
              </a:rPr>
              <a:t>and other major collections</a:t>
            </a:r>
            <a:endParaRPr sz="150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type="title"/>
          </p:nvPr>
        </p:nvSpPr>
        <p:spPr>
          <a:xfrm>
            <a:off x="62100" y="9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One data store ↔ One API ↔ 2 portals (demo)</a:t>
            </a:r>
            <a:endParaRPr/>
          </a:p>
          <a:p>
            <a:pPr indent="0" lvl="0" marL="0" rtl="0" algn="l">
              <a:spcBef>
                <a:spcPts val="0"/>
              </a:spcBef>
              <a:spcAft>
                <a:spcPts val="0"/>
              </a:spcAft>
              <a:buNone/>
            </a:pPr>
            <a:r>
              <a:t/>
            </a:r>
            <a:endParaRPr/>
          </a:p>
        </p:txBody>
      </p:sp>
      <p:pic>
        <p:nvPicPr>
          <p:cNvPr id="205" name="Google Shape;205;p24"/>
          <p:cNvPicPr preferRelativeResize="0"/>
          <p:nvPr/>
        </p:nvPicPr>
        <p:blipFill>
          <a:blip r:embed="rId3">
            <a:alphaModFix/>
          </a:blip>
          <a:stretch>
            <a:fillRect/>
          </a:stretch>
        </p:blipFill>
        <p:spPr>
          <a:xfrm>
            <a:off x="131406" y="617250"/>
            <a:ext cx="4067149" cy="2571750"/>
          </a:xfrm>
          <a:prstGeom prst="rect">
            <a:avLst/>
          </a:prstGeom>
          <a:noFill/>
          <a:ln>
            <a:noFill/>
          </a:ln>
        </p:spPr>
      </p:pic>
      <p:pic>
        <p:nvPicPr>
          <p:cNvPr id="206" name="Google Shape;206;p24"/>
          <p:cNvPicPr preferRelativeResize="0"/>
          <p:nvPr/>
        </p:nvPicPr>
        <p:blipFill>
          <a:blip r:embed="rId4">
            <a:alphaModFix/>
          </a:blip>
          <a:stretch>
            <a:fillRect/>
          </a:stretch>
        </p:blipFill>
        <p:spPr>
          <a:xfrm>
            <a:off x="2422619" y="2184625"/>
            <a:ext cx="4180127" cy="2571751"/>
          </a:xfrm>
          <a:prstGeom prst="rect">
            <a:avLst/>
          </a:prstGeom>
          <a:noFill/>
          <a:ln>
            <a:noFill/>
          </a:ln>
        </p:spPr>
      </p:pic>
      <p:sp>
        <p:nvSpPr>
          <p:cNvPr id="207" name="Google Shape;207;p24"/>
          <p:cNvSpPr txBox="1"/>
          <p:nvPr/>
        </p:nvSpPr>
        <p:spPr>
          <a:xfrm>
            <a:off x="5586950" y="3091275"/>
            <a:ext cx="2508900" cy="7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000">
                <a:solidFill>
                  <a:srgbClr val="FF0000"/>
                </a:solidFill>
              </a:rPr>
              <a:t>DEMO ONLY</a:t>
            </a:r>
            <a:endParaRPr sz="3000">
              <a:solidFill>
                <a:srgbClr val="FF0000"/>
              </a:solidFill>
            </a:endParaRPr>
          </a:p>
        </p:txBody>
      </p:sp>
      <p:pic>
        <p:nvPicPr>
          <p:cNvPr id="208" name="Google Shape;208;p24"/>
          <p:cNvPicPr preferRelativeResize="0"/>
          <p:nvPr/>
        </p:nvPicPr>
        <p:blipFill>
          <a:blip r:embed="rId5">
            <a:alphaModFix/>
          </a:blip>
          <a:stretch>
            <a:fillRect/>
          </a:stretch>
        </p:blipFill>
        <p:spPr>
          <a:xfrm>
            <a:off x="5397875" y="583475"/>
            <a:ext cx="3618900" cy="2118525"/>
          </a:xfrm>
          <a:prstGeom prst="rect">
            <a:avLst/>
          </a:prstGeom>
          <a:noFill/>
          <a:ln>
            <a:noFill/>
          </a:ln>
        </p:spPr>
      </p:pic>
      <p:sp>
        <p:nvSpPr>
          <p:cNvPr id="209" name="Google Shape;209;p24"/>
          <p:cNvSpPr/>
          <p:nvPr/>
        </p:nvSpPr>
        <p:spPr>
          <a:xfrm>
            <a:off x="5470850" y="998275"/>
            <a:ext cx="2201100" cy="859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4"/>
          <p:cNvSpPr/>
          <p:nvPr/>
        </p:nvSpPr>
        <p:spPr>
          <a:xfrm>
            <a:off x="6467450" y="1864925"/>
            <a:ext cx="1204500" cy="792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1" name="Google Shape;211;p24"/>
          <p:cNvPicPr preferRelativeResize="0"/>
          <p:nvPr/>
        </p:nvPicPr>
        <p:blipFill>
          <a:blip r:embed="rId6">
            <a:alphaModFix/>
          </a:blip>
          <a:stretch>
            <a:fillRect/>
          </a:stretch>
        </p:blipFill>
        <p:spPr>
          <a:xfrm>
            <a:off x="6467447" y="1691000"/>
            <a:ext cx="329086" cy="493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Other </a:t>
            </a:r>
            <a:r>
              <a:rPr lang="en-GB"/>
              <a:t>deployment</a:t>
            </a:r>
            <a:r>
              <a:rPr lang="en-GB"/>
              <a:t> options</a:t>
            </a:r>
            <a:endParaRPr/>
          </a:p>
        </p:txBody>
      </p:sp>
      <p:sp>
        <p:nvSpPr>
          <p:cNvPr id="217" name="Google Shape;217;p25"/>
          <p:cNvSpPr txBox="1"/>
          <p:nvPr>
            <p:ph idx="1" type="body"/>
          </p:nvPr>
        </p:nvSpPr>
        <p:spPr>
          <a:xfrm>
            <a:off x="311700" y="1152475"/>
            <a:ext cx="5191800" cy="19503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GB" sz="1400"/>
              <a:t>Set up a stand-alone service for a specific archive (Batchelor CALL Collection work in progress)</a:t>
            </a:r>
            <a:endParaRPr sz="1400"/>
          </a:p>
          <a:p>
            <a:pPr indent="-317500" lvl="0" marL="457200" rtl="0" algn="l">
              <a:spcBef>
                <a:spcPts val="1000"/>
              </a:spcBef>
              <a:spcAft>
                <a:spcPts val="0"/>
              </a:spcAft>
              <a:buSzPts val="1400"/>
              <a:buChar char="●"/>
            </a:pPr>
            <a:r>
              <a:rPr lang="en-GB" sz="1400"/>
              <a:t>Automation of deployment of portals on demand for testing or show and tell</a:t>
            </a:r>
            <a:endParaRPr sz="1400"/>
          </a:p>
          <a:p>
            <a:pPr indent="-317500" lvl="0" marL="457200" rtl="0" algn="l">
              <a:spcBef>
                <a:spcPts val="1000"/>
              </a:spcBef>
              <a:spcAft>
                <a:spcPts val="0"/>
              </a:spcAft>
              <a:buSzPts val="1400"/>
              <a:buChar char="●"/>
            </a:pPr>
            <a:r>
              <a:rPr lang="en-GB" sz="1400"/>
              <a:t>Distributed regional archival repositories,</a:t>
            </a:r>
            <a:br>
              <a:rPr lang="en-GB" sz="1400"/>
            </a:br>
            <a:r>
              <a:rPr lang="en-GB" sz="1400"/>
              <a:t>local orgs share infrastructure, avoiding cloud services</a:t>
            </a:r>
            <a:endParaRPr sz="1400"/>
          </a:p>
        </p:txBody>
      </p:sp>
      <p:pic>
        <p:nvPicPr>
          <p:cNvPr id="218" name="Google Shape;218;p25" title="Screenshot 2025-08-19 at 5.20.05 pm.png"/>
          <p:cNvPicPr preferRelativeResize="0"/>
          <p:nvPr/>
        </p:nvPicPr>
        <p:blipFill rotWithShape="1">
          <a:blip r:embed="rId3">
            <a:alphaModFix/>
          </a:blip>
          <a:srcRect b="3039" l="12877" r="14118" t="7563"/>
          <a:stretch/>
        </p:blipFill>
        <p:spPr>
          <a:xfrm>
            <a:off x="5503475" y="1800475"/>
            <a:ext cx="3640525" cy="3193226"/>
          </a:xfrm>
          <a:prstGeom prst="rect">
            <a:avLst/>
          </a:prstGeom>
          <a:noFill/>
          <a:ln>
            <a:noFill/>
          </a:ln>
        </p:spPr>
      </p:pic>
      <p:pic>
        <p:nvPicPr>
          <p:cNvPr id="219" name="Google Shape;219;p25" title="topend.png"/>
          <p:cNvPicPr preferRelativeResize="0"/>
          <p:nvPr/>
        </p:nvPicPr>
        <p:blipFill>
          <a:blip r:embed="rId4">
            <a:alphaModFix/>
          </a:blip>
          <a:stretch>
            <a:fillRect/>
          </a:stretch>
        </p:blipFill>
        <p:spPr>
          <a:xfrm>
            <a:off x="855050" y="3006925"/>
            <a:ext cx="3419817" cy="1950275"/>
          </a:xfrm>
          <a:prstGeom prst="rect">
            <a:avLst/>
          </a:prstGeom>
          <a:noFill/>
          <a:ln>
            <a:noFill/>
          </a:ln>
        </p:spPr>
      </p:pic>
      <p:sp>
        <p:nvSpPr>
          <p:cNvPr id="220" name="Google Shape;220;p25"/>
          <p:cNvSpPr txBox="1"/>
          <p:nvPr/>
        </p:nvSpPr>
        <p:spPr>
          <a:xfrm>
            <a:off x="5317200" y="1152475"/>
            <a:ext cx="3826800" cy="648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Char char="●"/>
            </a:pPr>
            <a:r>
              <a:rPr lang="en-GB">
                <a:solidFill>
                  <a:schemeClr val="dk2"/>
                </a:solidFill>
              </a:rPr>
              <a:t>Put part (or all) of a collection on a tiny computer (Raspberry Pi) </a:t>
            </a:r>
            <a:r>
              <a:rPr lang="en-GB">
                <a:solidFill>
                  <a:schemeClr val="dk2"/>
                </a:solidFill>
              </a:rPr>
              <a:t>for distribution</a:t>
            </a:r>
            <a:endParaRPr/>
          </a:p>
        </p:txBody>
      </p:sp>
      <p:sp>
        <p:nvSpPr>
          <p:cNvPr id="221" name="Google Shape;221;p25"/>
          <p:cNvSpPr txBox="1"/>
          <p:nvPr/>
        </p:nvSpPr>
        <p:spPr>
          <a:xfrm>
            <a:off x="7604025" y="3454225"/>
            <a:ext cx="1539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solidFill>
                  <a:schemeClr val="dk1"/>
                </a:solidFill>
                <a:latin typeface="Calibri"/>
                <a:ea typeface="Calibri"/>
                <a:cs typeface="Calibri"/>
                <a:sym typeface="Calibri"/>
              </a:rPr>
              <a:t>↑Raspberry Pi containing a collection</a:t>
            </a:r>
            <a:endParaRPr b="1" sz="1100">
              <a:solidFill>
                <a:schemeClr val="dk1"/>
              </a:solidFill>
              <a:latin typeface="Calibri"/>
              <a:ea typeface="Calibri"/>
              <a:cs typeface="Calibri"/>
              <a:sym typeface="Calibri"/>
            </a:endParaRPr>
          </a:p>
        </p:txBody>
      </p:sp>
      <p:sp>
        <p:nvSpPr>
          <p:cNvPr id="222" name="Google Shape;222;p25"/>
          <p:cNvSpPr txBox="1"/>
          <p:nvPr/>
        </p:nvSpPr>
        <p:spPr>
          <a:xfrm>
            <a:off x="7212275" y="4042775"/>
            <a:ext cx="1867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solidFill>
                  <a:schemeClr val="dk1"/>
                </a:solidFill>
                <a:latin typeface="Calibri"/>
                <a:ea typeface="Calibri"/>
                <a:cs typeface="Calibri"/>
                <a:sym typeface="Calibri"/>
              </a:rPr>
              <a:t>←Access on mobile via wifi</a:t>
            </a:r>
            <a:endParaRPr b="1" sz="1100">
              <a:solidFill>
                <a:schemeClr val="dk1"/>
              </a:solidFill>
              <a:latin typeface="Calibri"/>
              <a:ea typeface="Calibri"/>
              <a:cs typeface="Calibri"/>
              <a:sym typeface="Calibri"/>
            </a:endParaRPr>
          </a:p>
        </p:txBody>
      </p:sp>
      <p:pic>
        <p:nvPicPr>
          <p:cNvPr id="223" name="Google Shape;223;p25"/>
          <p:cNvPicPr preferRelativeResize="0"/>
          <p:nvPr/>
        </p:nvPicPr>
        <p:blipFill>
          <a:blip r:embed="rId5">
            <a:alphaModFix/>
          </a:blip>
          <a:stretch>
            <a:fillRect/>
          </a:stretch>
        </p:blipFill>
        <p:spPr>
          <a:xfrm rot="-9629395">
            <a:off x="7149182" y="2219100"/>
            <a:ext cx="349104" cy="34910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Services, software, standards and guides</a:t>
            </a:r>
            <a:endParaRPr/>
          </a:p>
        </p:txBody>
      </p:sp>
      <p:graphicFrame>
        <p:nvGraphicFramePr>
          <p:cNvPr id="229" name="Google Shape;229;p26"/>
          <p:cNvGraphicFramePr/>
          <p:nvPr/>
        </p:nvGraphicFramePr>
        <p:xfrm>
          <a:off x="311700" y="1105325"/>
          <a:ext cx="3000000" cy="3000000"/>
        </p:xfrm>
        <a:graphic>
          <a:graphicData uri="http://schemas.openxmlformats.org/drawingml/2006/table">
            <a:tbl>
              <a:tblPr>
                <a:noFill/>
                <a:tableStyleId>{A29BA815-142A-4FB6-854A-6ADEC629850B}</a:tableStyleId>
              </a:tblPr>
              <a:tblGrid>
                <a:gridCol w="2114900"/>
                <a:gridCol w="2114900"/>
                <a:gridCol w="2114900"/>
                <a:gridCol w="2114900"/>
              </a:tblGrid>
              <a:tr h="380700">
                <a:tc>
                  <a:txBody>
                    <a:bodyPr/>
                    <a:lstStyle/>
                    <a:p>
                      <a:pPr indent="0" lvl="0" marL="0" rtl="0" algn="l">
                        <a:spcBef>
                          <a:spcPts val="0"/>
                        </a:spcBef>
                        <a:spcAft>
                          <a:spcPts val="0"/>
                        </a:spcAft>
                        <a:buNone/>
                      </a:pPr>
                      <a:r>
                        <a:rPr lang="en-GB"/>
                        <a:t>Services</a:t>
                      </a:r>
                      <a:endParaRPr/>
                    </a:p>
                  </a:txBody>
                  <a:tcPr marT="91425" marB="91425" marR="91425" marL="91425"/>
                </a:tc>
                <a:tc>
                  <a:txBody>
                    <a:bodyPr/>
                    <a:lstStyle/>
                    <a:p>
                      <a:pPr indent="0" lvl="0" marL="0" rtl="0" algn="l">
                        <a:spcBef>
                          <a:spcPts val="0"/>
                        </a:spcBef>
                        <a:spcAft>
                          <a:spcPts val="0"/>
                        </a:spcAft>
                        <a:buNone/>
                      </a:pPr>
                      <a:r>
                        <a:rPr lang="en-GB"/>
                        <a:t>Standards / specs</a:t>
                      </a:r>
                      <a:endParaRPr/>
                    </a:p>
                  </a:txBody>
                  <a:tcPr marT="91425" marB="91425" marR="91425" marL="91425"/>
                </a:tc>
                <a:tc>
                  <a:txBody>
                    <a:bodyPr/>
                    <a:lstStyle/>
                    <a:p>
                      <a:pPr indent="0" lvl="0" marL="0" rtl="0" algn="l">
                        <a:spcBef>
                          <a:spcPts val="0"/>
                        </a:spcBef>
                        <a:spcAft>
                          <a:spcPts val="0"/>
                        </a:spcAft>
                        <a:buNone/>
                      </a:pPr>
                      <a:r>
                        <a:rPr lang="en-GB"/>
                        <a:t>Guides</a:t>
                      </a:r>
                      <a:endParaRPr/>
                    </a:p>
                  </a:txBody>
                  <a:tcPr marT="91425" marB="91425" marR="91425" marL="91425"/>
                </a:tc>
                <a:tc>
                  <a:txBody>
                    <a:bodyPr/>
                    <a:lstStyle/>
                    <a:p>
                      <a:pPr indent="0" lvl="0" marL="0" rtl="0" algn="l">
                        <a:spcBef>
                          <a:spcPts val="0"/>
                        </a:spcBef>
                        <a:spcAft>
                          <a:spcPts val="0"/>
                        </a:spcAft>
                        <a:buNone/>
                      </a:pPr>
                      <a:r>
                        <a:rPr lang="en-GB"/>
                        <a:t>Open Source Software </a:t>
                      </a:r>
                      <a:endParaRPr/>
                    </a:p>
                  </a:txBody>
                  <a:tcPr marT="91425" marB="91425" marR="91425" marL="91425"/>
                </a:tc>
              </a:tr>
              <a:tr h="628350">
                <a:tc rowSpan="4">
                  <a:txBody>
                    <a:bodyPr/>
                    <a:lstStyle/>
                    <a:p>
                      <a:pPr indent="0" lvl="0" marL="0" rtl="0" algn="l">
                        <a:lnSpc>
                          <a:spcPct val="100000"/>
                        </a:lnSpc>
                        <a:spcBef>
                          <a:spcPts val="1000"/>
                        </a:spcBef>
                        <a:spcAft>
                          <a:spcPts val="0"/>
                        </a:spcAft>
                        <a:buNone/>
                      </a:pPr>
                      <a:r>
                        <a:rPr lang="en-GB"/>
                        <a:t>LDaCA Data Portal (oni)</a:t>
                      </a:r>
                      <a:endParaRPr/>
                    </a:p>
                    <a:p>
                      <a:pPr indent="0" lvl="0" marL="0" rtl="0" algn="l">
                        <a:lnSpc>
                          <a:spcPct val="100000"/>
                        </a:lnSpc>
                        <a:spcBef>
                          <a:spcPts val="1000"/>
                        </a:spcBef>
                        <a:spcAft>
                          <a:spcPts val="0"/>
                        </a:spcAft>
                        <a:buNone/>
                      </a:pPr>
                      <a:r>
                        <a:rPr lang="en-GB"/>
                        <a:t>PARADISEC Catalogue</a:t>
                      </a:r>
                      <a:endParaRPr/>
                    </a:p>
                    <a:p>
                      <a:pPr indent="0" lvl="0" marL="0" rtl="0" algn="l">
                        <a:lnSpc>
                          <a:spcPct val="100000"/>
                        </a:lnSpc>
                        <a:spcBef>
                          <a:spcPts val="1000"/>
                        </a:spcBef>
                        <a:spcAft>
                          <a:spcPts val="0"/>
                        </a:spcAft>
                        <a:buNone/>
                      </a:pPr>
                      <a:r>
                        <a:rPr lang="en-GB"/>
                        <a:t>Nyingarn Workspace</a:t>
                      </a:r>
                      <a:endParaRPr/>
                    </a:p>
                    <a:p>
                      <a:pPr indent="0" lvl="0" marL="0" rtl="0" algn="l">
                        <a:lnSpc>
                          <a:spcPct val="100000"/>
                        </a:lnSpc>
                        <a:spcBef>
                          <a:spcPts val="1000"/>
                        </a:spcBef>
                        <a:spcAft>
                          <a:spcPts val="0"/>
                        </a:spcAft>
                        <a:buNone/>
                      </a:pPr>
                      <a:r>
                        <a:rPr lang="en-GB"/>
                        <a:t>RO-Crate Playground</a:t>
                      </a:r>
                      <a:endParaRPr/>
                    </a:p>
                    <a:p>
                      <a:pPr indent="0" lvl="0" marL="0" rtl="0" algn="l">
                        <a:lnSpc>
                          <a:spcPct val="100000"/>
                        </a:lnSpc>
                        <a:spcBef>
                          <a:spcPts val="1000"/>
                        </a:spcBef>
                        <a:spcAft>
                          <a:spcPts val="0"/>
                        </a:spcAft>
                        <a:buClr>
                          <a:schemeClr val="dk1"/>
                        </a:buClr>
                        <a:buSzPts val="1100"/>
                        <a:buFont typeface="Arial"/>
                        <a:buNone/>
                      </a:pPr>
                      <a:r>
                        <a:t/>
                      </a:r>
                      <a:endParaRPr/>
                    </a:p>
                    <a:p>
                      <a:pPr indent="0" lvl="0" marL="0" rtl="0" algn="l">
                        <a:lnSpc>
                          <a:spcPct val="100000"/>
                        </a:lnSpc>
                        <a:spcBef>
                          <a:spcPts val="1000"/>
                        </a:spcBef>
                        <a:spcAft>
                          <a:spcPts val="0"/>
                        </a:spcAft>
                        <a:buNone/>
                      </a:pPr>
                      <a:r>
                        <a:t/>
                      </a:r>
                      <a:endParaRPr/>
                    </a:p>
                  </a:txBody>
                  <a:tcPr marT="91425" marB="91425" marR="91425" marL="91425"/>
                </a:tc>
                <a:tc rowSpan="4">
                  <a:txBody>
                    <a:bodyPr/>
                    <a:lstStyle/>
                    <a:p>
                      <a:pPr indent="0" lvl="0" marL="0" rtl="0" algn="l">
                        <a:spcBef>
                          <a:spcPts val="1000"/>
                        </a:spcBef>
                        <a:spcAft>
                          <a:spcPts val="0"/>
                        </a:spcAft>
                        <a:buNone/>
                      </a:pPr>
                      <a:r>
                        <a:rPr lang="en-GB"/>
                        <a:t>RO-Crate specification</a:t>
                      </a:r>
                      <a:endParaRPr/>
                    </a:p>
                    <a:p>
                      <a:pPr indent="0" lvl="0" marL="0" rtl="0" algn="l">
                        <a:spcBef>
                          <a:spcPts val="1000"/>
                        </a:spcBef>
                        <a:spcAft>
                          <a:spcPts val="0"/>
                        </a:spcAft>
                        <a:buClr>
                          <a:schemeClr val="dk1"/>
                        </a:buClr>
                        <a:buSzPts val="1100"/>
                        <a:buFont typeface="Arial"/>
                        <a:buNone/>
                      </a:pPr>
                      <a:r>
                        <a:rPr lang="en-GB">
                          <a:solidFill>
                            <a:schemeClr val="dk1"/>
                          </a:solidFill>
                        </a:rPr>
                        <a:t>LDaC Schema (OLAC plus)</a:t>
                      </a:r>
                      <a:endParaRPr/>
                    </a:p>
                    <a:p>
                      <a:pPr indent="0" lvl="0" marL="0" rtl="0" algn="l">
                        <a:spcBef>
                          <a:spcPts val="1000"/>
                        </a:spcBef>
                        <a:spcAft>
                          <a:spcPts val="0"/>
                        </a:spcAft>
                        <a:buNone/>
                      </a:pPr>
                      <a:r>
                        <a:rPr lang="en-GB"/>
                        <a:t>RO-Crate Profile(s)</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0"/>
                        </a:spcBef>
                        <a:spcAft>
                          <a:spcPts val="0"/>
                        </a:spcAft>
                        <a:buNone/>
                      </a:pPr>
                      <a:r>
                        <a:t/>
                      </a:r>
                      <a:endParaRPr/>
                    </a:p>
                  </a:txBody>
                  <a:tcPr marT="91425" marB="91425" marR="91425" marL="91425"/>
                </a:tc>
                <a:tc rowSpan="4">
                  <a:txBody>
                    <a:bodyPr/>
                    <a:lstStyle/>
                    <a:p>
                      <a:pPr indent="0" lvl="0" marL="0" rtl="0" algn="l">
                        <a:spcBef>
                          <a:spcPts val="1000"/>
                        </a:spcBef>
                        <a:spcAft>
                          <a:spcPts val="0"/>
                        </a:spcAft>
                        <a:buNone/>
                      </a:pPr>
                      <a:r>
                        <a:rPr lang="en-GB"/>
                        <a:t>P</a:t>
                      </a:r>
                      <a:r>
                        <a:rPr lang="en-GB"/>
                        <a:t>ersistent ID policy</a:t>
                      </a:r>
                      <a:endParaRPr/>
                    </a:p>
                    <a:p>
                      <a:pPr indent="0" lvl="0" marL="0" rtl="0" algn="l">
                        <a:spcBef>
                          <a:spcPts val="1000"/>
                        </a:spcBef>
                        <a:spcAft>
                          <a:spcPts val="0"/>
                        </a:spcAft>
                        <a:buNone/>
                      </a:pPr>
                      <a:r>
                        <a:rPr lang="en-GB"/>
                        <a:t>Collections Strategy</a:t>
                      </a:r>
                      <a:endParaRPr/>
                    </a:p>
                    <a:p>
                      <a:pPr indent="0" lvl="0" marL="0" rtl="0" algn="l">
                        <a:spcBef>
                          <a:spcPts val="1000"/>
                        </a:spcBef>
                        <a:spcAft>
                          <a:spcPts val="0"/>
                        </a:spcAft>
                        <a:buNone/>
                      </a:pPr>
                      <a:r>
                        <a:rPr lang="en-GB"/>
                        <a:t>Data onboarding materials (Crate-O, spr</a:t>
                      </a:r>
                      <a:r>
                        <a:rPr lang="en-GB"/>
                        <a:t>eadsheets)</a:t>
                      </a:r>
                      <a:endParaRPr/>
                    </a:p>
                  </a:txBody>
                  <a:tcPr marT="91425" marB="91425" marR="91425" marL="91425"/>
                </a:tc>
                <a:tc rowSpan="4">
                  <a:txBody>
                    <a:bodyPr/>
                    <a:lstStyle/>
                    <a:p>
                      <a:pPr indent="0" lvl="0" marL="0" rtl="0" algn="l">
                        <a:spcBef>
                          <a:spcPts val="1000"/>
                        </a:spcBef>
                        <a:spcAft>
                          <a:spcPts val="0"/>
                        </a:spcAft>
                        <a:buNone/>
                      </a:pPr>
                      <a:r>
                        <a:rPr lang="en-GB"/>
                        <a:t>Oni repo &amp; portal </a:t>
                      </a:r>
                      <a:endParaRPr/>
                    </a:p>
                    <a:p>
                      <a:pPr indent="0" lvl="0" marL="0" rtl="0" algn="l">
                        <a:spcBef>
                          <a:spcPts val="1000"/>
                        </a:spcBef>
                        <a:spcAft>
                          <a:spcPts val="0"/>
                        </a:spcAft>
                        <a:buNone/>
                      </a:pPr>
                      <a:r>
                        <a:rPr lang="en-GB"/>
                        <a:t>Corpus tools (~30)</a:t>
                      </a:r>
                      <a:endParaRPr/>
                    </a:p>
                    <a:p>
                      <a:pPr indent="0" lvl="0" marL="0" rtl="0" algn="l">
                        <a:spcBef>
                          <a:spcPts val="1000"/>
                        </a:spcBef>
                        <a:spcAft>
                          <a:spcPts val="0"/>
                        </a:spcAft>
                        <a:buNone/>
                      </a:pPr>
                      <a:r>
                        <a:rPr lang="en-GB"/>
                        <a:t>RO-Crate libraries and tooling for editing and displaying crates and maintaining Schemas </a:t>
                      </a:r>
                      <a:endParaRPr/>
                    </a:p>
                  </a:txBody>
                  <a:tcPr marT="91425" marB="91425" marR="91425" marL="91425"/>
                </a:tc>
              </a:tr>
              <a:tr h="628350">
                <a:tc vMerge="1"/>
                <a:tc vMerge="1"/>
                <a:tc vMerge="1"/>
                <a:tc vMerge="1"/>
              </a:tr>
              <a:tr h="628350">
                <a:tc vMerge="1"/>
                <a:tc vMerge="1"/>
                <a:tc vMerge="1"/>
                <a:tc vMerge="1"/>
              </a:tr>
              <a:tr h="628350">
                <a:tc vMerge="1"/>
                <a:tc vMerge="1"/>
                <a:tc vMerge="1"/>
                <a:tc vMerge="1"/>
              </a:tr>
              <a:tr h="628350">
                <a:tc>
                  <a:txBody>
                    <a:bodyPr/>
                    <a:lstStyle/>
                    <a:p>
                      <a:pPr indent="0" lvl="0" marL="0" rtl="0" algn="l">
                        <a:spcBef>
                          <a:spcPts val="1000"/>
                        </a:spcBef>
                        <a:spcAft>
                          <a:spcPts val="0"/>
                        </a:spcAft>
                        <a:buClr>
                          <a:schemeClr val="dk1"/>
                        </a:buClr>
                        <a:buSzPts val="1100"/>
                        <a:buFont typeface="Arial"/>
                        <a:buNone/>
                      </a:pPr>
                      <a:r>
                        <a:rPr lang="en-GB">
                          <a:solidFill>
                            <a:schemeClr val="dk1"/>
                          </a:solidFill>
                        </a:rPr>
                        <a:t>CADRE (authorization)       –  ANU</a:t>
                      </a:r>
                      <a:endParaRPr/>
                    </a:p>
                  </a:txBody>
                  <a:tcPr marT="91425" marB="91425" marR="91425" marL="91425"/>
                </a:tc>
                <a:tc>
                  <a:txBody>
                    <a:bodyPr/>
                    <a:lstStyle/>
                    <a:p>
                      <a:pPr indent="0" lvl="0" marL="0" rtl="0" algn="l">
                        <a:spcBef>
                          <a:spcPts val="1000"/>
                        </a:spcBef>
                        <a:spcAft>
                          <a:spcPts val="0"/>
                        </a:spcAft>
                        <a:buClr>
                          <a:schemeClr val="dk1"/>
                        </a:buClr>
                        <a:buSzPts val="1100"/>
                        <a:buFont typeface="Arial"/>
                        <a:buNone/>
                      </a:pPr>
                      <a:r>
                        <a:rPr lang="en-GB">
                          <a:solidFill>
                            <a:schemeClr val="dk1"/>
                          </a:solidFill>
                        </a:rPr>
                        <a:t>CLDF </a:t>
                      </a:r>
                      <a:endParaRPr/>
                    </a:p>
                  </a:txBody>
                  <a:tcPr marT="91425" marB="91425" marR="91425" marL="91425"/>
                </a:tc>
                <a:tc>
                  <a:txBody>
                    <a:bodyPr/>
                    <a:lstStyle/>
                    <a:p>
                      <a:pPr indent="0" lvl="0" marL="0" rtl="0" algn="l">
                        <a:spcBef>
                          <a:spcPts val="1000"/>
                        </a:spcBef>
                        <a:spcAft>
                          <a:spcPts val="0"/>
                        </a:spcAft>
                        <a:buNone/>
                      </a:pPr>
                      <a:r>
                        <a:t/>
                      </a:r>
                      <a:endParaRPr/>
                    </a:p>
                  </a:txBody>
                  <a:tcPr marT="91425" marB="91425" marR="91425" marL="91425"/>
                </a:tc>
                <a:tc>
                  <a:txBody>
                    <a:bodyPr/>
                    <a:lstStyle/>
                    <a:p>
                      <a:pPr indent="0" lvl="0" marL="0" rtl="0" algn="l">
                        <a:spcBef>
                          <a:spcPts val="1000"/>
                        </a:spcBef>
                        <a:spcAft>
                          <a:spcPts val="0"/>
                        </a:spcAft>
                        <a:buNone/>
                      </a:pPr>
                      <a:r>
                        <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Tools</a:t>
            </a:r>
            <a:endParaRPr/>
          </a:p>
        </p:txBody>
      </p:sp>
      <p:pic>
        <p:nvPicPr>
          <p:cNvPr id="235" name="Google Shape;235;p27" title="Screenshot 2025-08-19 at 2.50.43 PM.png"/>
          <p:cNvPicPr preferRelativeResize="0"/>
          <p:nvPr/>
        </p:nvPicPr>
        <p:blipFill>
          <a:blip r:embed="rId3">
            <a:alphaModFix/>
          </a:blip>
          <a:stretch>
            <a:fillRect/>
          </a:stretch>
        </p:blipFill>
        <p:spPr>
          <a:xfrm>
            <a:off x="2481775" y="543700"/>
            <a:ext cx="6662226" cy="45997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 of standards/specs used in multiple sites</a:t>
            </a:r>
            <a:endParaRPr/>
          </a:p>
        </p:txBody>
      </p:sp>
      <p:pic>
        <p:nvPicPr>
          <p:cNvPr id="241" name="Google Shape;241;p28" title="schema diagram.png"/>
          <p:cNvPicPr preferRelativeResize="0"/>
          <p:nvPr/>
        </p:nvPicPr>
        <p:blipFill>
          <a:blip r:embed="rId3">
            <a:alphaModFix/>
          </a:blip>
          <a:stretch>
            <a:fillRect/>
          </a:stretch>
        </p:blipFill>
        <p:spPr>
          <a:xfrm>
            <a:off x="1085725" y="1170125"/>
            <a:ext cx="6393262" cy="382097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29"/>
          <p:cNvPicPr preferRelativeResize="0"/>
          <p:nvPr/>
        </p:nvPicPr>
        <p:blipFill>
          <a:blip r:embed="rId3">
            <a:alphaModFix/>
          </a:blip>
          <a:stretch>
            <a:fillRect/>
          </a:stretch>
        </p:blipFill>
        <p:spPr>
          <a:xfrm>
            <a:off x="1894100" y="77450"/>
            <a:ext cx="4805657" cy="48387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0" name="Shape 250"/>
        <p:cNvGrpSpPr/>
        <p:nvPr/>
      </p:nvGrpSpPr>
      <p:grpSpPr>
        <a:xfrm>
          <a:off x="0" y="0"/>
          <a:ext cx="0" cy="0"/>
          <a:chOff x="0" y="0"/>
          <a:chExt cx="0" cy="0"/>
        </a:xfrm>
      </p:grpSpPr>
      <p:sp>
        <p:nvSpPr>
          <p:cNvPr id="251" name="Google Shape;251;p30"/>
          <p:cNvSpPr txBox="1"/>
          <p:nvPr>
            <p:ph type="title"/>
          </p:nvPr>
        </p:nvSpPr>
        <p:spPr>
          <a:xfrm>
            <a:off x="311700" y="445025"/>
            <a:ext cx="3293700" cy="84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to Store RO-Crates</a:t>
            </a:r>
            <a:endParaRPr/>
          </a:p>
        </p:txBody>
      </p:sp>
      <p:sp>
        <p:nvSpPr>
          <p:cNvPr id="252" name="Google Shape;252;p30"/>
          <p:cNvSpPr txBox="1"/>
          <p:nvPr>
            <p:ph idx="1" type="body"/>
          </p:nvPr>
        </p:nvSpPr>
        <p:spPr>
          <a:xfrm>
            <a:off x="311700" y="1739699"/>
            <a:ext cx="2685900" cy="295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t>Storage Objects in a PILARS repository can be linked ro-crates to a collection.</a:t>
            </a:r>
            <a:endParaRPr sz="1200"/>
          </a:p>
          <a:p>
            <a:pPr indent="0" lvl="0" marL="0" rtl="0" algn="l">
              <a:spcBef>
                <a:spcPts val="1200"/>
              </a:spcBef>
              <a:spcAft>
                <a:spcPts val="1200"/>
              </a:spcAft>
              <a:buNone/>
            </a:pPr>
            <a:r>
              <a:rPr lang="en-GB" sz="1200"/>
              <a:t>In this case a storage object is an ROCrate that is a subset of larger collection</a:t>
            </a:r>
            <a:endParaRPr sz="1200"/>
          </a:p>
        </p:txBody>
      </p:sp>
      <p:pic>
        <p:nvPicPr>
          <p:cNvPr id="253" name="Google Shape;253;p30"/>
          <p:cNvPicPr preferRelativeResize="0"/>
          <p:nvPr/>
        </p:nvPicPr>
        <p:blipFill>
          <a:blip r:embed="rId3">
            <a:alphaModFix/>
          </a:blip>
          <a:stretch>
            <a:fillRect/>
          </a:stretch>
        </p:blipFill>
        <p:spPr>
          <a:xfrm>
            <a:off x="2997601" y="391625"/>
            <a:ext cx="6028600" cy="44777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31"/>
          <p:cNvSpPr txBox="1"/>
          <p:nvPr>
            <p:ph type="title"/>
          </p:nvPr>
        </p:nvSpPr>
        <p:spPr>
          <a:xfrm>
            <a:off x="311700" y="445025"/>
            <a:ext cx="4201500" cy="572700"/>
          </a:xfrm>
          <a:prstGeom prst="rect">
            <a:avLst/>
          </a:prstGeom>
        </p:spPr>
        <p:txBody>
          <a:bodyPr anchorCtr="0" anchor="t" bIns="91425" lIns="91425" spcFirstLastPara="1" rIns="91425" wrap="square" tIns="91425">
            <a:normAutofit/>
          </a:bodyPr>
          <a:lstStyle/>
          <a:p>
            <a:pPr indent="0" lvl="0" marL="0" rtl="0" algn="l">
              <a:lnSpc>
                <a:spcPct val="105000"/>
              </a:lnSpc>
              <a:spcBef>
                <a:spcPts val="1800"/>
              </a:spcBef>
              <a:spcAft>
                <a:spcPts val="400"/>
              </a:spcAft>
              <a:buNone/>
            </a:pPr>
            <a:r>
              <a:rPr b="1" lang="en-GB" sz="1452"/>
              <a:t>Portland Common Data Model (PCDM)</a:t>
            </a:r>
            <a:endParaRPr/>
          </a:p>
        </p:txBody>
      </p:sp>
      <p:sp>
        <p:nvSpPr>
          <p:cNvPr id="259" name="Google Shape;259;p31"/>
          <p:cNvSpPr txBox="1"/>
          <p:nvPr>
            <p:ph idx="1" type="body"/>
          </p:nvPr>
        </p:nvSpPr>
        <p:spPr>
          <a:xfrm>
            <a:off x="311700" y="1152475"/>
            <a:ext cx="4756200" cy="37893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Clr>
                <a:schemeClr val="dk1"/>
              </a:buClr>
              <a:buSzPts val="358"/>
              <a:buFont typeface="Arial"/>
              <a:buNone/>
            </a:pPr>
            <a:r>
              <a:rPr b="1" lang="en-GB" sz="1257">
                <a:solidFill>
                  <a:schemeClr val="dk1"/>
                </a:solidFill>
              </a:rPr>
              <a:t>What it is</a:t>
            </a:r>
            <a:endParaRPr b="1" sz="1257">
              <a:solidFill>
                <a:schemeClr val="dk1"/>
              </a:solidFill>
            </a:endParaRPr>
          </a:p>
          <a:p>
            <a:pPr indent="-308451" lvl="0" marL="457200" rtl="0" algn="l">
              <a:lnSpc>
                <a:spcPct val="105000"/>
              </a:lnSpc>
              <a:spcBef>
                <a:spcPts val="1200"/>
              </a:spcBef>
              <a:spcAft>
                <a:spcPts val="0"/>
              </a:spcAft>
              <a:buClr>
                <a:schemeClr val="dk1"/>
              </a:buClr>
              <a:buSzPts val="1258"/>
              <a:buChar char="●"/>
            </a:pPr>
            <a:r>
              <a:rPr lang="en-GB" sz="1257">
                <a:solidFill>
                  <a:schemeClr val="dk1"/>
                </a:solidFill>
              </a:rPr>
              <a:t>A flexible, RDF-based data model for digital repositories</a:t>
            </a:r>
            <a:endParaRPr sz="1257">
              <a:solidFill>
                <a:schemeClr val="dk1"/>
              </a:solidFill>
            </a:endParaRPr>
          </a:p>
          <a:p>
            <a:pPr indent="-308451" lvl="0" marL="457200" rtl="0" algn="l">
              <a:lnSpc>
                <a:spcPct val="105000"/>
              </a:lnSpc>
              <a:spcBef>
                <a:spcPts val="0"/>
              </a:spcBef>
              <a:spcAft>
                <a:spcPts val="0"/>
              </a:spcAft>
              <a:buClr>
                <a:schemeClr val="dk1"/>
              </a:buClr>
              <a:buSzPts val="1258"/>
              <a:buChar char="●"/>
            </a:pPr>
            <a:r>
              <a:rPr lang="en-GB" sz="1257">
                <a:solidFill>
                  <a:schemeClr val="dk1"/>
                </a:solidFill>
              </a:rPr>
              <a:t>Standardizes how to describe and relate digital objects</a:t>
            </a:r>
            <a:endParaRPr sz="1257">
              <a:solidFill>
                <a:schemeClr val="dk1"/>
              </a:solidFill>
            </a:endParaRPr>
          </a:p>
          <a:p>
            <a:pPr indent="0" lvl="0" marL="0" rtl="0" algn="l">
              <a:lnSpc>
                <a:spcPct val="105000"/>
              </a:lnSpc>
              <a:spcBef>
                <a:spcPts val="1200"/>
              </a:spcBef>
              <a:spcAft>
                <a:spcPts val="0"/>
              </a:spcAft>
              <a:buClr>
                <a:schemeClr val="dk1"/>
              </a:buClr>
              <a:buSzPts val="358"/>
              <a:buFont typeface="Arial"/>
              <a:buNone/>
            </a:pPr>
            <a:r>
              <a:rPr b="1" lang="en-GB" sz="1257">
                <a:solidFill>
                  <a:schemeClr val="dk1"/>
                </a:solidFill>
              </a:rPr>
              <a:t>Core Components</a:t>
            </a:r>
            <a:endParaRPr b="1" sz="1257">
              <a:solidFill>
                <a:schemeClr val="dk1"/>
              </a:solidFill>
            </a:endParaRPr>
          </a:p>
          <a:p>
            <a:pPr indent="-308451" lvl="0" marL="457200" rtl="0" algn="l">
              <a:lnSpc>
                <a:spcPct val="105000"/>
              </a:lnSpc>
              <a:spcBef>
                <a:spcPts val="1200"/>
              </a:spcBef>
              <a:spcAft>
                <a:spcPts val="0"/>
              </a:spcAft>
              <a:buClr>
                <a:schemeClr val="dk1"/>
              </a:buClr>
              <a:buSzPts val="1258"/>
              <a:buChar char="●"/>
            </a:pPr>
            <a:r>
              <a:rPr b="1" lang="en-GB" sz="1257">
                <a:solidFill>
                  <a:schemeClr val="dk1"/>
                </a:solidFill>
              </a:rPr>
              <a:t>Collection</a:t>
            </a:r>
            <a:r>
              <a:rPr lang="en-GB" sz="1257">
                <a:solidFill>
                  <a:schemeClr val="dk1"/>
                </a:solidFill>
              </a:rPr>
              <a:t> → groups of objects</a:t>
            </a:r>
            <a:endParaRPr sz="1257">
              <a:solidFill>
                <a:schemeClr val="dk1"/>
              </a:solidFill>
            </a:endParaRPr>
          </a:p>
          <a:p>
            <a:pPr indent="-308451" lvl="0" marL="457200" rtl="0" algn="l">
              <a:lnSpc>
                <a:spcPct val="105000"/>
              </a:lnSpc>
              <a:spcBef>
                <a:spcPts val="0"/>
              </a:spcBef>
              <a:spcAft>
                <a:spcPts val="0"/>
              </a:spcAft>
              <a:buClr>
                <a:schemeClr val="dk1"/>
              </a:buClr>
              <a:buSzPts val="1258"/>
              <a:buChar char="●"/>
            </a:pPr>
            <a:r>
              <a:rPr b="1" lang="en-GB" sz="1257">
                <a:solidFill>
                  <a:schemeClr val="dk1"/>
                </a:solidFill>
              </a:rPr>
              <a:t>Object</a:t>
            </a:r>
            <a:r>
              <a:rPr lang="en-GB" sz="1257">
                <a:solidFill>
                  <a:schemeClr val="dk1"/>
                </a:solidFill>
              </a:rPr>
              <a:t> → digital item (e.g., book, photo, dataset)</a:t>
            </a:r>
            <a:endParaRPr sz="1257">
              <a:solidFill>
                <a:schemeClr val="dk1"/>
              </a:solidFill>
            </a:endParaRPr>
          </a:p>
          <a:p>
            <a:pPr indent="-308451" lvl="0" marL="457200" rtl="0" algn="l">
              <a:lnSpc>
                <a:spcPct val="105000"/>
              </a:lnSpc>
              <a:spcBef>
                <a:spcPts val="0"/>
              </a:spcBef>
              <a:spcAft>
                <a:spcPts val="0"/>
              </a:spcAft>
              <a:buClr>
                <a:schemeClr val="dk1"/>
              </a:buClr>
              <a:buSzPts val="1258"/>
              <a:buChar char="●"/>
            </a:pPr>
            <a:r>
              <a:rPr b="1" lang="en-GB" sz="1257">
                <a:solidFill>
                  <a:schemeClr val="dk1"/>
                </a:solidFill>
              </a:rPr>
              <a:t>File</a:t>
            </a:r>
            <a:r>
              <a:rPr lang="en-GB" sz="1257">
                <a:solidFill>
                  <a:schemeClr val="dk1"/>
                </a:solidFill>
              </a:rPr>
              <a:t> → specific file representation (e.g., TIFF, PDF, MP3)</a:t>
            </a:r>
            <a:endParaRPr sz="1257">
              <a:solidFill>
                <a:schemeClr val="dk1"/>
              </a:solidFill>
            </a:endParaRPr>
          </a:p>
          <a:p>
            <a:pPr indent="0" lvl="0" marL="0" rtl="0" algn="l">
              <a:lnSpc>
                <a:spcPct val="105000"/>
              </a:lnSpc>
              <a:spcBef>
                <a:spcPts val="1200"/>
              </a:spcBef>
              <a:spcAft>
                <a:spcPts val="0"/>
              </a:spcAft>
              <a:buClr>
                <a:schemeClr val="dk1"/>
              </a:buClr>
              <a:buSzPts val="358"/>
              <a:buFont typeface="Arial"/>
              <a:buNone/>
            </a:pPr>
            <a:r>
              <a:rPr b="1" lang="en-GB" sz="1257">
                <a:solidFill>
                  <a:schemeClr val="dk1"/>
                </a:solidFill>
              </a:rPr>
              <a:t>Key Features</a:t>
            </a:r>
            <a:endParaRPr b="1" sz="1257">
              <a:solidFill>
                <a:schemeClr val="dk1"/>
              </a:solidFill>
            </a:endParaRPr>
          </a:p>
          <a:p>
            <a:pPr indent="-308451" lvl="0" marL="457200" rtl="0" algn="l">
              <a:lnSpc>
                <a:spcPct val="105000"/>
              </a:lnSpc>
              <a:spcBef>
                <a:spcPts val="1200"/>
              </a:spcBef>
              <a:spcAft>
                <a:spcPts val="0"/>
              </a:spcAft>
              <a:buClr>
                <a:schemeClr val="dk1"/>
              </a:buClr>
              <a:buSzPts val="1258"/>
              <a:buChar char="●"/>
            </a:pPr>
            <a:r>
              <a:rPr lang="en-GB" sz="1257">
                <a:solidFill>
                  <a:schemeClr val="dk1"/>
                </a:solidFill>
              </a:rPr>
              <a:t>RDF/Linked Data foundations</a:t>
            </a:r>
            <a:endParaRPr sz="1257">
              <a:solidFill>
                <a:schemeClr val="dk1"/>
              </a:solidFill>
            </a:endParaRPr>
          </a:p>
          <a:p>
            <a:pPr indent="-308451" lvl="0" marL="457200" rtl="0" algn="l">
              <a:lnSpc>
                <a:spcPct val="105000"/>
              </a:lnSpc>
              <a:spcBef>
                <a:spcPts val="0"/>
              </a:spcBef>
              <a:spcAft>
                <a:spcPts val="0"/>
              </a:spcAft>
              <a:buClr>
                <a:schemeClr val="dk1"/>
              </a:buClr>
              <a:buSzPts val="1258"/>
              <a:buChar char="●"/>
            </a:pPr>
            <a:r>
              <a:rPr lang="en-GB" sz="1257">
                <a:solidFill>
                  <a:schemeClr val="dk1"/>
                </a:solidFill>
              </a:rPr>
              <a:t>Modular &amp; extensible</a:t>
            </a:r>
            <a:endParaRPr sz="1257">
              <a:solidFill>
                <a:schemeClr val="dk1"/>
              </a:solidFill>
            </a:endParaRPr>
          </a:p>
          <a:p>
            <a:pPr indent="-308451" lvl="0" marL="457200" rtl="0" algn="l">
              <a:lnSpc>
                <a:spcPct val="105000"/>
              </a:lnSpc>
              <a:spcBef>
                <a:spcPts val="0"/>
              </a:spcBef>
              <a:spcAft>
                <a:spcPts val="0"/>
              </a:spcAft>
              <a:buClr>
                <a:schemeClr val="dk1"/>
              </a:buClr>
              <a:buSzPts val="1258"/>
              <a:buChar char="●"/>
            </a:pPr>
            <a:r>
              <a:rPr lang="en-GB" sz="1257">
                <a:solidFill>
                  <a:schemeClr val="dk1"/>
                </a:solidFill>
              </a:rPr>
              <a:t>Supports complex structures (e.g., book → chapters → pages)</a:t>
            </a:r>
            <a:endParaRPr sz="1257">
              <a:solidFill>
                <a:schemeClr val="dk1"/>
              </a:solidFill>
            </a:endParaRPr>
          </a:p>
          <a:p>
            <a:pPr indent="0" lvl="0" marL="0" rtl="0" algn="l">
              <a:lnSpc>
                <a:spcPct val="105000"/>
              </a:lnSpc>
              <a:spcBef>
                <a:spcPts val="1200"/>
              </a:spcBef>
              <a:spcAft>
                <a:spcPts val="1200"/>
              </a:spcAft>
              <a:buSzPts val="358"/>
              <a:buNone/>
            </a:pPr>
            <a:r>
              <a:t/>
            </a:r>
            <a:endParaRPr sz="1485"/>
          </a:p>
        </p:txBody>
      </p:sp>
      <p:sp>
        <p:nvSpPr>
          <p:cNvPr id="260" name="Google Shape;260;p31"/>
          <p:cNvSpPr txBox="1"/>
          <p:nvPr/>
        </p:nvSpPr>
        <p:spPr>
          <a:xfrm>
            <a:off x="5584725" y="1235450"/>
            <a:ext cx="3202200" cy="32637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1200"/>
              </a:spcBef>
              <a:spcAft>
                <a:spcPts val="0"/>
              </a:spcAft>
              <a:buClr>
                <a:schemeClr val="dk1"/>
              </a:buClr>
              <a:buSzPts val="358"/>
              <a:buFont typeface="Arial"/>
              <a:buNone/>
            </a:pPr>
            <a:r>
              <a:rPr b="1" lang="en-GB" sz="1257">
                <a:solidFill>
                  <a:schemeClr val="dk1"/>
                </a:solidFill>
              </a:rPr>
              <a:t>Example</a:t>
            </a:r>
            <a:endParaRPr b="1" sz="1257">
              <a:solidFill>
                <a:schemeClr val="dk1"/>
              </a:solidFill>
            </a:endParaRPr>
          </a:p>
          <a:p>
            <a:pPr indent="0" lvl="0" marL="0" rtl="0" algn="l">
              <a:lnSpc>
                <a:spcPct val="105000"/>
              </a:lnSpc>
              <a:spcBef>
                <a:spcPts val="1200"/>
              </a:spcBef>
              <a:spcAft>
                <a:spcPts val="0"/>
              </a:spcAft>
              <a:buClr>
                <a:schemeClr val="dk1"/>
              </a:buClr>
              <a:buSzPts val="358"/>
              <a:buFont typeface="Arial"/>
              <a:buNone/>
            </a:pPr>
            <a:r>
              <a:rPr lang="en-GB" sz="1257">
                <a:solidFill>
                  <a:schemeClr val="dk1"/>
                </a:solidFill>
              </a:rPr>
              <a:t>📚 </a:t>
            </a:r>
            <a:r>
              <a:rPr i="1" lang="en-GB" sz="1257">
                <a:solidFill>
                  <a:schemeClr val="dk1"/>
                </a:solidFill>
              </a:rPr>
              <a:t>Digital Book</a:t>
            </a:r>
            <a:endParaRPr i="1" sz="1257">
              <a:solidFill>
                <a:schemeClr val="dk1"/>
              </a:solidFill>
            </a:endParaRPr>
          </a:p>
          <a:p>
            <a:pPr indent="-308451" lvl="0" marL="457200" rtl="0" algn="l">
              <a:lnSpc>
                <a:spcPct val="105000"/>
              </a:lnSpc>
              <a:spcBef>
                <a:spcPts val="1200"/>
              </a:spcBef>
              <a:spcAft>
                <a:spcPts val="0"/>
              </a:spcAft>
              <a:buClr>
                <a:schemeClr val="dk1"/>
              </a:buClr>
              <a:buSzPts val="1258"/>
              <a:buChar char="●"/>
            </a:pPr>
            <a:r>
              <a:rPr lang="en-GB" sz="1257">
                <a:solidFill>
                  <a:schemeClr val="dk1"/>
                </a:solidFill>
              </a:rPr>
              <a:t>Object = the book</a:t>
            </a:r>
            <a:endParaRPr sz="1257">
              <a:solidFill>
                <a:schemeClr val="dk1"/>
              </a:solidFill>
            </a:endParaRPr>
          </a:p>
          <a:p>
            <a:pPr indent="-308451" lvl="0" marL="457200" rtl="0" algn="l">
              <a:lnSpc>
                <a:spcPct val="105000"/>
              </a:lnSpc>
              <a:spcBef>
                <a:spcPts val="0"/>
              </a:spcBef>
              <a:spcAft>
                <a:spcPts val="0"/>
              </a:spcAft>
              <a:buClr>
                <a:schemeClr val="dk1"/>
              </a:buClr>
              <a:buSzPts val="1258"/>
              <a:buChar char="●"/>
            </a:pPr>
            <a:r>
              <a:rPr lang="en-GB" sz="1257">
                <a:solidFill>
                  <a:schemeClr val="dk1"/>
                </a:solidFill>
              </a:rPr>
              <a:t>Files = PDF, cover image, EPUB</a:t>
            </a:r>
            <a:endParaRPr sz="1257">
              <a:solidFill>
                <a:schemeClr val="dk1"/>
              </a:solidFill>
            </a:endParaRPr>
          </a:p>
          <a:p>
            <a:pPr indent="-308451" lvl="0" marL="457200" rtl="0" algn="l">
              <a:lnSpc>
                <a:spcPct val="105000"/>
              </a:lnSpc>
              <a:spcBef>
                <a:spcPts val="0"/>
              </a:spcBef>
              <a:spcAft>
                <a:spcPts val="0"/>
              </a:spcAft>
              <a:buClr>
                <a:schemeClr val="dk1"/>
              </a:buClr>
              <a:buSzPts val="1258"/>
              <a:buChar char="●"/>
            </a:pPr>
            <a:r>
              <a:rPr lang="en-GB" sz="1257">
                <a:solidFill>
                  <a:schemeClr val="dk1"/>
                </a:solidFill>
              </a:rPr>
              <a:t>Nested Objects = chapters</a:t>
            </a:r>
            <a:endParaRPr sz="1257">
              <a:solidFill>
                <a:schemeClr val="dk1"/>
              </a:solidFill>
            </a:endParaRPr>
          </a:p>
          <a:p>
            <a:pPr indent="0" lvl="0" marL="0" rtl="0" algn="l">
              <a:lnSpc>
                <a:spcPct val="105000"/>
              </a:lnSpc>
              <a:spcBef>
                <a:spcPts val="1200"/>
              </a:spcBef>
              <a:spcAft>
                <a:spcPts val="0"/>
              </a:spcAft>
              <a:buClr>
                <a:schemeClr val="dk1"/>
              </a:buClr>
              <a:buSzPts val="358"/>
              <a:buFont typeface="Arial"/>
              <a:buNone/>
            </a:pPr>
            <a:r>
              <a:rPr b="1" lang="en-GB" sz="1257">
                <a:solidFill>
                  <a:schemeClr val="dk1"/>
                </a:solidFill>
              </a:rPr>
              <a:t>Who Uses It</a:t>
            </a:r>
            <a:endParaRPr b="1" sz="1257">
              <a:solidFill>
                <a:schemeClr val="dk1"/>
              </a:solidFill>
            </a:endParaRPr>
          </a:p>
          <a:p>
            <a:pPr indent="-308451" lvl="0" marL="457200" rtl="0" algn="l">
              <a:lnSpc>
                <a:spcPct val="105000"/>
              </a:lnSpc>
              <a:spcBef>
                <a:spcPts val="1200"/>
              </a:spcBef>
              <a:spcAft>
                <a:spcPts val="0"/>
              </a:spcAft>
              <a:buClr>
                <a:schemeClr val="dk1"/>
              </a:buClr>
              <a:buSzPts val="1258"/>
              <a:buChar char="●"/>
            </a:pPr>
            <a:r>
              <a:rPr lang="en-GB" sz="1257">
                <a:solidFill>
                  <a:schemeClr val="dk1"/>
                </a:solidFill>
              </a:rPr>
              <a:t>Fedora repository software</a:t>
            </a:r>
            <a:endParaRPr sz="1257">
              <a:solidFill>
                <a:schemeClr val="dk1"/>
              </a:solidFill>
            </a:endParaRPr>
          </a:p>
          <a:p>
            <a:pPr indent="-308451" lvl="0" marL="457200" rtl="0" algn="l">
              <a:lnSpc>
                <a:spcPct val="105000"/>
              </a:lnSpc>
              <a:spcBef>
                <a:spcPts val="0"/>
              </a:spcBef>
              <a:spcAft>
                <a:spcPts val="0"/>
              </a:spcAft>
              <a:buClr>
                <a:schemeClr val="dk1"/>
              </a:buClr>
              <a:buSzPts val="1258"/>
              <a:buChar char="●"/>
            </a:pPr>
            <a:r>
              <a:rPr lang="en-GB" sz="1257">
                <a:solidFill>
                  <a:schemeClr val="dk1"/>
                </a:solidFill>
              </a:rPr>
              <a:t>Samvera (Hydra) ecosystem</a:t>
            </a:r>
            <a:endParaRPr sz="1257">
              <a:solidFill>
                <a:schemeClr val="dk1"/>
              </a:solidFill>
            </a:endParaRPr>
          </a:p>
          <a:p>
            <a:pPr indent="-308451" lvl="0" marL="457200" rtl="0" algn="l">
              <a:lnSpc>
                <a:spcPct val="105000"/>
              </a:lnSpc>
              <a:spcBef>
                <a:spcPts val="0"/>
              </a:spcBef>
              <a:spcAft>
                <a:spcPts val="0"/>
              </a:spcAft>
              <a:buClr>
                <a:schemeClr val="dk1"/>
              </a:buClr>
              <a:buSzPts val="1258"/>
              <a:buChar char="●"/>
            </a:pPr>
            <a:r>
              <a:rPr lang="en-GB" sz="1257">
                <a:solidFill>
                  <a:schemeClr val="dk1"/>
                </a:solidFill>
              </a:rPr>
              <a:t>Institutions managing digital collections</a:t>
            </a:r>
            <a:endParaRPr sz="1257">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a:t>
            </a:r>
            <a:endParaRPr/>
          </a:p>
        </p:txBody>
      </p:sp>
      <p:pic>
        <p:nvPicPr>
          <p:cNvPr id="266" name="Google Shape;266;p32"/>
          <p:cNvPicPr preferRelativeResize="0"/>
          <p:nvPr/>
        </p:nvPicPr>
        <p:blipFill>
          <a:blip r:embed="rId3">
            <a:alphaModFix/>
          </a:blip>
          <a:stretch>
            <a:fillRect/>
          </a:stretch>
        </p:blipFill>
        <p:spPr>
          <a:xfrm>
            <a:off x="0" y="342532"/>
            <a:ext cx="9143999" cy="445843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