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oboto Mon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Mono-bold.fntdata"/><Relationship Id="rId27" Type="http://schemas.openxmlformats.org/officeDocument/2006/relationships/font" Target="fonts/RobotoMon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Roboto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hema.org" TargetMode="External"/><Relationship Id="rId3" Type="http://schemas.openxmlformats.org/officeDocument/2006/relationships/hyperlink" Target="http://schema.org" TargetMode="External"/><Relationship Id="rId4" Type="http://schemas.openxmlformats.org/officeDocument/2006/relationships/hyperlink" Target="http://w3id.org/ldac/terms"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hema.org"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hema.org"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Research Object Crate (RO-Crate) is a simple method for linked-data description and packaging of data. Since 2021, the Language Data Commons of Australia (LDaCA) project has onboarded a number of language data collections with thousands of files. These are all consistently described as RO-Crates using a human and machine-readable Metadata Profile, discoverable through an online portal, and available via an access-controlled API. This presentation will show how analytics workflows can be connected to data in the LDaCA repository and use linked data descriptions, such as the W3C “CSV for the web” (CSVW) standard, to automatically detect and load the right data for analytical workflows. We will show how the general-purpose flexible linked metadata and raw data is prepared for use with common tools implemented in Jupyter notebooks.</a:t>
            </a:r>
            <a:endParaRPr/>
          </a:p>
          <a:p>
            <a:pPr indent="0" lvl="0" marL="0" rtl="0" algn="l">
              <a:lnSpc>
                <a:spcPct val="115000"/>
              </a:lnSpc>
              <a:spcBef>
                <a:spcPts val="1200"/>
              </a:spcBef>
              <a:spcAft>
                <a:spcPts val="0"/>
              </a:spcAft>
              <a:buClr>
                <a:schemeClr val="dk1"/>
              </a:buClr>
              <a:buSzPts val="1100"/>
              <a:buFont typeface="Arial"/>
              <a:buNone/>
            </a:pPr>
            <a:r>
              <a:rPr lang="en-GB"/>
              <a:t>This work, funded by the Australian Research Data Commons ARDC, has enabled novel research by making data collected using sub-disciplinary norms of linguistics available to researchers working in other specialised areas – we will show examples of this and how this approach is relevant to other HASS and STEM disciplines, demonstrating work which would not have been possible without this co-investment between the Language Data Commons partners and ARDC</a:t>
            </a:r>
            <a:endParaRPr/>
          </a:p>
          <a:p>
            <a:pPr indent="0" lvl="0" marL="0" rtl="0" algn="l">
              <a:lnSpc>
                <a:spcPct val="115000"/>
              </a:lnSpc>
              <a:spcBef>
                <a:spcPts val="1200"/>
              </a:spcBef>
              <a:spcAft>
                <a:spcPts val="0"/>
              </a:spcAft>
              <a:buClr>
                <a:schemeClr val="dk1"/>
              </a:buClr>
              <a:buSzPts val="1100"/>
              <a:buFont typeface="Arial"/>
              <a:buNone/>
            </a:pPr>
            <a:r>
              <a:rPr lang="en-GB"/>
              <a:t>The presentation should be accessible to the broad audience of eResearch and be of particular relevance to those with an interest in workflows and analytics, as well as metadata, vocabulary and repository specialists. It shows a FAIR research system which runs on open specifications and code and can be redeployed for other domains.</a:t>
            </a:r>
            <a:endParaRPr/>
          </a:p>
          <a:p>
            <a:pPr indent="0" lvl="0" marL="0" rtl="0" algn="l">
              <a:lnSpc>
                <a:spcPct val="115000"/>
              </a:lnSpc>
              <a:spcBef>
                <a:spcPts val="1200"/>
              </a:spcBef>
              <a:spcAft>
                <a:spcPts val="0"/>
              </a:spcAft>
              <a:buClr>
                <a:schemeClr val="dk1"/>
              </a:buClr>
              <a:buSzPts val="1100"/>
              <a:buFont typeface="Arial"/>
              <a:buNone/>
            </a:pPr>
            <a:r>
              <a:rPr lang="en-GB"/>
              <a:t> </a:t>
            </a:r>
            <a:endParaRPr/>
          </a:p>
          <a:p>
            <a:pPr indent="0" lvl="0" marL="0" rtl="0" algn="l">
              <a:spcBef>
                <a:spcPts val="12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773bbd0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773bbd0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Language Data Commons of Australia or LDaCA is part of the Humanities and Social Sciences and Indigenous Research Data Commons, which is led by the ARDC.</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This project is co-funded by the University of Queensland (UQ). Authors Rosanna, Peter, Simon and River all work with UQ and Mike is with the University of Sydney.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What you see on the right is the execution strategy and what drives the LDaCA tech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To summarise, the </a:t>
            </a:r>
            <a:r>
              <a:rPr lang="en-GB"/>
              <a:t>strategy</a:t>
            </a:r>
            <a:r>
              <a:rPr lang="en-GB"/>
              <a:t> is about data management, developing tools and standards, technical architecture, and care for data in the long term.</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LDaCA builds data portals with robust access controls in place, and this ensures that access is as open as possible but as restricted as needed according to the data stewards and communities the collections relate to.</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 also develop shared tools for processing, analysis and visualisation of data and metadata, some of which we’ll be demonstrating today. We will be focussing on the indicated parts of this strategy “access” and “analyse”.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897a84e1a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Looking at analytics specifically, LDaCA aims to ensure workflows and infrastructure developed for analysing collections are available for access and reuse.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These should also be easy to re-run with clear documentation on their uses and limitations, and should allow for adaptation for a range of contexts.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alibri"/>
              <a:ea typeface="Calibri"/>
              <a:cs typeface="Calibri"/>
              <a:sym typeface="Calibri"/>
            </a:endParaRPr>
          </a:p>
        </p:txBody>
      </p:sp>
      <p:sp>
        <p:nvSpPr>
          <p:cNvPr id="66" name="Google Shape;66;g3897a84e1a4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8773bbd0d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8773bbd0d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The core idea of LDaCA is to develop standardised methods for describing and organising data in a Data Commons environment, which reduces friction in finding, using and re-using data.</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We have </a:t>
            </a:r>
            <a:r>
              <a:rPr lang="en-GB">
                <a:solidFill>
                  <a:schemeClr val="dk1"/>
                </a:solidFill>
              </a:rPr>
              <a:t>captured</a:t>
            </a:r>
            <a:r>
              <a:rPr lang="en-GB">
                <a:solidFill>
                  <a:schemeClr val="dk1"/>
                </a:solidFill>
              </a:rPr>
              <a:t> this approach with PILARS, which are Protocols for </a:t>
            </a:r>
            <a:r>
              <a:rPr lang="en-GB">
                <a:solidFill>
                  <a:schemeClr val="dk1"/>
                </a:solidFill>
              </a:rPr>
              <a:t>Implementing</a:t>
            </a:r>
            <a:r>
              <a:rPr lang="en-GB">
                <a:solidFill>
                  <a:schemeClr val="dk1"/>
                </a:solidFill>
              </a:rPr>
              <a:t> Long-Term Archival Repository Services.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These services should be d</a:t>
            </a:r>
            <a:r>
              <a:rPr lang="en-GB">
                <a:solidFill>
                  <a:schemeClr val="dk1"/>
                </a:solidFill>
              </a:rPr>
              <a:t>esigned to work in low-resource environments, allowing</a:t>
            </a:r>
            <a:r>
              <a:rPr b="1" lang="en-GB">
                <a:solidFill>
                  <a:schemeClr val="dk1"/>
                </a:solidFill>
              </a:rPr>
              <a:t> </a:t>
            </a:r>
            <a:r>
              <a:rPr lang="en-GB">
                <a:solidFill>
                  <a:schemeClr val="dk1"/>
                </a:solidFill>
              </a:rPr>
              <a:t>communities to have agency and control over their materials.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protocols prioritise sustainability, simplicity and standardisation, with linked-data description and clear licensing.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84d4816a0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84d4816a0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Data is organised into objects, taking into account practical considerations such as the size of each object, and access conditions. Each data object is stored in a repository as an RO-Crate (which stands for Research Object Crate).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solidFill>
                  <a:schemeClr val="dk1"/>
                </a:solidFill>
              </a:rPr>
              <a:t>An RO-Crate is a</a:t>
            </a:r>
            <a:r>
              <a:rPr lang="en-GB">
                <a:solidFill>
                  <a:schemeClr val="dk1"/>
                </a:solidFill>
              </a:rPr>
              <a:t> way of packaging research data that stores the data together with its associated metadata and other component files, such as the data license.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In this diagram, we have one collection containing items, such as a set of interviews, and each item describes the files linked to it, in this case, a text file and an audio file. Licenses for each of the items are also included.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8773bbd0d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8773bbd0d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RO-Crates are modelled according to a metadata profile which outlines the expected collection structure and provides guidance on describing language data in a repository.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profile uses</a:t>
            </a:r>
            <a:r>
              <a:rPr lang="en-GB">
                <a:solidFill>
                  <a:schemeClr val="dk1"/>
                </a:solidFill>
                <a:uFill>
                  <a:noFill/>
                </a:uFill>
                <a:hlinkClick r:id="rId2">
                  <a:extLst>
                    <a:ext uri="{A12FA001-AC4F-418D-AE19-62706E023703}">
                      <ahyp:hlinkClr val="tx"/>
                    </a:ext>
                  </a:extLst>
                </a:hlinkClick>
              </a:rPr>
              <a:t> [</a:t>
            </a:r>
            <a:r>
              <a:rPr lang="en-GB" u="sng">
                <a:solidFill>
                  <a:schemeClr val="hlink"/>
                </a:solidFill>
                <a:hlinkClick r:id="rId3"/>
              </a:rPr>
              <a:t>schema.org</a:t>
            </a:r>
            <a:r>
              <a:rPr lang="en-GB">
                <a:solidFill>
                  <a:schemeClr val="dk1"/>
                </a:solidFill>
              </a:rPr>
              <a:t>](http://schema.org)  as its foundation for metadata description, as well as a few other standard vocabularies.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It also draws on the Language Data Commons schema &lt;</a:t>
            </a:r>
            <a:r>
              <a:rPr lang="en-GB" u="sng">
                <a:solidFill>
                  <a:schemeClr val="hlink"/>
                </a:solidFill>
                <a:hlinkClick r:id="rId4"/>
              </a:rPr>
              <a:t>http://w3id.org/ldac/terms</a:t>
            </a:r>
            <a:r>
              <a:rPr lang="en-GB">
                <a:solidFill>
                  <a:schemeClr val="dk1"/>
                </a:solidFill>
              </a:rPr>
              <a:t>&gt;, which contains metadata terms specific to describing language data.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8773bbd0d6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8773bbd0d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diagram overviews the architecture for indexing data with a focus on findability, and illustrates the key conceptual components of our data storage architecture.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Storage services follow the PILARS protocols and store data as a series of Storage Objects using the Oxford Common File Layout (</a:t>
            </a:r>
            <a:r>
              <a:rPr lang="en-GB">
                <a:solidFill>
                  <a:schemeClr val="dk1"/>
                </a:solidFill>
              </a:rPr>
              <a:t>OCFL). This is a specification from the digital library community for storing data independently of applications such as portals, repositories or particular analytical pipelines</a:t>
            </a:r>
            <a:r>
              <a:rPr lang="en-GB"/>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This data is distributed across multiple storage services, including file-systems and object stores hosted by different institutions.</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84d4816a09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84d4816a09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t>The diagram shows our distributed access control approach at LDaCA, and this is motivated by a need for controlled access in conjunction with CARE and FAIR data principles.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Each item in the repository is stored as an RO-Crate with licensing information included, and the repository defers access decisions to an external authentication and authorization system.</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GB"/>
              <a:t>Here, data custodians can design whatever process they like for granting license access, ranging from simple click-through licenses to detailed multi-step workflows based on whatever criteria the rights holder requires.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This can be scaled to multiple portals and repositories as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(Image is from here: https://github.com/Language-Research-Technology/plantuml-diagrams/blob/main/generic/simple-distributed-access-control.svg)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8773bbd0d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8773bbd0d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All of this architecture comes together in the “main” portal, where we add language data collections that meet LDaCA’s collection guidelines. These are batch loaded from scripts into a loading area and then they’re indexed </a:t>
            </a:r>
            <a:r>
              <a:rPr lang="en-GB"/>
              <a:t>appropriately.</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solidFill>
                  <a:schemeClr val="dk1"/>
                </a:solidFill>
              </a:rPr>
              <a:t>We’ve also set up automation with [Terraform](https://developer.hashicorp.com/terraform) to build portals on demand for communities, so that bespoke requirements for the portal interface and other needs can be catered to.</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portals provide secure access to the data in an automated way through an API, and this is also used for downloads and analytics.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8773bbd0d6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8773bbd0d6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On the analytics side, we’re building Jupyter notebooks to explore the collections, which users can launch in a binder </a:t>
            </a:r>
            <a:r>
              <a:rPr lang="en-GB"/>
              <a:t>infrastructure, and these are also accessible in the portal.</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notebooks allow you to download the collection data and analyse </a:t>
            </a:r>
            <a:r>
              <a:rPr lang="en-GB"/>
              <a:t>its contents in a repeatable way with reproducible results.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897a84e1a4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897a84e1a4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L</a:t>
            </a:r>
            <a:r>
              <a:rPr lang="en-GB"/>
              <a:t>ibrary upgrades and version changes can break once-working Jupyter Notebooks, and this makes it difficult for future users to verify and reproduce results or build on them.</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GB"/>
              <a:t>BinderHubs enhances reproducibility by allowing users to launch pre-configured notebooks as interactive computing environments, and these have explicitly defined hardware and software requirements.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 use the Nectar BinderHub service that is provided by the ARDC and AARNet.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solidFill>
                  <a:schemeClr val="dk1"/>
                </a:solidFill>
              </a:rPr>
              <a:t>To illustrate this, I’ll walk through a recent notebook that has been developed for the COOEE collection.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897a84e1a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897a84e1a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The COrpus of Oz Early English, or COOEE, is a collection of texts written in Australia between 1788 and 1900. These include letters, published materials in book form, and other historical text.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corpus is divided into four time periods, each holding about 500,000 words.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It’s also divided into four registers: </a:t>
            </a:r>
            <a:r>
              <a:rPr lang="en-GB">
                <a:solidFill>
                  <a:schemeClr val="dk1"/>
                </a:solidFill>
              </a:rPr>
              <a:t>these are Speech-based, Private Written, Public Written and Government English. The proportions of these registers is consistent for each time period as well.</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897a84e1a4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897a84e1a4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Because </a:t>
            </a:r>
            <a:r>
              <a:rPr lang="en-GB"/>
              <a:t>COOEE is organised </a:t>
            </a:r>
            <a:r>
              <a:rPr lang="en-GB">
                <a:solidFill>
                  <a:schemeClr val="dk1"/>
                </a:solidFill>
              </a:rPr>
              <a:t>across both time period and register,</a:t>
            </a:r>
            <a:r>
              <a:rPr lang="en-GB"/>
              <a:t> the corpus can be stratified into 16 sub-corpora and allows for analysis of linguistic features according to either or both of the variables.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Our notebook uses these sub-corpora as the basis for topic modeling, to show what topics are more or less strongly associated with particular sub-corpora.</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Before we could analyse the collection though, there was some transformation of metadata needed, so that where possible, the terms adhere to a standard framework that can be applied across collections, and allow for further interoperability.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 number of these included mapping metadata in the COOEE collection to their </a:t>
            </a:r>
            <a:r>
              <a:rPr lang="en-GB" u="sng">
                <a:solidFill>
                  <a:schemeClr val="hlink"/>
                </a:solidFill>
                <a:hlinkClick r:id="rId2"/>
              </a:rPr>
              <a:t>schema.org</a:t>
            </a:r>
            <a:r>
              <a:rPr lang="en-GB"/>
              <a:t> equivalents, for example, Birth to birthDate, and Nr to identifier.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 also needed to identify the main text for analysis, because e</a:t>
            </a:r>
            <a:r>
              <a:rPr lang="en-GB"/>
              <a:t>ach object in the COOEE collection has two types of text files - one is the plain text and the other has metadata encoding</a:t>
            </a:r>
            <a:r>
              <a:rPr lang="en-GB">
                <a:solidFill>
                  <a:schemeClr val="dk1"/>
                </a:solidFill>
              </a:rPr>
              <a:t>, </a:t>
            </a:r>
            <a:r>
              <a:rPr lang="en-GB"/>
              <a:t>with </a:t>
            </a:r>
            <a:r>
              <a:rPr lang="en-GB"/>
              <a:t>information about the register and the author of the text.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For analysis, we only want to use the plain text so that the metadata codes won’t be included as part of the topic counts.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For this, we defined the new term mainText in the Language Data Commons Schema vocabulary, which i</a:t>
            </a:r>
            <a:r>
              <a:rPr lang="en-GB"/>
              <a:t>dentifies the most relevant sub-component for computational text analytics</a:t>
            </a:r>
            <a:r>
              <a:rPr lang="en-GB"/>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This metadata standardisation is an important step because it not only makes analysis faster and easier to do, but also allows us to re-use analytical approaches on multiple collections, and streamlines processes like comparing datasets.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897a84e1a4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897a84e1a4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 the notebook, we first download the whole COOEE collection directly from the LDaCA Portal, and </a:t>
            </a:r>
            <a:r>
              <a:rPr lang="en-GB">
                <a:solidFill>
                  <a:schemeClr val="dk1"/>
                </a:solidFill>
              </a:rPr>
              <a:t>then </a:t>
            </a:r>
            <a:r>
              <a:rPr lang="en-GB"/>
              <a:t>we use the </a:t>
            </a:r>
            <a:r>
              <a:rPr lang="en-GB">
                <a:solidFill>
                  <a:schemeClr val="dk1"/>
                </a:solidFill>
              </a:rPr>
              <a:t>RO-Crate tabulator Python library </a:t>
            </a:r>
            <a:r>
              <a:rPr lang="en-GB"/>
              <a:t>which</a:t>
            </a:r>
            <a:r>
              <a:rPr lang="en-GB"/>
              <a:t> converts RO-Crate linked data (a network, or “graph” of </a:t>
            </a:r>
            <a:r>
              <a:rPr lang="en-GB"/>
              <a:t>relationships)</a:t>
            </a:r>
            <a:r>
              <a:rPr lang="en-GB"/>
              <a:t> to tabular representations (rows and columns).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84d4816a09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84d4816a09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The tabulator also allows you to select the tables and properties that are relevant to your analysis. Mike will talk about this later in more detail.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We also specify the mainText field as the property to be loaded and indexed as the text to analyse for this collection.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We then convert the table to a Pandas DataFrame so that the metadata sits alongside the text data.</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Finally, we slice the data by register and time period, and concatenate the text of each document within a slice to create 16 large documents.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85fe53cff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85fe53cff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In order to discover the topics in the collection, we need to be working with a list of words for each document instead of paragraphs of text.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For this, we used the Natural Language Toolkit Python libraries, which allow us to tokenise the data.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Some words and other items in the text can be considered as 'noise' for the analysis and these are removed: these include punctuation marks, numbers, artefacts of digital text such as new line symbols and many common function words which are not relevant for the analysis.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diagram shows an example of some of the input text in the first box, and the second box shows the same data tokenised in a list with punctuation and other ‘noise’ items removed.</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897a84e1a4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897a84e1a4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Using the tokenised word lists, we can now model the data using Gensim, and visualise the output, and we’ve done this with both interactive and static options.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LDAvis – on the left – is an interactive visualisation of the topics learned by the model. The circles represent topics, and the most </a:t>
            </a:r>
            <a:r>
              <a:rPr lang="en-GB"/>
              <a:t>prevalent topics are larger. The bars show individual word frequencies.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Because this visualisation is interactive, users can select a topic circle to view its most salient terms, which can be used to analyse any plausible semantic groupings in those topics.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heatmap – on the right – shows the distribution of topics across time periods and registers. The horizontal rows of three or four dark squares show where topics are strongly associated with a particular register across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Although this particular notebook example is just run on the COOEE data, these processes </a:t>
            </a:r>
            <a:r>
              <a:rPr lang="en-GB">
                <a:solidFill>
                  <a:schemeClr val="dk1"/>
                </a:solidFill>
              </a:rPr>
              <a:t>can be easily re-applied to explore further collections, and </a:t>
            </a:r>
            <a:r>
              <a:rPr lang="en-GB"/>
              <a:t>can be adjusted according to the needs of the user.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I’ll now hand over to Mike to talk more about the RO-Crate tabulator.</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8d6831bcf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8d6831bcf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first version of Tabulator was written because a new version of the Observable data visualisation platform had come out which allowed you to build interactive dashboards without requiring a custom backend.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 wanted to see how quickly I could use it to visualise the contents of an RO-Crate.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Observable is a data-sciency tool so it really wants to work with tables. So Tabulator needed to be able to turn a random RO-Crate, which could be an </a:t>
            </a:r>
            <a:r>
              <a:rPr lang="en-GB"/>
              <a:t>arbitrary</a:t>
            </a:r>
            <a:r>
              <a:rPr lang="en-GB"/>
              <a:t> network of entities, into a set of tables.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I'm a software engineer, so the first version was extremely general and not very performant. In most practical cases, you only want to turn a couple of the entities into tables - with the LDaCA collections, for example, things like RepositoryObjects, and also lifting relations to Persons into the table of documents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With a bit of config the Tabulator can be used to convert the COOEE RO-Crate to an SQLite database with a row for each of the documents and their metadata - you can then load it in Observable and start building interactive plots to look at corpus features.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897a84e1a4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897a84e1a4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Tables are also how researchers like to work with data, because you can load them into spreadsheets. But that raises the problem of spreadsheets and data types - CSV is just text with commas - there's no type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But - we're exporting our data from a well-crafted RO-Crate, which has </a:t>
            </a:r>
            <a:r>
              <a:rPr lang="en-GB" u="sng">
                <a:solidFill>
                  <a:schemeClr val="hlink"/>
                </a:solidFill>
                <a:hlinkClick r:id="rId2"/>
              </a:rPr>
              <a:t>schema.org</a:t>
            </a:r>
            <a:r>
              <a:rPr lang="en-GB"/>
              <a:t> mappings, and there's an existing </a:t>
            </a:r>
            <a:r>
              <a:rPr lang="en-GB"/>
              <a:t>standard</a:t>
            </a:r>
            <a:r>
              <a:rPr lang="en-GB"/>
              <a:t>, CSVW, which can annotate CSV with JSON-LD column </a:t>
            </a:r>
            <a:r>
              <a:rPr lang="en-GB"/>
              <a:t>types.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 Tabulator can export CSVs, together with a secondary RO-Crate which provides a CSVW schema for each of the exported tables, explaining what the columns are and providing links to definitions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8d6831bcf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8d6831bcf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We've got more work underway at Sydney Informatics Hub to make it easier to use the Tabulator on LDaCA corpora. I still want to keep it as a general-purpose library but we can add some Python code which will use the common features of LDaCA RO-Crates to get out the relevant entities and build a table of the texts.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This will then feed into the work we're doing on a new web frontend to a range of </a:t>
            </a:r>
            <a:r>
              <a:rPr lang="en-GB"/>
              <a:t>different text-analytics tools.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Eventually, rather than downloading a whole corpus, running Tabulator and then loading it, you could run a component which fetches texts from the LDaCA data portal and returns rows which can be analysed in a web interface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General purpose - visualise/analyse in your platform of cj</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9b805f4d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To conclude, this work is part of a Data Commons. The key idea is to create low-friction analysis pipelines by: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GB">
                <a:solidFill>
                  <a:schemeClr val="dk1"/>
                </a:solidFill>
              </a:rPr>
              <a:t>- Having consistently described, well managed data available with a discovery portal and secure access APIs</a:t>
            </a:r>
            <a:endParaRPr>
              <a:solidFill>
                <a:schemeClr val="dk1"/>
              </a:solidFill>
            </a:endParaRPr>
          </a:p>
          <a:p>
            <a:pPr indent="0" lvl="0" marL="0" rtl="0" algn="l">
              <a:spcBef>
                <a:spcPts val="0"/>
              </a:spcBef>
              <a:spcAft>
                <a:spcPts val="0"/>
              </a:spcAft>
              <a:buNone/>
            </a:pPr>
            <a:r>
              <a:rPr lang="en-GB">
                <a:solidFill>
                  <a:schemeClr val="dk1"/>
                </a:solidFill>
              </a:rPr>
              <a:t>- </a:t>
            </a:r>
            <a:r>
              <a:rPr lang="en-GB" sz="1150">
                <a:solidFill>
                  <a:srgbClr val="1D1C1D"/>
                </a:solidFill>
                <a:highlight>
                  <a:srgbClr val="F8F8F8"/>
                </a:highlight>
              </a:rPr>
              <a:t>D</a:t>
            </a:r>
            <a:r>
              <a:rPr lang="en-GB" sz="1150">
                <a:solidFill>
                  <a:srgbClr val="1D1C1D"/>
                </a:solidFill>
                <a:highlight>
                  <a:srgbClr val="F8F8F8"/>
                </a:highlight>
              </a:rPr>
              <a:t>ata prep tools which will make it possible to align BYO data with the standards </a:t>
            </a:r>
            <a:endParaRPr sz="1150">
              <a:solidFill>
                <a:srgbClr val="1D1C1D"/>
              </a:solidFill>
              <a:highlight>
                <a:srgbClr val="F8F8F8"/>
              </a:highlight>
            </a:endParaRPr>
          </a:p>
          <a:p>
            <a:pPr indent="0" lvl="0" marL="0" rtl="0" algn="l">
              <a:spcBef>
                <a:spcPts val="0"/>
              </a:spcBef>
              <a:spcAft>
                <a:spcPts val="0"/>
              </a:spcAft>
              <a:buNone/>
            </a:pPr>
            <a:r>
              <a:rPr lang="en-GB" sz="1150">
                <a:solidFill>
                  <a:srgbClr val="1D1C1D"/>
                </a:solidFill>
                <a:highlight>
                  <a:srgbClr val="F8F8F8"/>
                </a:highlight>
              </a:rPr>
              <a:t>- Tools should be easy to run on more than one data set, datasets work with more than one tool</a:t>
            </a:r>
            <a:endParaRPr sz="1150">
              <a:solidFill>
                <a:srgbClr val="1D1C1D"/>
              </a:solidFill>
              <a:highlight>
                <a:srgbClr val="F8F8F8"/>
              </a:highlight>
            </a:endParaRPr>
          </a:p>
          <a:p>
            <a:pPr indent="0" lvl="0" marL="0" rtl="0" algn="l">
              <a:spcBef>
                <a:spcPts val="0"/>
              </a:spcBef>
              <a:spcAft>
                <a:spcPts val="0"/>
              </a:spcAft>
              <a:buNone/>
            </a:pPr>
            <a:r>
              <a:rPr lang="en-GB" sz="1150">
                <a:solidFill>
                  <a:srgbClr val="1D1C1D"/>
                </a:solidFill>
                <a:highlight>
                  <a:srgbClr val="F8F8F8"/>
                </a:highlight>
              </a:rPr>
              <a:t>- Limitations and assumptions on tools are clearly documented </a:t>
            </a:r>
            <a:endParaRPr sz="1150">
              <a:solidFill>
                <a:srgbClr val="1D1C1D"/>
              </a:solidFill>
              <a:highlight>
                <a:srgbClr val="F8F8F8"/>
              </a:highlight>
            </a:endParaRPr>
          </a:p>
          <a:p>
            <a:pPr indent="0" lvl="0" marL="0" rtl="0" algn="l">
              <a:spcBef>
                <a:spcPts val="0"/>
              </a:spcBef>
              <a:spcAft>
                <a:spcPts val="0"/>
              </a:spcAft>
              <a:buNone/>
            </a:pPr>
            <a:r>
              <a:rPr lang="en-GB" sz="1150">
                <a:solidFill>
                  <a:srgbClr val="1D1C1D"/>
                </a:solidFill>
                <a:highlight>
                  <a:srgbClr val="F8F8F8"/>
                </a:highlight>
              </a:rPr>
              <a:t>- Tools are adaptable to different contexts</a:t>
            </a:r>
            <a:endParaRPr sz="1150">
              <a:solidFill>
                <a:srgbClr val="1D1C1D"/>
              </a:solidFill>
              <a:highlight>
                <a:srgbClr val="F8F8F8"/>
              </a:highlight>
            </a:endParaRPr>
          </a:p>
          <a:p>
            <a:pPr indent="0" lvl="0" marL="0" rtl="0" algn="l">
              <a:spcBef>
                <a:spcPts val="0"/>
              </a:spcBef>
              <a:spcAft>
                <a:spcPts val="0"/>
              </a:spcAft>
              <a:buNone/>
            </a:pPr>
            <a:r>
              <a:t/>
            </a:r>
            <a:endParaRPr sz="1150">
              <a:solidFill>
                <a:srgbClr val="1D1C1D"/>
              </a:solidFill>
              <a:highlight>
                <a:srgbClr val="F8F8F8"/>
              </a:highlight>
            </a:endParaRPr>
          </a:p>
          <a:p>
            <a:pPr indent="0" lvl="0" marL="0" rtl="0" algn="l">
              <a:spcBef>
                <a:spcPts val="0"/>
              </a:spcBef>
              <a:spcAft>
                <a:spcPts val="0"/>
              </a:spcAft>
              <a:buNone/>
            </a:pPr>
            <a:r>
              <a:t/>
            </a:r>
            <a:endParaRPr sz="1150">
              <a:solidFill>
                <a:srgbClr val="1D1C1D"/>
              </a:solidFill>
              <a:highlight>
                <a:srgbClr val="F8F8F8"/>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alibri"/>
              <a:ea typeface="Calibri"/>
              <a:cs typeface="Calibri"/>
              <a:sym typeface="Calibri"/>
            </a:endParaRPr>
          </a:p>
        </p:txBody>
      </p:sp>
      <p:sp>
        <p:nvSpPr>
          <p:cNvPr id="228" name="Google Shape;228;g39b805f4d5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hyperlink" Target="https://w3id.org/ldac/pilar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researchobject.org/ro-crate/background#research-object-background" TargetMode="Externa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3id.org/ldac/profile" TargetMode="External"/><Relationship Id="rId4" Type="http://schemas.openxmlformats.org/officeDocument/2006/relationships/hyperlink" Target="https://w3id.org/ldac/terms" TargetMode="External"/><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data.ldaca.edu.au" TargetMode="Externa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chema.org" TargetMode="External"/><Relationship Id="rId4" Type="http://schemas.openxmlformats.org/officeDocument/2006/relationships/hyperlink" Target="http://w3id.org/ldac/term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15000"/>
              </a:lnSpc>
              <a:spcBef>
                <a:spcPts val="0"/>
              </a:spcBef>
              <a:spcAft>
                <a:spcPts val="300"/>
              </a:spcAft>
              <a:buClr>
                <a:schemeClr val="dk1"/>
              </a:buClr>
              <a:buSzPts val="990"/>
              <a:buFont typeface="Arial"/>
              <a:buNone/>
            </a:pPr>
            <a:r>
              <a:rPr lang="en-GB" sz="3880"/>
              <a:t>Low friction FAIR interoperability using RO-Crate metadata in text analytics pipelines</a:t>
            </a:r>
            <a:endParaRPr sz="388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GB"/>
              <a:t>Rosanna Smith, Mike Lynch, Peter Sefton, Simon Musgrave, River Tae Smith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About Us</a:t>
            </a:r>
            <a:endParaRPr/>
          </a:p>
        </p:txBody>
      </p:sp>
      <p:pic>
        <p:nvPicPr>
          <p:cNvPr id="61" name="Google Shape;61;p14"/>
          <p:cNvPicPr preferRelativeResize="0"/>
          <p:nvPr/>
        </p:nvPicPr>
        <p:blipFill>
          <a:blip r:embed="rId3">
            <a:alphaModFix/>
          </a:blip>
          <a:stretch>
            <a:fillRect/>
          </a:stretch>
        </p:blipFill>
        <p:spPr>
          <a:xfrm>
            <a:off x="1733700" y="636104"/>
            <a:ext cx="7410450" cy="4172975"/>
          </a:xfrm>
          <a:prstGeom prst="rect">
            <a:avLst/>
          </a:prstGeom>
          <a:noFill/>
          <a:ln>
            <a:noFill/>
          </a:ln>
        </p:spPr>
      </p:pic>
      <p:sp>
        <p:nvSpPr>
          <p:cNvPr id="62" name="Google Shape;62;p14"/>
          <p:cNvSpPr/>
          <p:nvPr/>
        </p:nvSpPr>
        <p:spPr>
          <a:xfrm>
            <a:off x="1954775" y="3014300"/>
            <a:ext cx="6877500" cy="1114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txBox="1"/>
          <p:nvPr>
            <p:ph idx="1" type="body"/>
          </p:nvPr>
        </p:nvSpPr>
        <p:spPr>
          <a:xfrm>
            <a:off x="311700" y="1152475"/>
            <a:ext cx="1534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sz="1100">
                <a:solidFill>
                  <a:schemeClr val="dk1"/>
                </a:solidFill>
              </a:rPr>
              <a:t>The Language Data Commons of Australia (LDaCA) is part of the Humanities and Social Sciences and Indigenous Research Data Commons which is led by the Australian Research Data Commons (ARDC).</a:t>
            </a:r>
            <a:endParaRPr sz="11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nvSpPr>
        <p:spPr>
          <a:xfrm>
            <a:off x="3709131" y="-362019"/>
            <a:ext cx="1959300" cy="284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1400">
                <a:solidFill>
                  <a:schemeClr val="dk1"/>
                </a:solidFill>
                <a:latin typeface="Calibri"/>
                <a:ea typeface="Calibri"/>
                <a:cs typeface="Calibri"/>
                <a:sym typeface="Calibri"/>
              </a:rPr>
              <a:t>Activities</a:t>
            </a:r>
            <a:endParaRPr b="1" sz="1100">
              <a:latin typeface="Calibri"/>
              <a:ea typeface="Calibri"/>
              <a:cs typeface="Calibri"/>
              <a:sym typeface="Calibri"/>
            </a:endParaRPr>
          </a:p>
        </p:txBody>
      </p:sp>
      <p:sp>
        <p:nvSpPr>
          <p:cNvPr id="69" name="Google Shape;69;p15"/>
          <p:cNvSpPr/>
          <p:nvPr/>
        </p:nvSpPr>
        <p:spPr>
          <a:xfrm>
            <a:off x="1617031" y="852463"/>
            <a:ext cx="1584900" cy="627600"/>
          </a:xfrm>
          <a:prstGeom prst="roundRect">
            <a:avLst>
              <a:gd fmla="val 16667" name="adj"/>
            </a:avLst>
          </a:prstGeom>
          <a:solidFill>
            <a:srgbClr val="EF77EF">
              <a:alpha val="4125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Font typeface="Arial"/>
              <a:buNone/>
            </a:pPr>
            <a:r>
              <a:rPr lang="en-GB" sz="1000">
                <a:solidFill>
                  <a:srgbClr val="000000"/>
                </a:solidFill>
                <a:latin typeface="Calibri"/>
                <a:ea typeface="Calibri"/>
                <a:cs typeface="Calibri"/>
                <a:sym typeface="Calibri"/>
              </a:rPr>
              <a:t>Analytical </a:t>
            </a:r>
            <a:r>
              <a:rPr lang="en-GB" sz="1000">
                <a:solidFill>
                  <a:srgbClr val="000000"/>
                </a:solidFill>
                <a:latin typeface="Calibri"/>
                <a:ea typeface="Calibri"/>
                <a:cs typeface="Calibri"/>
                <a:sym typeface="Calibri"/>
              </a:rPr>
              <a:t>workflows are typically not published, re-runnable or reusable</a:t>
            </a:r>
            <a:endParaRPr sz="1000">
              <a:solidFill>
                <a:srgbClr val="FF0000"/>
              </a:solidFill>
              <a:latin typeface="Calibri"/>
              <a:ea typeface="Calibri"/>
              <a:cs typeface="Calibri"/>
              <a:sym typeface="Calibri"/>
            </a:endParaRPr>
          </a:p>
        </p:txBody>
      </p:sp>
      <p:sp>
        <p:nvSpPr>
          <p:cNvPr id="70" name="Google Shape;70;p15"/>
          <p:cNvSpPr/>
          <p:nvPr/>
        </p:nvSpPr>
        <p:spPr>
          <a:xfrm>
            <a:off x="353019" y="852463"/>
            <a:ext cx="1150200" cy="627600"/>
          </a:xfrm>
          <a:prstGeom prst="roundRect">
            <a:avLst>
              <a:gd fmla="val 16667" name="adj"/>
            </a:avLst>
          </a:prstGeom>
          <a:solidFill>
            <a:srgbClr val="EF77EF">
              <a:alpha val="4125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1" lang="en-GB">
                <a:solidFill>
                  <a:srgbClr val="000000"/>
                </a:solidFill>
                <a:latin typeface="Calibri"/>
                <a:ea typeface="Calibri"/>
                <a:cs typeface="Calibri"/>
                <a:sym typeface="Calibri"/>
              </a:rPr>
              <a:t>transparent</a:t>
            </a:r>
            <a:endParaRPr b="1">
              <a:solidFill>
                <a:srgbClr val="000000"/>
              </a:solidFill>
              <a:latin typeface="Calibri"/>
              <a:ea typeface="Calibri"/>
              <a:cs typeface="Calibri"/>
              <a:sym typeface="Calibri"/>
            </a:endParaRPr>
          </a:p>
        </p:txBody>
      </p:sp>
      <p:sp>
        <p:nvSpPr>
          <p:cNvPr id="71" name="Google Shape;71;p15"/>
          <p:cNvSpPr/>
          <p:nvPr/>
        </p:nvSpPr>
        <p:spPr>
          <a:xfrm>
            <a:off x="324369" y="2941188"/>
            <a:ext cx="1207500" cy="627600"/>
          </a:xfrm>
          <a:prstGeom prst="roundRect">
            <a:avLst>
              <a:gd fmla="val 16667" name="adj"/>
            </a:avLst>
          </a:prstGeom>
          <a:solidFill>
            <a:srgbClr val="EF77EF">
              <a:alpha val="143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1" lang="en-GB">
                <a:solidFill>
                  <a:srgbClr val="000000"/>
                </a:solidFill>
                <a:latin typeface="Calibri"/>
                <a:ea typeface="Calibri"/>
                <a:cs typeface="Calibri"/>
                <a:sym typeface="Calibri"/>
              </a:rPr>
              <a:t>adaptable</a:t>
            </a:r>
            <a:endParaRPr b="1">
              <a:solidFill>
                <a:srgbClr val="000000"/>
              </a:solidFill>
              <a:latin typeface="Calibri"/>
              <a:ea typeface="Calibri"/>
              <a:cs typeface="Calibri"/>
              <a:sym typeface="Calibri"/>
            </a:endParaRPr>
          </a:p>
        </p:txBody>
      </p:sp>
      <p:sp>
        <p:nvSpPr>
          <p:cNvPr id="72" name="Google Shape;72;p15"/>
          <p:cNvSpPr/>
          <p:nvPr/>
        </p:nvSpPr>
        <p:spPr>
          <a:xfrm>
            <a:off x="1617031" y="2949802"/>
            <a:ext cx="1584900" cy="627600"/>
          </a:xfrm>
          <a:prstGeom prst="roundRect">
            <a:avLst>
              <a:gd fmla="val 16667" name="adj"/>
            </a:avLst>
          </a:prstGeom>
          <a:solidFill>
            <a:srgbClr val="EF77EF">
              <a:alpha val="143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solidFill>
                  <a:srgbClr val="000000"/>
                </a:solidFill>
                <a:latin typeface="Calibri"/>
                <a:ea typeface="Calibri"/>
                <a:cs typeface="Calibri"/>
                <a:sym typeface="Calibri"/>
              </a:rPr>
              <a:t>Methods are specialized to particular studies or research cohorts</a:t>
            </a:r>
            <a:endParaRPr sz="1000">
              <a:solidFill>
                <a:srgbClr val="000000"/>
              </a:solidFill>
              <a:latin typeface="Calibri"/>
              <a:ea typeface="Calibri"/>
              <a:cs typeface="Calibri"/>
              <a:sym typeface="Calibri"/>
            </a:endParaRPr>
          </a:p>
        </p:txBody>
      </p:sp>
      <p:sp>
        <p:nvSpPr>
          <p:cNvPr id="73" name="Google Shape;73;p15"/>
          <p:cNvSpPr/>
          <p:nvPr/>
        </p:nvSpPr>
        <p:spPr>
          <a:xfrm>
            <a:off x="1617031" y="4374922"/>
            <a:ext cx="1584900" cy="627600"/>
          </a:xfrm>
          <a:prstGeom prst="roundRect">
            <a:avLst>
              <a:gd fmla="val 16667" name="adj"/>
            </a:avLst>
          </a:prstGeom>
          <a:solidFill>
            <a:srgbClr val="EF77EF">
              <a:alpha val="143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Font typeface="Arial"/>
              <a:buNone/>
            </a:pPr>
            <a:r>
              <a:rPr lang="en-GB" sz="1000">
                <a:solidFill>
                  <a:srgbClr val="000000"/>
                </a:solidFill>
                <a:latin typeface="Calibri"/>
                <a:ea typeface="Calibri"/>
                <a:cs typeface="Calibri"/>
                <a:sym typeface="Calibri"/>
              </a:rPr>
              <a:t>There are many analytical tools available but they require different input formats</a:t>
            </a:r>
            <a:endParaRPr sz="1000">
              <a:solidFill>
                <a:srgbClr val="000000"/>
              </a:solidFill>
              <a:latin typeface="Calibri"/>
              <a:ea typeface="Calibri"/>
              <a:cs typeface="Calibri"/>
              <a:sym typeface="Calibri"/>
            </a:endParaRPr>
          </a:p>
        </p:txBody>
      </p:sp>
      <p:sp>
        <p:nvSpPr>
          <p:cNvPr id="74" name="Google Shape;74;p15"/>
          <p:cNvSpPr/>
          <p:nvPr/>
        </p:nvSpPr>
        <p:spPr>
          <a:xfrm>
            <a:off x="6437604" y="4374925"/>
            <a:ext cx="2341500" cy="627600"/>
          </a:xfrm>
          <a:prstGeom prst="roundRect">
            <a:avLst>
              <a:gd fmla="val 16667" name="adj"/>
            </a:avLst>
          </a:prstGeom>
          <a:solidFill>
            <a:srgbClr val="EF77EF">
              <a:alpha val="143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Font typeface="Arial"/>
              <a:buNone/>
            </a:pPr>
            <a:r>
              <a:rPr lang="en-GB" sz="1000">
                <a:solidFill>
                  <a:srgbClr val="000000"/>
                </a:solidFill>
                <a:latin typeface="Calibri"/>
                <a:ea typeface="Calibri"/>
                <a:cs typeface="Calibri"/>
                <a:sym typeface="Calibri"/>
              </a:rPr>
              <a:t>There are </a:t>
            </a:r>
            <a:r>
              <a:rPr lang="en-GB" sz="1000">
                <a:solidFill>
                  <a:srgbClr val="000000"/>
                </a:solidFill>
                <a:latin typeface="Calibri"/>
                <a:ea typeface="Calibri"/>
                <a:cs typeface="Calibri"/>
                <a:sym typeface="Calibri"/>
              </a:rPr>
              <a:t>readily </a:t>
            </a:r>
            <a:r>
              <a:rPr lang="en-GB" sz="1000">
                <a:solidFill>
                  <a:srgbClr val="000000"/>
                </a:solidFill>
                <a:latin typeface="Calibri"/>
                <a:ea typeface="Calibri"/>
                <a:cs typeface="Calibri"/>
                <a:sym typeface="Calibri"/>
              </a:rPr>
              <a:t>accessible, self documenting connectors making it easy to apply analytical methods </a:t>
            </a:r>
            <a:endParaRPr sz="1000">
              <a:solidFill>
                <a:srgbClr val="000000"/>
              </a:solidFill>
              <a:latin typeface="Calibri"/>
              <a:ea typeface="Calibri"/>
              <a:cs typeface="Calibri"/>
              <a:sym typeface="Calibri"/>
            </a:endParaRPr>
          </a:p>
        </p:txBody>
      </p:sp>
      <p:sp>
        <p:nvSpPr>
          <p:cNvPr id="75" name="Google Shape;75;p15"/>
          <p:cNvSpPr/>
          <p:nvPr/>
        </p:nvSpPr>
        <p:spPr>
          <a:xfrm>
            <a:off x="324369" y="1561782"/>
            <a:ext cx="1207500" cy="627600"/>
          </a:xfrm>
          <a:prstGeom prst="roundRect">
            <a:avLst>
              <a:gd fmla="val 16667" name="adj"/>
            </a:avLst>
          </a:prstGeom>
          <a:solidFill>
            <a:srgbClr val="EF77EF">
              <a:alpha val="143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1" lang="en-GB">
                <a:solidFill>
                  <a:srgbClr val="000000"/>
                </a:solidFill>
                <a:latin typeface="Calibri"/>
                <a:ea typeface="Calibri"/>
                <a:cs typeface="Calibri"/>
                <a:sym typeface="Calibri"/>
              </a:rPr>
              <a:t>documented</a:t>
            </a:r>
            <a:endParaRPr b="1">
              <a:solidFill>
                <a:srgbClr val="000000"/>
              </a:solidFill>
              <a:latin typeface="Calibri"/>
              <a:ea typeface="Calibri"/>
              <a:cs typeface="Calibri"/>
              <a:sym typeface="Calibri"/>
            </a:endParaRPr>
          </a:p>
        </p:txBody>
      </p:sp>
      <p:sp>
        <p:nvSpPr>
          <p:cNvPr id="76" name="Google Shape;76;p15"/>
          <p:cNvSpPr/>
          <p:nvPr/>
        </p:nvSpPr>
        <p:spPr>
          <a:xfrm>
            <a:off x="1617031" y="1558335"/>
            <a:ext cx="1584900" cy="627600"/>
          </a:xfrm>
          <a:prstGeom prst="roundRect">
            <a:avLst>
              <a:gd fmla="val 16667" name="adj"/>
            </a:avLst>
          </a:prstGeom>
          <a:solidFill>
            <a:srgbClr val="EF77EF">
              <a:alpha val="143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solidFill>
                  <a:srgbClr val="000000"/>
                </a:solidFill>
                <a:latin typeface="Calibri"/>
                <a:ea typeface="Calibri"/>
                <a:cs typeface="Calibri"/>
                <a:sym typeface="Calibri"/>
              </a:rPr>
              <a:t>(Meta)Data formats, tools, research workflows are varied, and under-documented</a:t>
            </a:r>
            <a:endParaRPr sz="1000">
              <a:solidFill>
                <a:srgbClr val="000000"/>
              </a:solidFill>
              <a:latin typeface="Calibri"/>
              <a:ea typeface="Calibri"/>
              <a:cs typeface="Calibri"/>
              <a:sym typeface="Calibri"/>
            </a:endParaRPr>
          </a:p>
        </p:txBody>
      </p:sp>
      <p:sp>
        <p:nvSpPr>
          <p:cNvPr id="77" name="Google Shape;77;p15"/>
          <p:cNvSpPr/>
          <p:nvPr/>
        </p:nvSpPr>
        <p:spPr>
          <a:xfrm>
            <a:off x="324369" y="4374925"/>
            <a:ext cx="1207500" cy="627600"/>
          </a:xfrm>
          <a:prstGeom prst="roundRect">
            <a:avLst>
              <a:gd fmla="val 16667" name="adj"/>
            </a:avLst>
          </a:prstGeom>
          <a:solidFill>
            <a:srgbClr val="EF77EF">
              <a:alpha val="1438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GB">
                <a:solidFill>
                  <a:srgbClr val="000000"/>
                </a:solidFill>
                <a:latin typeface="Calibri"/>
                <a:ea typeface="Calibri"/>
                <a:cs typeface="Calibri"/>
                <a:sym typeface="Calibri"/>
              </a:rPr>
              <a:t>connected</a:t>
            </a:r>
            <a:endParaRPr b="1">
              <a:solidFill>
                <a:srgbClr val="000000"/>
              </a:solidFill>
              <a:latin typeface="Calibri"/>
              <a:ea typeface="Calibri"/>
              <a:cs typeface="Calibri"/>
              <a:sym typeface="Calibri"/>
            </a:endParaRPr>
          </a:p>
        </p:txBody>
      </p:sp>
      <p:sp>
        <p:nvSpPr>
          <p:cNvPr id="78" name="Google Shape;78;p15"/>
          <p:cNvSpPr/>
          <p:nvPr/>
        </p:nvSpPr>
        <p:spPr>
          <a:xfrm>
            <a:off x="6437604" y="852475"/>
            <a:ext cx="2341500" cy="627600"/>
          </a:xfrm>
          <a:prstGeom prst="roundRect">
            <a:avLst>
              <a:gd fmla="val 16667" name="adj"/>
            </a:avLst>
          </a:prstGeom>
          <a:solidFill>
            <a:srgbClr val="EF77EF">
              <a:alpha val="4125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Font typeface="Arial"/>
              <a:buNone/>
            </a:pPr>
            <a:r>
              <a:rPr lang="en-GB" sz="1000">
                <a:solidFill>
                  <a:srgbClr val="000000"/>
                </a:solidFill>
                <a:latin typeface="Calibri"/>
                <a:ea typeface="Calibri"/>
                <a:cs typeface="Calibri"/>
                <a:sym typeface="Calibri"/>
              </a:rPr>
              <a:t>Researchers can use tools and processes to publish, find, (re)use and adapt computational methods to new contexts </a:t>
            </a:r>
            <a:endParaRPr sz="1000">
              <a:solidFill>
                <a:srgbClr val="000000"/>
              </a:solidFill>
              <a:latin typeface="Calibri"/>
              <a:ea typeface="Calibri"/>
              <a:cs typeface="Calibri"/>
              <a:sym typeface="Calibri"/>
            </a:endParaRPr>
          </a:p>
        </p:txBody>
      </p:sp>
      <p:sp>
        <p:nvSpPr>
          <p:cNvPr id="79" name="Google Shape;79;p15"/>
          <p:cNvSpPr/>
          <p:nvPr/>
        </p:nvSpPr>
        <p:spPr>
          <a:xfrm>
            <a:off x="6437604" y="2948540"/>
            <a:ext cx="2341500" cy="627600"/>
          </a:xfrm>
          <a:prstGeom prst="roundRect">
            <a:avLst>
              <a:gd fmla="val 16667" name="adj"/>
            </a:avLst>
          </a:prstGeom>
          <a:solidFill>
            <a:srgbClr val="EF77EF">
              <a:alpha val="143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solidFill>
                  <a:srgbClr val="000000"/>
                </a:solidFill>
                <a:latin typeface="Calibri"/>
                <a:ea typeface="Calibri"/>
                <a:cs typeface="Calibri"/>
                <a:sym typeface="Calibri"/>
              </a:rPr>
              <a:t>Key methods and workflows are</a:t>
            </a:r>
            <a:r>
              <a:rPr lang="en-GB" sz="1000">
                <a:solidFill>
                  <a:srgbClr val="000000"/>
                </a:solidFill>
                <a:latin typeface="Calibri"/>
                <a:ea typeface="Calibri"/>
                <a:cs typeface="Calibri"/>
                <a:sym typeface="Calibri"/>
              </a:rPr>
              <a:t> adaptable</a:t>
            </a:r>
            <a:r>
              <a:rPr lang="en-GB" sz="1000">
                <a:solidFill>
                  <a:srgbClr val="000000"/>
                </a:solidFill>
                <a:latin typeface="Calibri"/>
                <a:ea typeface="Calibri"/>
                <a:cs typeface="Calibri"/>
                <a:sym typeface="Calibri"/>
              </a:rPr>
              <a:t> to work in different research contexts with documentation of</a:t>
            </a:r>
            <a:r>
              <a:rPr lang="en-GB" sz="1000">
                <a:solidFill>
                  <a:srgbClr val="FF0000"/>
                </a:solidFill>
                <a:latin typeface="Calibri"/>
                <a:ea typeface="Calibri"/>
                <a:cs typeface="Calibri"/>
                <a:sym typeface="Calibri"/>
              </a:rPr>
              <a:t> </a:t>
            </a:r>
            <a:r>
              <a:rPr lang="en-GB" sz="1000">
                <a:solidFill>
                  <a:srgbClr val="000000"/>
                </a:solidFill>
                <a:latin typeface="Calibri"/>
                <a:ea typeface="Calibri"/>
                <a:cs typeface="Calibri"/>
                <a:sym typeface="Calibri"/>
              </a:rPr>
              <a:t>their uses and limitations</a:t>
            </a:r>
            <a:endParaRPr sz="1000">
              <a:solidFill>
                <a:srgbClr val="000000"/>
              </a:solidFill>
              <a:latin typeface="Calibri"/>
              <a:ea typeface="Calibri"/>
              <a:cs typeface="Calibri"/>
              <a:sym typeface="Calibri"/>
            </a:endParaRPr>
          </a:p>
        </p:txBody>
      </p:sp>
      <p:sp>
        <p:nvSpPr>
          <p:cNvPr id="80" name="Google Shape;80;p15"/>
          <p:cNvSpPr/>
          <p:nvPr/>
        </p:nvSpPr>
        <p:spPr>
          <a:xfrm>
            <a:off x="6437604" y="1558351"/>
            <a:ext cx="2341500" cy="627600"/>
          </a:xfrm>
          <a:prstGeom prst="roundRect">
            <a:avLst>
              <a:gd fmla="val 16667" name="adj"/>
            </a:avLst>
          </a:prstGeom>
          <a:solidFill>
            <a:srgbClr val="EF77EF">
              <a:alpha val="1438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solidFill>
                  <a:srgbClr val="000000"/>
                </a:solidFill>
                <a:latin typeface="Calibri"/>
                <a:ea typeface="Calibri"/>
                <a:cs typeface="Calibri"/>
                <a:sym typeface="Calibri"/>
              </a:rPr>
              <a:t>Documentation and training programs available to help researchers adopt appropriate standards</a:t>
            </a:r>
            <a:endParaRPr sz="1000">
              <a:solidFill>
                <a:srgbClr val="000000"/>
              </a:solidFill>
              <a:latin typeface="Calibri"/>
              <a:ea typeface="Calibri"/>
              <a:cs typeface="Calibri"/>
              <a:sym typeface="Calibri"/>
            </a:endParaRPr>
          </a:p>
        </p:txBody>
      </p:sp>
      <p:sp>
        <p:nvSpPr>
          <p:cNvPr id="81" name="Google Shape;81;p15"/>
          <p:cNvSpPr txBox="1"/>
          <p:nvPr/>
        </p:nvSpPr>
        <p:spPr>
          <a:xfrm>
            <a:off x="302600" y="136425"/>
            <a:ext cx="8471400" cy="3771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2000">
                <a:solidFill>
                  <a:srgbClr val="000000"/>
                </a:solidFill>
                <a:latin typeface="Calibri"/>
                <a:ea typeface="Calibri"/>
                <a:cs typeface="Calibri"/>
                <a:sym typeface="Calibri"/>
              </a:rPr>
              <a:t>LDaCA Analyse - Strategic Overview</a:t>
            </a:r>
            <a:endParaRPr b="1" sz="2000">
              <a:latin typeface="Calibri"/>
              <a:ea typeface="Calibri"/>
              <a:cs typeface="Calibri"/>
              <a:sym typeface="Calibri"/>
            </a:endParaRPr>
          </a:p>
        </p:txBody>
      </p:sp>
      <p:sp>
        <p:nvSpPr>
          <p:cNvPr id="82" name="Google Shape;82;p15"/>
          <p:cNvSpPr/>
          <p:nvPr/>
        </p:nvSpPr>
        <p:spPr>
          <a:xfrm>
            <a:off x="339819" y="2271075"/>
            <a:ext cx="1176600" cy="626400"/>
          </a:xfrm>
          <a:prstGeom prst="roundRect">
            <a:avLst>
              <a:gd fmla="val 16667" name="adj"/>
            </a:avLst>
          </a:prstGeom>
          <a:solidFill>
            <a:srgbClr val="EF77EF">
              <a:alpha val="4125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1" lang="en-GB">
                <a:solidFill>
                  <a:srgbClr val="000000"/>
                </a:solidFill>
                <a:latin typeface="Calibri"/>
                <a:ea typeface="Calibri"/>
                <a:cs typeface="Calibri"/>
                <a:sym typeface="Calibri"/>
              </a:rPr>
              <a:t>findable</a:t>
            </a:r>
            <a:endParaRPr b="1">
              <a:solidFill>
                <a:srgbClr val="000000"/>
              </a:solidFill>
              <a:latin typeface="Calibri"/>
              <a:ea typeface="Calibri"/>
              <a:cs typeface="Calibri"/>
              <a:sym typeface="Calibri"/>
            </a:endParaRPr>
          </a:p>
        </p:txBody>
      </p:sp>
      <p:sp>
        <p:nvSpPr>
          <p:cNvPr id="83" name="Google Shape;83;p15"/>
          <p:cNvSpPr/>
          <p:nvPr/>
        </p:nvSpPr>
        <p:spPr>
          <a:xfrm>
            <a:off x="3368250" y="852475"/>
            <a:ext cx="2976300" cy="4134300"/>
          </a:xfrm>
          <a:prstGeom prst="homePlate">
            <a:avLst>
              <a:gd fmla="val 16676" name="adj"/>
            </a:avLst>
          </a:prstGeom>
          <a:solidFill>
            <a:srgbClr val="EF77EF">
              <a:alpha val="14380"/>
            </a:srgbClr>
          </a:solidFill>
          <a:ln cap="flat" cmpd="sng" w="9525">
            <a:solidFill>
              <a:srgbClr val="EF77EF"/>
            </a:solidFill>
            <a:prstDash val="solid"/>
            <a:round/>
            <a:headEnd len="sm" w="sm" type="none"/>
            <a:tailEnd len="sm" w="sm" type="none"/>
          </a:ln>
        </p:spPr>
        <p:txBody>
          <a:bodyPr anchorCtr="0" anchor="ctr" bIns="34275" lIns="67500" spcFirstLastPara="1" rIns="68575" wrap="square" tIns="34275">
            <a:noAutofit/>
          </a:bodyPr>
          <a:lstStyle/>
          <a:p>
            <a:pPr indent="-130175" lvl="0" marL="139700" marR="0" rtl="0" algn="l">
              <a:lnSpc>
                <a:spcPct val="100000"/>
              </a:lnSpc>
              <a:spcBef>
                <a:spcPts val="0"/>
              </a:spcBef>
              <a:spcAft>
                <a:spcPts val="0"/>
              </a:spcAft>
              <a:buClr>
                <a:srgbClr val="000000"/>
              </a:buClr>
              <a:buSzPts val="850"/>
              <a:buFont typeface="Calibri"/>
              <a:buChar char="-"/>
            </a:pPr>
            <a:r>
              <a:rPr lang="en-GB" sz="850">
                <a:solidFill>
                  <a:srgbClr val="000000"/>
                </a:solidFill>
                <a:latin typeface="Calibri"/>
                <a:ea typeface="Calibri"/>
                <a:cs typeface="Calibri"/>
                <a:sym typeface="Calibri"/>
              </a:rPr>
              <a:t>Document, demonstrate and teach methods </a:t>
            </a:r>
            <a:br>
              <a:rPr lang="en-GB" sz="850">
                <a:solidFill>
                  <a:srgbClr val="000000"/>
                </a:solidFill>
                <a:latin typeface="Calibri"/>
                <a:ea typeface="Calibri"/>
                <a:cs typeface="Calibri"/>
                <a:sym typeface="Calibri"/>
              </a:rPr>
            </a:br>
            <a:r>
              <a:rPr lang="en-GB" sz="850">
                <a:solidFill>
                  <a:srgbClr val="000000"/>
                </a:solidFill>
                <a:latin typeface="Calibri"/>
                <a:ea typeface="Calibri"/>
                <a:cs typeface="Calibri"/>
                <a:sym typeface="Calibri"/>
              </a:rPr>
              <a:t>for publishing findable, (re)usable and </a:t>
            </a:r>
            <a:br>
              <a:rPr lang="en-GB" sz="850">
                <a:solidFill>
                  <a:srgbClr val="000000"/>
                </a:solidFill>
                <a:latin typeface="Calibri"/>
                <a:ea typeface="Calibri"/>
                <a:cs typeface="Calibri"/>
                <a:sym typeface="Calibri"/>
              </a:rPr>
            </a:br>
            <a:r>
              <a:rPr lang="en-GB" sz="850">
                <a:solidFill>
                  <a:srgbClr val="000000"/>
                </a:solidFill>
                <a:latin typeface="Calibri"/>
                <a:ea typeface="Calibri"/>
                <a:cs typeface="Calibri"/>
                <a:sym typeface="Calibri"/>
              </a:rPr>
              <a:t>readable research code</a:t>
            </a:r>
            <a:endParaRPr sz="850">
              <a:solidFill>
                <a:srgbClr val="000000"/>
              </a:solidFill>
              <a:latin typeface="Calibri"/>
              <a:ea typeface="Calibri"/>
              <a:cs typeface="Calibri"/>
              <a:sym typeface="Calibri"/>
            </a:endParaRPr>
          </a:p>
          <a:p>
            <a:pPr indent="-130175" lvl="0" marL="139700" marR="0" rtl="0" algn="l">
              <a:lnSpc>
                <a:spcPct val="100000"/>
              </a:lnSpc>
              <a:spcBef>
                <a:spcPts val="800"/>
              </a:spcBef>
              <a:spcAft>
                <a:spcPts val="0"/>
              </a:spcAft>
              <a:buClr>
                <a:srgbClr val="000000"/>
              </a:buClr>
              <a:buSzPts val="850"/>
              <a:buFont typeface="Calibri"/>
              <a:buChar char="-"/>
            </a:pPr>
            <a:r>
              <a:rPr lang="en-GB" sz="850">
                <a:solidFill>
                  <a:srgbClr val="000000"/>
                </a:solidFill>
                <a:latin typeface="Calibri"/>
                <a:ea typeface="Calibri"/>
                <a:cs typeface="Calibri"/>
                <a:sym typeface="Calibri"/>
              </a:rPr>
              <a:t>Train researchers in data management, standardised data formats, preparation, transformation and wrangling of data for analysis</a:t>
            </a:r>
            <a:endParaRPr sz="850">
              <a:solidFill>
                <a:srgbClr val="000000"/>
              </a:solidFill>
              <a:latin typeface="Calibri"/>
              <a:ea typeface="Calibri"/>
              <a:cs typeface="Calibri"/>
              <a:sym typeface="Calibri"/>
            </a:endParaRPr>
          </a:p>
          <a:p>
            <a:pPr indent="-130175" lvl="0" marL="139700" marR="0" rtl="0" algn="l">
              <a:lnSpc>
                <a:spcPct val="100000"/>
              </a:lnSpc>
              <a:spcBef>
                <a:spcPts val="800"/>
              </a:spcBef>
              <a:spcAft>
                <a:spcPts val="0"/>
              </a:spcAft>
              <a:buClr>
                <a:srgbClr val="000000"/>
              </a:buClr>
              <a:buSzPts val="850"/>
              <a:buFont typeface="Calibri"/>
              <a:buChar char="-"/>
            </a:pPr>
            <a:r>
              <a:rPr lang="en-GB" sz="850">
                <a:solidFill>
                  <a:srgbClr val="000000"/>
                </a:solidFill>
                <a:latin typeface="Calibri"/>
                <a:ea typeface="Calibri"/>
                <a:cs typeface="Calibri"/>
                <a:sym typeface="Calibri"/>
              </a:rPr>
              <a:t>Document methods and develop toolkits to transform BYO (meta)data to standard formats without compromising data integrity</a:t>
            </a:r>
            <a:endParaRPr sz="850">
              <a:solidFill>
                <a:srgbClr val="000000"/>
              </a:solidFill>
              <a:latin typeface="Calibri"/>
              <a:ea typeface="Calibri"/>
              <a:cs typeface="Calibri"/>
              <a:sym typeface="Calibri"/>
            </a:endParaRPr>
          </a:p>
          <a:p>
            <a:pPr indent="-130175" lvl="0" marL="139700" marR="0" rtl="0" algn="l">
              <a:lnSpc>
                <a:spcPct val="100000"/>
              </a:lnSpc>
              <a:spcBef>
                <a:spcPts val="800"/>
              </a:spcBef>
              <a:spcAft>
                <a:spcPts val="0"/>
              </a:spcAft>
              <a:buClr>
                <a:srgbClr val="000000"/>
              </a:buClr>
              <a:buSzPts val="850"/>
              <a:buFont typeface="Calibri"/>
              <a:buChar char="-"/>
            </a:pPr>
            <a:r>
              <a:rPr lang="en-GB" sz="850">
                <a:solidFill>
                  <a:srgbClr val="000000"/>
                </a:solidFill>
                <a:latin typeface="Calibri"/>
                <a:ea typeface="Calibri"/>
                <a:cs typeface="Calibri"/>
                <a:sym typeface="Calibri"/>
              </a:rPr>
              <a:t>Train researchers in computational methods application and development</a:t>
            </a:r>
            <a:endParaRPr sz="850">
              <a:solidFill>
                <a:srgbClr val="000000"/>
              </a:solidFill>
              <a:latin typeface="Calibri"/>
              <a:ea typeface="Calibri"/>
              <a:cs typeface="Calibri"/>
              <a:sym typeface="Calibri"/>
            </a:endParaRPr>
          </a:p>
          <a:p>
            <a:pPr indent="-130175" lvl="0" marL="139700" marR="0" rtl="0" algn="l">
              <a:lnSpc>
                <a:spcPct val="100000"/>
              </a:lnSpc>
              <a:spcBef>
                <a:spcPts val="800"/>
              </a:spcBef>
              <a:spcAft>
                <a:spcPts val="0"/>
              </a:spcAft>
              <a:buClr>
                <a:srgbClr val="000000"/>
              </a:buClr>
              <a:buSzPts val="850"/>
              <a:buFont typeface="Calibri"/>
              <a:buChar char="-"/>
            </a:pPr>
            <a:r>
              <a:rPr lang="en-GB" sz="850">
                <a:solidFill>
                  <a:srgbClr val="444746"/>
                </a:solidFill>
                <a:latin typeface="Calibri"/>
                <a:ea typeface="Calibri"/>
                <a:cs typeface="Calibri"/>
                <a:sym typeface="Calibri"/>
              </a:rPr>
              <a:t>Develop guidance and train researchers on how to choose appropriate analytical approaches eg ethical and appropriate use of AI - raise awareness of computational methods</a:t>
            </a:r>
            <a:endParaRPr sz="850">
              <a:solidFill>
                <a:srgbClr val="000000"/>
              </a:solidFill>
              <a:latin typeface="Calibri"/>
              <a:ea typeface="Calibri"/>
              <a:cs typeface="Calibri"/>
              <a:sym typeface="Calibri"/>
            </a:endParaRPr>
          </a:p>
          <a:p>
            <a:pPr indent="-130175" lvl="0" marL="139700" marR="0" rtl="0" algn="l">
              <a:lnSpc>
                <a:spcPct val="100000"/>
              </a:lnSpc>
              <a:spcBef>
                <a:spcPts val="800"/>
              </a:spcBef>
              <a:spcAft>
                <a:spcPts val="0"/>
              </a:spcAft>
              <a:buClr>
                <a:srgbClr val="000000"/>
              </a:buClr>
              <a:buSzPts val="850"/>
              <a:buFont typeface="Calibri"/>
              <a:buChar char="-"/>
            </a:pPr>
            <a:r>
              <a:rPr lang="en-GB" sz="850">
                <a:solidFill>
                  <a:srgbClr val="444746"/>
                </a:solidFill>
                <a:latin typeface="Calibri"/>
                <a:ea typeface="Calibri"/>
                <a:cs typeface="Calibri"/>
                <a:sym typeface="Calibri"/>
              </a:rPr>
              <a:t>Identify promising methods, practices and workflows, including emerging methods (AI) and adapt them across research contexts ethically and appropriately</a:t>
            </a:r>
            <a:endParaRPr sz="850">
              <a:solidFill>
                <a:srgbClr val="000000"/>
              </a:solidFill>
              <a:latin typeface="Calibri"/>
              <a:ea typeface="Calibri"/>
              <a:cs typeface="Calibri"/>
              <a:sym typeface="Calibri"/>
            </a:endParaRPr>
          </a:p>
          <a:p>
            <a:pPr indent="-130175" lvl="0" marL="139700" marR="0" rtl="0" algn="l">
              <a:lnSpc>
                <a:spcPct val="100000"/>
              </a:lnSpc>
              <a:spcBef>
                <a:spcPts val="800"/>
              </a:spcBef>
              <a:spcAft>
                <a:spcPts val="0"/>
              </a:spcAft>
              <a:buClr>
                <a:srgbClr val="000000"/>
              </a:buClr>
              <a:buSzPts val="850"/>
              <a:buFont typeface="Calibri"/>
              <a:buChar char="-"/>
            </a:pPr>
            <a:r>
              <a:rPr lang="en-GB" sz="850">
                <a:solidFill>
                  <a:srgbClr val="000000"/>
                </a:solidFill>
                <a:latin typeface="Calibri"/>
                <a:ea typeface="Calibri"/>
                <a:cs typeface="Calibri"/>
                <a:sym typeface="Calibri"/>
              </a:rPr>
              <a:t>Develop data connections</a:t>
            </a:r>
            <a:r>
              <a:rPr lang="en-GB" sz="850">
                <a:solidFill>
                  <a:srgbClr val="000000"/>
                </a:solidFill>
                <a:latin typeface="Calibri"/>
                <a:ea typeface="Calibri"/>
                <a:cs typeface="Calibri"/>
                <a:sym typeface="Calibri"/>
              </a:rPr>
              <a:t> that link Language Data Commons compliant data - in portal and BYO - to analytical tools</a:t>
            </a:r>
            <a:endParaRPr sz="850">
              <a:solidFill>
                <a:srgbClr val="000000"/>
              </a:solidFill>
              <a:latin typeface="Calibri"/>
              <a:ea typeface="Calibri"/>
              <a:cs typeface="Calibri"/>
              <a:sym typeface="Calibri"/>
            </a:endParaRPr>
          </a:p>
          <a:p>
            <a:pPr indent="-130175" lvl="0" marL="139700" marR="0" rtl="0" algn="l">
              <a:lnSpc>
                <a:spcPct val="100000"/>
              </a:lnSpc>
              <a:spcBef>
                <a:spcPts val="800"/>
              </a:spcBef>
              <a:spcAft>
                <a:spcPts val="800"/>
              </a:spcAft>
              <a:buClr>
                <a:srgbClr val="000000"/>
              </a:buClr>
              <a:buSzPts val="850"/>
              <a:buFont typeface="Calibri"/>
              <a:buChar char="-"/>
            </a:pPr>
            <a:r>
              <a:rPr lang="en-GB" sz="850">
                <a:solidFill>
                  <a:srgbClr val="000000"/>
                </a:solidFill>
                <a:latin typeface="Calibri"/>
                <a:ea typeface="Calibri"/>
                <a:cs typeface="Calibri"/>
                <a:sym typeface="Calibri"/>
              </a:rPr>
              <a:t>Develop and demonstrate end-to-end best-practice workflows to connect </a:t>
            </a:r>
            <a:br>
              <a:rPr lang="en-GB" sz="850">
                <a:solidFill>
                  <a:srgbClr val="000000"/>
                </a:solidFill>
                <a:latin typeface="Calibri"/>
                <a:ea typeface="Calibri"/>
                <a:cs typeface="Calibri"/>
                <a:sym typeface="Calibri"/>
              </a:rPr>
            </a:br>
            <a:r>
              <a:rPr lang="en-GB" sz="850">
                <a:solidFill>
                  <a:srgbClr val="000000"/>
                </a:solidFill>
                <a:latin typeface="Calibri"/>
                <a:ea typeface="Calibri"/>
                <a:cs typeface="Calibri"/>
                <a:sym typeface="Calibri"/>
              </a:rPr>
              <a:t>researchers, data and computational tools</a:t>
            </a:r>
            <a:endParaRPr sz="850">
              <a:solidFill>
                <a:srgbClr val="000000"/>
              </a:solidFill>
              <a:latin typeface="Calibri"/>
              <a:ea typeface="Calibri"/>
              <a:cs typeface="Calibri"/>
              <a:sym typeface="Calibri"/>
            </a:endParaRPr>
          </a:p>
        </p:txBody>
      </p:sp>
      <p:sp>
        <p:nvSpPr>
          <p:cNvPr id="84" name="Google Shape;84;p15"/>
          <p:cNvSpPr/>
          <p:nvPr/>
        </p:nvSpPr>
        <p:spPr>
          <a:xfrm>
            <a:off x="6437604" y="2271081"/>
            <a:ext cx="2341500" cy="626400"/>
          </a:xfrm>
          <a:prstGeom prst="roundRect">
            <a:avLst>
              <a:gd fmla="val 16667" name="adj"/>
            </a:avLst>
          </a:prstGeom>
          <a:solidFill>
            <a:srgbClr val="EF77EF">
              <a:alpha val="4125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GB" sz="1000">
                <a:solidFill>
                  <a:srgbClr val="000000"/>
                </a:solidFill>
                <a:latin typeface="Calibri"/>
                <a:ea typeface="Calibri"/>
                <a:cs typeface="Calibri"/>
                <a:sym typeface="Calibri"/>
              </a:rPr>
              <a:t>LDaCA </a:t>
            </a:r>
            <a:r>
              <a:rPr lang="en-GB" sz="1000">
                <a:solidFill>
                  <a:srgbClr val="000000"/>
                </a:solidFill>
                <a:latin typeface="Calibri"/>
                <a:ea typeface="Calibri"/>
                <a:cs typeface="Calibri"/>
                <a:sym typeface="Calibri"/>
              </a:rPr>
              <a:t>infrastructure is interconnected, </a:t>
            </a:r>
            <a:r>
              <a:rPr lang="en-GB" sz="1000">
                <a:solidFill>
                  <a:srgbClr val="000000"/>
                </a:solidFill>
                <a:latin typeface="Calibri"/>
                <a:ea typeface="Calibri"/>
                <a:cs typeface="Calibri"/>
                <a:sym typeface="Calibri"/>
              </a:rPr>
              <a:t>with suitable interfaces, data formats and guidance on </a:t>
            </a:r>
            <a:endParaRPr sz="1000">
              <a:solidFill>
                <a:srgbClr val="000000"/>
              </a:solidFill>
              <a:latin typeface="Calibri"/>
              <a:ea typeface="Calibri"/>
              <a:cs typeface="Calibri"/>
              <a:sym typeface="Calibri"/>
            </a:endParaRPr>
          </a:p>
          <a:p>
            <a:pPr indent="0" lvl="0" marL="0" marR="0" rtl="0" algn="ctr">
              <a:spcBef>
                <a:spcPts val="0"/>
              </a:spcBef>
              <a:spcAft>
                <a:spcPts val="0"/>
              </a:spcAft>
              <a:buNone/>
            </a:pPr>
            <a:r>
              <a:rPr lang="en-GB" sz="1000">
                <a:solidFill>
                  <a:srgbClr val="000000"/>
                </a:solidFill>
                <a:latin typeface="Calibri"/>
                <a:ea typeface="Calibri"/>
                <a:cs typeface="Calibri"/>
                <a:sym typeface="Calibri"/>
              </a:rPr>
              <a:t>appropriate usage</a:t>
            </a:r>
            <a:endParaRPr sz="1000">
              <a:solidFill>
                <a:srgbClr val="000000"/>
              </a:solidFill>
              <a:latin typeface="Calibri"/>
              <a:ea typeface="Calibri"/>
              <a:cs typeface="Calibri"/>
              <a:sym typeface="Calibri"/>
            </a:endParaRPr>
          </a:p>
        </p:txBody>
      </p:sp>
      <p:sp>
        <p:nvSpPr>
          <p:cNvPr id="85" name="Google Shape;85;p15"/>
          <p:cNvSpPr/>
          <p:nvPr/>
        </p:nvSpPr>
        <p:spPr>
          <a:xfrm>
            <a:off x="1617031" y="2271074"/>
            <a:ext cx="1584900" cy="626400"/>
          </a:xfrm>
          <a:prstGeom prst="roundRect">
            <a:avLst>
              <a:gd fmla="val 16667" name="adj"/>
            </a:avLst>
          </a:prstGeom>
          <a:solidFill>
            <a:srgbClr val="EF77EF">
              <a:alpha val="4125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GB" sz="1000">
                <a:solidFill>
                  <a:srgbClr val="000000"/>
                </a:solidFill>
                <a:latin typeface="Calibri"/>
                <a:ea typeface="Calibri"/>
                <a:cs typeface="Calibri"/>
                <a:sym typeface="Calibri"/>
              </a:rPr>
              <a:t>Appropriate implementations of analytical methods are hard to find</a:t>
            </a:r>
            <a:endParaRPr sz="1000">
              <a:solidFill>
                <a:srgbClr val="000000"/>
              </a:solidFill>
              <a:latin typeface="Calibri"/>
              <a:ea typeface="Calibri"/>
              <a:cs typeface="Calibri"/>
              <a:sym typeface="Calibri"/>
            </a:endParaRPr>
          </a:p>
        </p:txBody>
      </p:sp>
      <p:sp>
        <p:nvSpPr>
          <p:cNvPr id="86" name="Google Shape;86;p15"/>
          <p:cNvSpPr txBox="1"/>
          <p:nvPr/>
        </p:nvSpPr>
        <p:spPr>
          <a:xfrm>
            <a:off x="7752025" y="18850"/>
            <a:ext cx="1348500" cy="284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900">
                <a:solidFill>
                  <a:srgbClr val="595959"/>
                </a:solidFill>
              </a:rPr>
              <a:t>Version: 2025-07-31</a:t>
            </a:r>
            <a:endParaRPr sz="900">
              <a:solidFill>
                <a:srgbClr val="595959"/>
              </a:solidFill>
            </a:endParaRPr>
          </a:p>
        </p:txBody>
      </p:sp>
      <p:sp>
        <p:nvSpPr>
          <p:cNvPr id="87" name="Google Shape;87;p15"/>
          <p:cNvSpPr/>
          <p:nvPr/>
        </p:nvSpPr>
        <p:spPr>
          <a:xfrm>
            <a:off x="324369" y="3648838"/>
            <a:ext cx="1207500" cy="627600"/>
          </a:xfrm>
          <a:prstGeom prst="roundRect">
            <a:avLst>
              <a:gd fmla="val 16667" name="adj"/>
            </a:avLst>
          </a:prstGeom>
          <a:solidFill>
            <a:srgbClr val="EF77EF">
              <a:alpha val="4125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1" lang="en-GB">
                <a:solidFill>
                  <a:srgbClr val="000000"/>
                </a:solidFill>
                <a:latin typeface="Calibri"/>
                <a:ea typeface="Calibri"/>
                <a:cs typeface="Calibri"/>
                <a:sym typeface="Calibri"/>
              </a:rPr>
              <a:t>contextually appropriate</a:t>
            </a:r>
            <a:endParaRPr b="1">
              <a:solidFill>
                <a:srgbClr val="000000"/>
              </a:solidFill>
              <a:latin typeface="Calibri"/>
              <a:ea typeface="Calibri"/>
              <a:cs typeface="Calibri"/>
              <a:sym typeface="Calibri"/>
            </a:endParaRPr>
          </a:p>
        </p:txBody>
      </p:sp>
      <p:sp>
        <p:nvSpPr>
          <p:cNvPr id="88" name="Google Shape;88;p15"/>
          <p:cNvSpPr/>
          <p:nvPr/>
        </p:nvSpPr>
        <p:spPr>
          <a:xfrm>
            <a:off x="1617031" y="3667289"/>
            <a:ext cx="1584900" cy="627600"/>
          </a:xfrm>
          <a:prstGeom prst="roundRect">
            <a:avLst>
              <a:gd fmla="val 16667" name="adj"/>
            </a:avLst>
          </a:prstGeom>
          <a:solidFill>
            <a:srgbClr val="EF77EF">
              <a:alpha val="4125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solidFill>
                  <a:srgbClr val="000000"/>
                </a:solidFill>
                <a:latin typeface="Calibri"/>
                <a:ea typeface="Calibri"/>
                <a:cs typeface="Calibri"/>
                <a:sym typeface="Calibri"/>
              </a:rPr>
              <a:t>It is unclear when and how methods can and should be (re)used in different research contexts</a:t>
            </a:r>
            <a:endParaRPr sz="1000">
              <a:solidFill>
                <a:srgbClr val="000000"/>
              </a:solidFill>
              <a:latin typeface="Calibri"/>
              <a:ea typeface="Calibri"/>
              <a:cs typeface="Calibri"/>
              <a:sym typeface="Calibri"/>
            </a:endParaRPr>
          </a:p>
        </p:txBody>
      </p:sp>
      <p:sp>
        <p:nvSpPr>
          <p:cNvPr id="89" name="Google Shape;89;p15"/>
          <p:cNvSpPr/>
          <p:nvPr/>
        </p:nvSpPr>
        <p:spPr>
          <a:xfrm>
            <a:off x="6437604" y="3664777"/>
            <a:ext cx="2341500" cy="627600"/>
          </a:xfrm>
          <a:prstGeom prst="roundRect">
            <a:avLst>
              <a:gd fmla="val 16667" name="adj"/>
            </a:avLst>
          </a:prstGeom>
          <a:solidFill>
            <a:srgbClr val="EF77EF">
              <a:alpha val="4125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lang="en-GB" sz="1000">
                <a:solidFill>
                  <a:srgbClr val="000000"/>
                </a:solidFill>
                <a:latin typeface="Calibri"/>
                <a:ea typeface="Calibri"/>
                <a:cs typeface="Calibri"/>
                <a:sym typeface="Calibri"/>
              </a:rPr>
              <a:t>Researchers are more aware of computational methods, and can use LDaCA guidance to match appropriate methods to their and </a:t>
            </a:r>
            <a:r>
              <a:rPr lang="en-GB" sz="1000">
                <a:solidFill>
                  <a:srgbClr val="000000"/>
                </a:solidFill>
                <a:latin typeface="Calibri"/>
                <a:ea typeface="Calibri"/>
                <a:cs typeface="Calibri"/>
                <a:sym typeface="Calibri"/>
              </a:rPr>
              <a:t>others</a:t>
            </a:r>
            <a:r>
              <a:rPr lang="en-GB" sz="1000">
                <a:solidFill>
                  <a:srgbClr val="000000"/>
                </a:solidFill>
                <a:latin typeface="Calibri"/>
                <a:ea typeface="Calibri"/>
                <a:cs typeface="Calibri"/>
                <a:sym typeface="Calibri"/>
              </a:rPr>
              <a:t>’ data.</a:t>
            </a:r>
            <a:endParaRPr sz="1000">
              <a:solidFill>
                <a:srgbClr val="000000"/>
              </a:solidFill>
              <a:latin typeface="Calibri"/>
              <a:ea typeface="Calibri"/>
              <a:cs typeface="Calibri"/>
              <a:sym typeface="Calibri"/>
            </a:endParaRPr>
          </a:p>
        </p:txBody>
      </p:sp>
      <p:sp>
        <p:nvSpPr>
          <p:cNvPr id="90" name="Google Shape;90;p15"/>
          <p:cNvSpPr txBox="1"/>
          <p:nvPr/>
        </p:nvSpPr>
        <p:spPr>
          <a:xfrm>
            <a:off x="1540875" y="516600"/>
            <a:ext cx="17928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500">
                <a:solidFill>
                  <a:srgbClr val="000000"/>
                </a:solidFill>
                <a:latin typeface="Calibri"/>
                <a:ea typeface="Calibri"/>
                <a:cs typeface="Calibri"/>
                <a:sym typeface="Calibri"/>
              </a:rPr>
              <a:t>Starting </a:t>
            </a:r>
            <a:r>
              <a:rPr b="1" i="0" lang="en-GB" sz="1500" u="none" cap="none" strike="noStrike">
                <a:solidFill>
                  <a:srgbClr val="000000"/>
                </a:solidFill>
                <a:latin typeface="Calibri"/>
                <a:ea typeface="Calibri"/>
                <a:cs typeface="Calibri"/>
                <a:sym typeface="Calibri"/>
              </a:rPr>
              <a:t>state (2021)</a:t>
            </a:r>
            <a:endParaRPr b="1" sz="1500">
              <a:latin typeface="Calibri"/>
              <a:ea typeface="Calibri"/>
              <a:cs typeface="Calibri"/>
              <a:sym typeface="Calibri"/>
            </a:endParaRPr>
          </a:p>
        </p:txBody>
      </p:sp>
      <p:sp>
        <p:nvSpPr>
          <p:cNvPr id="91" name="Google Shape;91;p15"/>
          <p:cNvSpPr txBox="1"/>
          <p:nvPr/>
        </p:nvSpPr>
        <p:spPr>
          <a:xfrm>
            <a:off x="6304575" y="522126"/>
            <a:ext cx="23712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1500">
                <a:solidFill>
                  <a:srgbClr val="000000"/>
                </a:solidFill>
                <a:latin typeface="Calibri"/>
                <a:ea typeface="Calibri"/>
                <a:cs typeface="Calibri"/>
                <a:sym typeface="Calibri"/>
              </a:rPr>
              <a:t>Desired state (2028)</a:t>
            </a:r>
            <a:endParaRPr b="1" sz="1500">
              <a:latin typeface="Calibri"/>
              <a:ea typeface="Calibri"/>
              <a:cs typeface="Calibri"/>
              <a:sym typeface="Calibri"/>
            </a:endParaRPr>
          </a:p>
        </p:txBody>
      </p:sp>
      <p:sp>
        <p:nvSpPr>
          <p:cNvPr id="92" name="Google Shape;92;p15"/>
          <p:cNvSpPr txBox="1"/>
          <p:nvPr/>
        </p:nvSpPr>
        <p:spPr>
          <a:xfrm>
            <a:off x="3448725" y="522126"/>
            <a:ext cx="23931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1500">
                <a:solidFill>
                  <a:srgbClr val="000000"/>
                </a:solidFill>
                <a:latin typeface="Calibri"/>
                <a:ea typeface="Calibri"/>
                <a:cs typeface="Calibri"/>
                <a:sym typeface="Calibri"/>
              </a:rPr>
              <a:t>Activities</a:t>
            </a:r>
            <a:endParaRPr b="1" sz="1500">
              <a:latin typeface="Calibri"/>
              <a:ea typeface="Calibri"/>
              <a:cs typeface="Calibri"/>
              <a:sym typeface="Calibri"/>
            </a:endParaRPr>
          </a:p>
        </p:txBody>
      </p:sp>
      <p:sp>
        <p:nvSpPr>
          <p:cNvPr id="93" name="Google Shape;93;p15"/>
          <p:cNvSpPr/>
          <p:nvPr/>
        </p:nvSpPr>
        <p:spPr>
          <a:xfrm>
            <a:off x="206925" y="2941200"/>
            <a:ext cx="8723100" cy="657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5"/>
          <p:cNvSpPr/>
          <p:nvPr/>
        </p:nvSpPr>
        <p:spPr>
          <a:xfrm>
            <a:off x="206925" y="4341934"/>
            <a:ext cx="8723100" cy="69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5"/>
          <p:cNvSpPr/>
          <p:nvPr/>
        </p:nvSpPr>
        <p:spPr>
          <a:xfrm>
            <a:off x="210450" y="813819"/>
            <a:ext cx="8723100" cy="69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Implementation</a:t>
            </a:r>
            <a:endParaRPr/>
          </a:p>
        </p:txBody>
      </p:sp>
      <p:sp>
        <p:nvSpPr>
          <p:cNvPr id="101" name="Google Shape;101;p16"/>
          <p:cNvSpPr txBox="1"/>
          <p:nvPr>
            <p:ph idx="1" type="body"/>
          </p:nvPr>
        </p:nvSpPr>
        <p:spPr>
          <a:xfrm>
            <a:off x="311700" y="1344700"/>
            <a:ext cx="2543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sz="1600"/>
              <a:t>The LDaCA architecture is implemented using the Protocols for Implementing Long-Term Archival Repository Services (PILARS)</a:t>
            </a:r>
            <a:endParaRPr sz="2300"/>
          </a:p>
        </p:txBody>
      </p:sp>
      <p:grpSp>
        <p:nvGrpSpPr>
          <p:cNvPr id="102" name="Google Shape;102;p16"/>
          <p:cNvGrpSpPr/>
          <p:nvPr/>
        </p:nvGrpSpPr>
        <p:grpSpPr>
          <a:xfrm>
            <a:off x="2771243" y="508687"/>
            <a:ext cx="6372765" cy="4126116"/>
            <a:chOff x="557771" y="0"/>
            <a:chExt cx="7944110" cy="5143501"/>
          </a:xfrm>
        </p:grpSpPr>
        <p:pic>
          <p:nvPicPr>
            <p:cNvPr id="103" name="Google Shape;103;p16"/>
            <p:cNvPicPr preferRelativeResize="0"/>
            <p:nvPr/>
          </p:nvPicPr>
          <p:blipFill>
            <a:blip r:embed="rId3">
              <a:alphaModFix/>
            </a:blip>
            <a:stretch>
              <a:fillRect/>
            </a:stretch>
          </p:blipFill>
          <p:spPr>
            <a:xfrm>
              <a:off x="557771" y="0"/>
              <a:ext cx="7944110" cy="5143501"/>
            </a:xfrm>
            <a:prstGeom prst="rect">
              <a:avLst/>
            </a:prstGeom>
            <a:noFill/>
            <a:ln>
              <a:noFill/>
            </a:ln>
          </p:spPr>
        </p:pic>
        <p:sp>
          <p:nvSpPr>
            <p:cNvPr id="104" name="Google Shape;104;p16"/>
            <p:cNvSpPr txBox="1"/>
            <p:nvPr/>
          </p:nvSpPr>
          <p:spPr>
            <a:xfrm>
              <a:off x="806725" y="1647425"/>
              <a:ext cx="7447500" cy="3156600"/>
            </a:xfrm>
            <a:prstGeom prst="rect">
              <a:avLst/>
            </a:prstGeom>
            <a:solidFill>
              <a:srgbClr val="FFFFFF"/>
            </a:solidFill>
            <a:ln>
              <a:noFill/>
            </a:ln>
          </p:spPr>
          <p:txBody>
            <a:bodyPr anchorCtr="0" anchor="t" bIns="73350" lIns="73350" spcFirstLastPara="1" rIns="73350" wrap="square" tIns="73350">
              <a:normAutofit/>
            </a:bodyPr>
            <a:lstStyle/>
            <a:p>
              <a:pPr indent="-290347" lvl="0" marL="366753" rtl="0" algn="l">
                <a:lnSpc>
                  <a:spcPct val="115000"/>
                </a:lnSpc>
                <a:spcBef>
                  <a:spcPts val="963"/>
                </a:spcBef>
                <a:spcAft>
                  <a:spcPts val="0"/>
                </a:spcAft>
                <a:buClr>
                  <a:schemeClr val="dk2"/>
                </a:buClr>
                <a:buSzPts val="1685"/>
                <a:buChar char="●"/>
              </a:pPr>
              <a:r>
                <a:rPr lang="en-GB" sz="1684">
                  <a:solidFill>
                    <a:schemeClr val="dk2"/>
                  </a:solidFill>
                </a:rPr>
                <a:t>Data is </a:t>
              </a:r>
              <a:r>
                <a:rPr b="1" lang="en-GB" sz="1684">
                  <a:solidFill>
                    <a:schemeClr val="dk2"/>
                  </a:solidFill>
                </a:rPr>
                <a:t>portable</a:t>
              </a:r>
              <a:r>
                <a:rPr lang="en-GB" sz="1684">
                  <a:solidFill>
                    <a:schemeClr val="dk2"/>
                  </a:solidFill>
                </a:rPr>
                <a:t> and not locked into a particular storage system.</a:t>
              </a:r>
              <a:endParaRPr sz="1684">
                <a:solidFill>
                  <a:schemeClr val="dk2"/>
                </a:solidFill>
              </a:endParaRPr>
            </a:p>
            <a:p>
              <a:pPr indent="-290347" lvl="0" marL="366753" rtl="0" algn="l">
                <a:lnSpc>
                  <a:spcPct val="115000"/>
                </a:lnSpc>
                <a:spcBef>
                  <a:spcPts val="0"/>
                </a:spcBef>
                <a:spcAft>
                  <a:spcPts val="0"/>
                </a:spcAft>
                <a:buClr>
                  <a:schemeClr val="dk2"/>
                </a:buClr>
                <a:buSzPts val="1685"/>
                <a:buChar char="●"/>
              </a:pPr>
              <a:r>
                <a:rPr lang="en-GB" sz="1684">
                  <a:solidFill>
                    <a:schemeClr val="dk2"/>
                  </a:solidFill>
                </a:rPr>
                <a:t>Data can be stored and </a:t>
              </a:r>
              <a:r>
                <a:rPr b="1" lang="en-GB" sz="1684">
                  <a:solidFill>
                    <a:schemeClr val="dk2"/>
                  </a:solidFill>
                </a:rPr>
                <a:t>described</a:t>
              </a:r>
              <a:r>
                <a:rPr lang="en-GB" sz="1684">
                  <a:solidFill>
                    <a:schemeClr val="dk2"/>
                  </a:solidFill>
                </a:rPr>
                <a:t> in systems based on Open Specifications.</a:t>
              </a:r>
              <a:endParaRPr sz="1684">
                <a:solidFill>
                  <a:schemeClr val="dk2"/>
                </a:solidFill>
              </a:endParaRPr>
            </a:p>
            <a:p>
              <a:pPr indent="-290347" lvl="0" marL="366753" rtl="0" algn="l">
                <a:lnSpc>
                  <a:spcPct val="115000"/>
                </a:lnSpc>
                <a:spcBef>
                  <a:spcPts val="0"/>
                </a:spcBef>
                <a:spcAft>
                  <a:spcPts val="0"/>
                </a:spcAft>
                <a:buClr>
                  <a:schemeClr val="dk2"/>
                </a:buClr>
                <a:buSzPts val="1685"/>
                <a:buChar char="●"/>
              </a:pPr>
              <a:r>
                <a:rPr lang="en-GB" sz="1684">
                  <a:solidFill>
                    <a:schemeClr val="dk2"/>
                  </a:solidFill>
                </a:rPr>
                <a:t>Services such as authorised access interfaces, catalogues and search engines can be </a:t>
              </a:r>
              <a:r>
                <a:rPr b="1" lang="en-GB" sz="1684">
                  <a:solidFill>
                    <a:schemeClr val="dk2"/>
                  </a:solidFill>
                </a:rPr>
                <a:t>built and rebuilt</a:t>
              </a:r>
              <a:r>
                <a:rPr lang="en-GB" sz="1684">
                  <a:solidFill>
                    <a:schemeClr val="dk2"/>
                  </a:solidFill>
                </a:rPr>
                <a:t> from these data in a storage system using Open Source Software solutions, services and tools.</a:t>
              </a:r>
              <a:endParaRPr sz="1684">
                <a:solidFill>
                  <a:schemeClr val="dk2"/>
                </a:solidFill>
              </a:endParaRPr>
            </a:p>
          </p:txBody>
        </p:sp>
      </p:grpSp>
      <p:sp>
        <p:nvSpPr>
          <p:cNvPr id="105" name="Google Shape;105;p16"/>
          <p:cNvSpPr txBox="1"/>
          <p:nvPr/>
        </p:nvSpPr>
        <p:spPr>
          <a:xfrm>
            <a:off x="4368075" y="4521150"/>
            <a:ext cx="317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u="sng">
                <a:solidFill>
                  <a:schemeClr val="hlink"/>
                </a:solidFill>
                <a:latin typeface="Roboto Mono"/>
                <a:ea typeface="Roboto Mono"/>
                <a:cs typeface="Roboto Mono"/>
                <a:sym typeface="Roboto Mono"/>
                <a:hlinkClick r:id="rId4"/>
              </a:rPr>
              <a:t>https://w3id.org/ldac/pilars</a:t>
            </a:r>
            <a:endParaRPr>
              <a:solidFill>
                <a:schemeClr val="dk2"/>
              </a:solidFill>
              <a:latin typeface="Roboto Mono"/>
              <a:ea typeface="Roboto Mono"/>
              <a:cs typeface="Roboto Mono"/>
              <a:sym typeface="Roboto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311700" y="445025"/>
            <a:ext cx="2685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Storage</a:t>
            </a:r>
            <a:endParaRPr/>
          </a:p>
        </p:txBody>
      </p:sp>
      <p:sp>
        <p:nvSpPr>
          <p:cNvPr id="111" name="Google Shape;111;p17"/>
          <p:cNvSpPr txBox="1"/>
          <p:nvPr>
            <p:ph idx="1" type="body"/>
          </p:nvPr>
        </p:nvSpPr>
        <p:spPr>
          <a:xfrm>
            <a:off x="311700" y="1152475"/>
            <a:ext cx="3078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t>Storage Objects are deposited in a repository. In LDaCA each storage object is an RO-Crate.</a:t>
            </a:r>
            <a:endParaRPr sz="1200"/>
          </a:p>
          <a:p>
            <a:pPr indent="0" lvl="0" marL="0" rtl="0" algn="l">
              <a:spcBef>
                <a:spcPts val="1200"/>
              </a:spcBef>
              <a:spcAft>
                <a:spcPts val="0"/>
              </a:spcAft>
              <a:buNone/>
            </a:pPr>
            <a:r>
              <a:rPr lang="en-GB" sz="1200"/>
              <a:t>An RO-Crate is a </a:t>
            </a:r>
            <a:r>
              <a:rPr lang="en-GB" sz="1200" u="sng">
                <a:solidFill>
                  <a:schemeClr val="dk1"/>
                </a:solidFill>
                <a:hlinkClick r:id="rId3">
                  <a:extLst>
                    <a:ext uri="{A12FA001-AC4F-418D-AE19-62706E023703}">
                      <ahyp:hlinkClr val="tx"/>
                    </a:ext>
                  </a:extLst>
                </a:hlinkClick>
              </a:rPr>
              <a:t>Research Object</a:t>
            </a:r>
            <a:r>
              <a:rPr lang="en-GB" sz="1200"/>
              <a:t> (or RO) formed of a collection of data (a crate), a special </a:t>
            </a:r>
            <a:r>
              <a:rPr lang="en-GB" sz="1200">
                <a:solidFill>
                  <a:srgbClr val="188038"/>
                </a:solidFill>
                <a:highlight>
                  <a:srgbClr val="F5F5F5"/>
                </a:highlight>
                <a:latin typeface="Roboto Mono"/>
                <a:ea typeface="Roboto Mono"/>
                <a:cs typeface="Roboto Mono"/>
                <a:sym typeface="Roboto Mono"/>
              </a:rPr>
              <a:t>ro-crate-metadata.json</a:t>
            </a:r>
            <a:r>
              <a:rPr lang="en-GB" sz="1200"/>
              <a:t> file which describes the collection and its license information.</a:t>
            </a:r>
            <a:endParaRPr sz="1200"/>
          </a:p>
          <a:p>
            <a:pPr indent="0" lvl="0" marL="0" rtl="0" algn="l">
              <a:spcBef>
                <a:spcPts val="1200"/>
              </a:spcBef>
              <a:spcAft>
                <a:spcPts val="0"/>
              </a:spcAft>
              <a:buNone/>
            </a:pPr>
            <a:r>
              <a:rPr lang="en-GB" sz="1200"/>
              <a:t>The </a:t>
            </a:r>
            <a:r>
              <a:rPr lang="en-GB" sz="1200">
                <a:solidFill>
                  <a:srgbClr val="188038"/>
                </a:solidFill>
                <a:highlight>
                  <a:srgbClr val="F5F5F5"/>
                </a:highlight>
                <a:latin typeface="Roboto Mono"/>
                <a:ea typeface="Roboto Mono"/>
                <a:cs typeface="Roboto Mono"/>
                <a:sym typeface="Roboto Mono"/>
              </a:rPr>
              <a:t>ro-crate-metadata.json</a:t>
            </a:r>
            <a:r>
              <a:rPr lang="en-GB" sz="1200"/>
              <a:t> file is a JSON-LD metadata file at the root of an RO-Crate that describes the crate, its contents, and their relationships in a machine-readable way.</a:t>
            </a:r>
            <a:endParaRPr sz="1200"/>
          </a:p>
          <a:p>
            <a:pPr indent="0" lvl="0" marL="0" rtl="0" algn="l">
              <a:spcBef>
                <a:spcPts val="1200"/>
              </a:spcBef>
              <a:spcAft>
                <a:spcPts val="1200"/>
              </a:spcAft>
              <a:buNone/>
            </a:pPr>
            <a:r>
              <a:t/>
            </a:r>
            <a:endParaRPr sz="1200">
              <a:solidFill>
                <a:srgbClr val="175A5F"/>
              </a:solidFill>
              <a:highlight>
                <a:srgbClr val="FFFFFF"/>
              </a:highlight>
            </a:endParaRPr>
          </a:p>
        </p:txBody>
      </p:sp>
      <p:pic>
        <p:nvPicPr>
          <p:cNvPr id="112" name="Google Shape;112;p17"/>
          <p:cNvPicPr preferRelativeResize="0"/>
          <p:nvPr/>
        </p:nvPicPr>
        <p:blipFill>
          <a:blip r:embed="rId4">
            <a:alphaModFix/>
          </a:blip>
          <a:stretch>
            <a:fillRect/>
          </a:stretch>
        </p:blipFill>
        <p:spPr>
          <a:xfrm>
            <a:off x="3796575" y="0"/>
            <a:ext cx="3542803" cy="51435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Annotation</a:t>
            </a:r>
            <a:endParaRPr/>
          </a:p>
        </p:txBody>
      </p:sp>
      <p:sp>
        <p:nvSpPr>
          <p:cNvPr id="118" name="Google Shape;118;p18"/>
          <p:cNvSpPr txBox="1"/>
          <p:nvPr>
            <p:ph idx="1" type="body"/>
          </p:nvPr>
        </p:nvSpPr>
        <p:spPr>
          <a:xfrm>
            <a:off x="311700" y="1152475"/>
            <a:ext cx="29529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Font typeface="Calibri"/>
              <a:buAutoNum type="arabicPeriod"/>
            </a:pPr>
            <a:r>
              <a:rPr lang="en-GB" sz="1100">
                <a:solidFill>
                  <a:schemeClr val="dk1"/>
                </a:solidFill>
                <a:latin typeface="Calibri"/>
                <a:ea typeface="Calibri"/>
                <a:cs typeface="Calibri"/>
                <a:sym typeface="Calibri"/>
              </a:rPr>
              <a:t>A Metadata Profile describes how storage objects should be modelled, and how files should be described. </a:t>
            </a:r>
            <a:r>
              <a:rPr lang="en-GB" sz="1100" u="sng">
                <a:solidFill>
                  <a:srgbClr val="1155CC"/>
                </a:solidFill>
                <a:latin typeface="Calibri"/>
                <a:ea typeface="Calibri"/>
                <a:cs typeface="Calibri"/>
                <a:sym typeface="Calibri"/>
                <a:hlinkClick r:id="rId3">
                  <a:extLst>
                    <a:ext uri="{A12FA001-AC4F-418D-AE19-62706E023703}">
                      <ahyp:hlinkClr val="tx"/>
                    </a:ext>
                  </a:extLst>
                </a:hlinkClick>
              </a:rPr>
              <a:t>https://w3id.org/ldac/profile</a:t>
            </a:r>
            <a:r>
              <a:rPr lang="en-GB"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AutoNum type="arabicPeriod"/>
            </a:pPr>
            <a:r>
              <a:rPr lang="en-GB" sz="1100">
                <a:solidFill>
                  <a:schemeClr val="dk1"/>
                </a:solidFill>
                <a:latin typeface="Calibri"/>
                <a:ea typeface="Calibri"/>
                <a:cs typeface="Calibri"/>
                <a:sym typeface="Calibri"/>
              </a:rPr>
              <a:t>This profile draws on the Language Data Commons Schema – a Schema.org Style set of terms for describing language data in an Archival Repository and for data interchange.  </a:t>
            </a:r>
            <a:r>
              <a:rPr lang="en-GB" sz="1100" u="sng">
                <a:solidFill>
                  <a:srgbClr val="1155CC"/>
                </a:solidFill>
                <a:latin typeface="Calibri"/>
                <a:ea typeface="Calibri"/>
                <a:cs typeface="Calibri"/>
                <a:sym typeface="Calibri"/>
                <a:hlinkClick r:id="rId4">
                  <a:extLst>
                    <a:ext uri="{A12FA001-AC4F-418D-AE19-62706E023703}">
                      <ahyp:hlinkClr val="tx"/>
                    </a:ext>
                  </a:extLst>
                </a:hlinkClick>
              </a:rPr>
              <a:t>https://w3id.org/ldac/terms</a:t>
            </a:r>
            <a:r>
              <a:rPr lang="en-GB"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AutoNum type="arabicPeriod"/>
            </a:pPr>
            <a:r>
              <a:rPr lang="en-GB" sz="1100">
                <a:solidFill>
                  <a:schemeClr val="dk1"/>
                </a:solidFill>
                <a:latin typeface="Calibri"/>
                <a:ea typeface="Calibri"/>
                <a:cs typeface="Calibri"/>
                <a:sym typeface="Calibri"/>
              </a:rPr>
              <a:t>LDaCA uses Research Object Crate (RO-Crate) metadata to describe each storage object. Each OCFL object has an RO-Crate metadata document (ro-crate-metadata.json), making it an RO-Crate.</a:t>
            </a:r>
            <a:endParaRPr sz="1100">
              <a:solidFill>
                <a:schemeClr val="dk1"/>
              </a:solidFill>
              <a:latin typeface="Calibri"/>
              <a:ea typeface="Calibri"/>
              <a:cs typeface="Calibri"/>
              <a:sym typeface="Calibri"/>
            </a:endParaRPr>
          </a:p>
        </p:txBody>
      </p:sp>
      <p:pic>
        <p:nvPicPr>
          <p:cNvPr id="119" name="Google Shape;119;p18"/>
          <p:cNvPicPr preferRelativeResize="0"/>
          <p:nvPr/>
        </p:nvPicPr>
        <p:blipFill>
          <a:blip r:embed="rId5">
            <a:alphaModFix/>
          </a:blip>
          <a:stretch>
            <a:fillRect/>
          </a:stretch>
        </p:blipFill>
        <p:spPr>
          <a:xfrm>
            <a:off x="3447752" y="948450"/>
            <a:ext cx="5239173" cy="36204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Index</a:t>
            </a:r>
            <a:endParaRPr/>
          </a:p>
        </p:txBody>
      </p:sp>
      <p:sp>
        <p:nvSpPr>
          <p:cNvPr id="125" name="Google Shape;125;p19"/>
          <p:cNvSpPr txBox="1"/>
          <p:nvPr>
            <p:ph idx="1" type="body"/>
          </p:nvPr>
        </p:nvSpPr>
        <p:spPr>
          <a:xfrm>
            <a:off x="311700" y="1152475"/>
            <a:ext cx="2112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Portals can be indexed from the storage to make them findable.</a:t>
            </a:r>
            <a:endParaRPr/>
          </a:p>
        </p:txBody>
      </p:sp>
      <p:pic>
        <p:nvPicPr>
          <p:cNvPr id="126" name="Google Shape;126;p19"/>
          <p:cNvPicPr preferRelativeResize="0"/>
          <p:nvPr/>
        </p:nvPicPr>
        <p:blipFill>
          <a:blip r:embed="rId3">
            <a:alphaModFix/>
          </a:blip>
          <a:stretch>
            <a:fillRect/>
          </a:stretch>
        </p:blipFill>
        <p:spPr>
          <a:xfrm>
            <a:off x="2646225" y="345077"/>
            <a:ext cx="6394373" cy="45992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311700" y="445025"/>
            <a:ext cx="8397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Distributed Access Control</a:t>
            </a:r>
            <a:endParaRPr/>
          </a:p>
        </p:txBody>
      </p:sp>
      <p:sp>
        <p:nvSpPr>
          <p:cNvPr id="132" name="Google Shape;132;p20"/>
          <p:cNvSpPr txBox="1"/>
          <p:nvPr>
            <p:ph idx="1" type="body"/>
          </p:nvPr>
        </p:nvSpPr>
        <p:spPr>
          <a:xfrm>
            <a:off x="185800" y="1176325"/>
            <a:ext cx="2080500" cy="3416400"/>
          </a:xfrm>
          <a:prstGeom prst="rect">
            <a:avLst/>
          </a:prstGeom>
        </p:spPr>
        <p:txBody>
          <a:bodyPr anchorCtr="0" anchor="t" bIns="91425" lIns="91425" spcFirstLastPara="1" rIns="91425" wrap="square" tIns="91425">
            <a:normAutofit fontScale="92500"/>
          </a:bodyPr>
          <a:lstStyle/>
          <a:p>
            <a:pPr indent="0" lvl="0" marL="0" rtl="0" algn="l">
              <a:spcBef>
                <a:spcPts val="1400"/>
              </a:spcBef>
              <a:spcAft>
                <a:spcPts val="0"/>
              </a:spcAft>
              <a:buClr>
                <a:schemeClr val="dk1"/>
              </a:buClr>
              <a:buSzPct val="84615"/>
              <a:buFont typeface="Arial"/>
              <a:buNone/>
            </a:pPr>
            <a:r>
              <a:rPr b="1" lang="en-GB" sz="1300">
                <a:solidFill>
                  <a:schemeClr val="dk1"/>
                </a:solidFill>
              </a:rPr>
              <a:t>Motivation</a:t>
            </a:r>
            <a:endParaRPr b="1" sz="1300">
              <a:solidFill>
                <a:schemeClr val="dk1"/>
              </a:solidFill>
            </a:endParaRPr>
          </a:p>
          <a:p>
            <a:pPr indent="-293211" lvl="0" marL="457200" rtl="0" algn="l">
              <a:spcBef>
                <a:spcPts val="1200"/>
              </a:spcBef>
              <a:spcAft>
                <a:spcPts val="0"/>
              </a:spcAft>
              <a:buClr>
                <a:schemeClr val="dk1"/>
              </a:buClr>
              <a:buSzPct val="100000"/>
              <a:buChar char="●"/>
            </a:pPr>
            <a:r>
              <a:rPr lang="en-GB" sz="1100">
                <a:solidFill>
                  <a:schemeClr val="dk1"/>
                </a:solidFill>
              </a:rPr>
              <a:t>FAIR (Findable, Accessible, Interoperable, Reusable) data principles require not just openness but </a:t>
            </a:r>
            <a:r>
              <a:rPr b="1" lang="en-GB" sz="1100">
                <a:solidFill>
                  <a:schemeClr val="dk1"/>
                </a:solidFill>
              </a:rPr>
              <a:t>controlled access</a:t>
            </a:r>
            <a:r>
              <a:rPr lang="en-GB" sz="1100">
                <a:solidFill>
                  <a:schemeClr val="dk1"/>
                </a:solidFill>
              </a:rPr>
              <a:t> in many contexts.</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Traditional centralized access control solutions struggle with scalability, cross-institutional trust, privacy, and fine-grained permissions.</a:t>
            </a:r>
            <a:endParaRPr sz="1100">
              <a:solidFill>
                <a:schemeClr val="dk1"/>
              </a:solidFill>
            </a:endParaRPr>
          </a:p>
          <a:p>
            <a:pPr indent="0" lvl="0" marL="0" rtl="0" algn="l">
              <a:spcBef>
                <a:spcPts val="1200"/>
              </a:spcBef>
              <a:spcAft>
                <a:spcPts val="1200"/>
              </a:spcAft>
              <a:buNone/>
            </a:pPr>
            <a:r>
              <a:t/>
            </a:r>
            <a:endParaRPr/>
          </a:p>
        </p:txBody>
      </p:sp>
      <p:pic>
        <p:nvPicPr>
          <p:cNvPr id="133" name="Google Shape;133;p20"/>
          <p:cNvPicPr preferRelativeResize="0"/>
          <p:nvPr/>
        </p:nvPicPr>
        <p:blipFill>
          <a:blip r:embed="rId3">
            <a:alphaModFix/>
          </a:blip>
          <a:stretch>
            <a:fillRect/>
          </a:stretch>
        </p:blipFill>
        <p:spPr>
          <a:xfrm>
            <a:off x="2373400" y="1170125"/>
            <a:ext cx="6618199" cy="20995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Portal(s)</a:t>
            </a:r>
            <a:endParaRPr/>
          </a:p>
        </p:txBody>
      </p:sp>
      <p:sp>
        <p:nvSpPr>
          <p:cNvPr id="139" name="Google Shape;139;p21"/>
          <p:cNvSpPr txBox="1"/>
          <p:nvPr>
            <p:ph idx="1" type="body"/>
          </p:nvPr>
        </p:nvSpPr>
        <p:spPr>
          <a:xfrm>
            <a:off x="311700" y="1152475"/>
            <a:ext cx="2021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Main portal: </a:t>
            </a:r>
            <a:r>
              <a:rPr lang="en-GB" u="sng">
                <a:solidFill>
                  <a:schemeClr val="hlink"/>
                </a:solidFill>
                <a:hlinkClick r:id="rId3"/>
              </a:rPr>
              <a:t>data.ldaca.edu.au</a:t>
            </a:r>
            <a:endParaRPr/>
          </a:p>
          <a:p>
            <a:pPr indent="0" lvl="0" marL="0" rtl="0" algn="l">
              <a:spcBef>
                <a:spcPts val="1200"/>
              </a:spcBef>
              <a:spcAft>
                <a:spcPts val="0"/>
              </a:spcAft>
              <a:buNone/>
            </a:pPr>
            <a:r>
              <a:rPr lang="en-GB"/>
              <a:t>Terraform automation allows for additional portals to be built on demand.</a:t>
            </a:r>
            <a:endParaRPr/>
          </a:p>
          <a:p>
            <a:pPr indent="0" lvl="0" marL="0" rtl="0" algn="l">
              <a:spcBef>
                <a:spcPts val="1200"/>
              </a:spcBef>
              <a:spcAft>
                <a:spcPts val="1200"/>
              </a:spcAft>
              <a:buNone/>
            </a:pPr>
            <a:r>
              <a:t/>
            </a:r>
            <a:endParaRPr/>
          </a:p>
        </p:txBody>
      </p:sp>
      <p:pic>
        <p:nvPicPr>
          <p:cNvPr id="140" name="Google Shape;140;p21" title="Screenshot 2025-10-10 at 10-58-52 LDaCA.png"/>
          <p:cNvPicPr preferRelativeResize="0"/>
          <p:nvPr/>
        </p:nvPicPr>
        <p:blipFill>
          <a:blip r:embed="rId4">
            <a:alphaModFix/>
          </a:blip>
          <a:stretch>
            <a:fillRect/>
          </a:stretch>
        </p:blipFill>
        <p:spPr>
          <a:xfrm>
            <a:off x="2374351" y="247149"/>
            <a:ext cx="6683673" cy="46443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Analysis</a:t>
            </a:r>
            <a:endParaRPr/>
          </a:p>
        </p:txBody>
      </p:sp>
      <p:sp>
        <p:nvSpPr>
          <p:cNvPr id="146" name="Google Shape;146;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7" name="Google Shape;147;p22" title="Screenshot 2025-10-14 at 16-56-59 LDaCA.png"/>
          <p:cNvPicPr preferRelativeResize="0"/>
          <p:nvPr/>
        </p:nvPicPr>
        <p:blipFill>
          <a:blip r:embed="rId3">
            <a:alphaModFix/>
          </a:blip>
          <a:stretch>
            <a:fillRect/>
          </a:stretch>
        </p:blipFill>
        <p:spPr>
          <a:xfrm>
            <a:off x="2372125" y="107313"/>
            <a:ext cx="6687273" cy="4928874"/>
          </a:xfrm>
          <a:prstGeom prst="rect">
            <a:avLst/>
          </a:prstGeom>
          <a:noFill/>
          <a:ln>
            <a:noFill/>
          </a:ln>
          <a:effectLst>
            <a:outerShdw blurRad="57150" rotWithShape="0" algn="bl" dir="5400000" dist="19050">
              <a:srgbClr val="000000">
                <a:alpha val="50000"/>
              </a:srgbClr>
            </a:outerShdw>
          </a:effectLst>
        </p:spPr>
      </p:pic>
      <p:pic>
        <p:nvPicPr>
          <p:cNvPr id="148" name="Google Shape;148;p22" title="Screenshot 2025-10-14 at 16-58-40 LDaCA.png"/>
          <p:cNvPicPr preferRelativeResize="0"/>
          <p:nvPr/>
        </p:nvPicPr>
        <p:blipFill>
          <a:blip r:embed="rId4">
            <a:alphaModFix/>
          </a:blip>
          <a:stretch>
            <a:fillRect/>
          </a:stretch>
        </p:blipFill>
        <p:spPr>
          <a:xfrm>
            <a:off x="6917725" y="2659825"/>
            <a:ext cx="1699050" cy="921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Reproducible Analysis</a:t>
            </a:r>
            <a:endParaRPr/>
          </a:p>
        </p:txBody>
      </p:sp>
      <p:sp>
        <p:nvSpPr>
          <p:cNvPr id="154" name="Google Shape;154;p23"/>
          <p:cNvSpPr txBox="1"/>
          <p:nvPr>
            <p:ph idx="1" type="body"/>
          </p:nvPr>
        </p:nvSpPr>
        <p:spPr>
          <a:xfrm>
            <a:off x="311700" y="1152475"/>
            <a:ext cx="5530800" cy="376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Jupyter notebooks can break due to:</a:t>
            </a:r>
            <a:endParaRPr/>
          </a:p>
          <a:p>
            <a:pPr indent="-342900" lvl="0" marL="457200" rtl="0" algn="l">
              <a:spcBef>
                <a:spcPts val="1200"/>
              </a:spcBef>
              <a:spcAft>
                <a:spcPts val="0"/>
              </a:spcAft>
              <a:buSzPts val="1800"/>
              <a:buChar char="●"/>
            </a:pPr>
            <a:r>
              <a:rPr lang="en-GB"/>
              <a:t>Library upgrades</a:t>
            </a:r>
            <a:endParaRPr/>
          </a:p>
          <a:p>
            <a:pPr indent="-342900" lvl="0" marL="457200" rtl="0" algn="l">
              <a:spcBef>
                <a:spcPts val="0"/>
              </a:spcBef>
              <a:spcAft>
                <a:spcPts val="0"/>
              </a:spcAft>
              <a:buSzPts val="1800"/>
              <a:buChar char="●"/>
            </a:pPr>
            <a:r>
              <a:rPr lang="en-GB"/>
              <a:t>Version changes</a:t>
            </a:r>
            <a:endParaRPr/>
          </a:p>
          <a:p>
            <a:pPr indent="-342900" lvl="0" marL="457200" rtl="0" algn="l">
              <a:spcBef>
                <a:spcPts val="0"/>
              </a:spcBef>
              <a:spcAft>
                <a:spcPts val="0"/>
              </a:spcAft>
              <a:buSzPts val="1800"/>
              <a:buChar char="●"/>
            </a:pPr>
            <a:r>
              <a:rPr lang="en-GB"/>
              <a:t>Missing credentials</a:t>
            </a:r>
            <a:endParaRPr/>
          </a:p>
          <a:p>
            <a:pPr indent="-342900" lvl="0" marL="457200" rtl="0" algn="l">
              <a:spcBef>
                <a:spcPts val="0"/>
              </a:spcBef>
              <a:spcAft>
                <a:spcPts val="0"/>
              </a:spcAft>
              <a:buSzPts val="1800"/>
              <a:buChar char="●"/>
            </a:pPr>
            <a:r>
              <a:rPr lang="en-GB"/>
              <a:t>Undocumented requirements</a:t>
            </a:r>
            <a:endParaRPr/>
          </a:p>
          <a:p>
            <a:pPr indent="0" lvl="0" marL="0" rtl="0" algn="l">
              <a:spcBef>
                <a:spcPts val="1200"/>
              </a:spcBef>
              <a:spcAft>
                <a:spcPts val="0"/>
              </a:spcAft>
              <a:buNone/>
            </a:pPr>
            <a:r>
              <a:rPr lang="en-GB"/>
              <a:t>Mitigate this with BinderHub:</a:t>
            </a:r>
            <a:endParaRPr/>
          </a:p>
          <a:p>
            <a:pPr indent="-342900" lvl="0" marL="457200" rtl="0" algn="l">
              <a:spcBef>
                <a:spcPts val="1200"/>
              </a:spcBef>
              <a:spcAft>
                <a:spcPts val="0"/>
              </a:spcAft>
              <a:buSzPts val="1800"/>
              <a:buChar char="●"/>
            </a:pPr>
            <a:r>
              <a:rPr lang="en-GB"/>
              <a:t>Launch pre-configured notebooks as interactive computing environments</a:t>
            </a:r>
            <a:endParaRPr/>
          </a:p>
          <a:p>
            <a:pPr indent="-342900" lvl="0" marL="457200" rtl="0" algn="l">
              <a:spcBef>
                <a:spcPts val="0"/>
              </a:spcBef>
              <a:spcAft>
                <a:spcPts val="0"/>
              </a:spcAft>
              <a:buSzPts val="1800"/>
              <a:buChar char="●"/>
            </a:pPr>
            <a:r>
              <a:rPr lang="en-GB"/>
              <a:t>Explicitly defined hardware and software requirements</a:t>
            </a:r>
            <a:endParaRPr/>
          </a:p>
        </p:txBody>
      </p:sp>
      <p:pic>
        <p:nvPicPr>
          <p:cNvPr id="155" name="Google Shape;155;p23" title="Screenshot 2025-10-09 at 15-48-19 ARDC Nectar BinderHub Service.png"/>
          <p:cNvPicPr preferRelativeResize="0"/>
          <p:nvPr/>
        </p:nvPicPr>
        <p:blipFill rotWithShape="1">
          <a:blip r:embed="rId3">
            <a:alphaModFix/>
          </a:blip>
          <a:srcRect b="0" l="33687" r="0" t="0"/>
          <a:stretch/>
        </p:blipFill>
        <p:spPr>
          <a:xfrm>
            <a:off x="4333225" y="2183825"/>
            <a:ext cx="4310800" cy="1288125"/>
          </a:xfrm>
          <a:prstGeom prst="rect">
            <a:avLst/>
          </a:prstGeom>
          <a:noFill/>
          <a:ln>
            <a:noFill/>
          </a:ln>
          <a:effectLst>
            <a:outerShdw blurRad="57150" rotWithShape="0" algn="bl" dir="5400000" dist="19050">
              <a:srgbClr val="000000">
                <a:alpha val="50000"/>
              </a:srgbClr>
            </a:outerShdw>
          </a:effectLst>
        </p:spPr>
      </p:pic>
      <p:pic>
        <p:nvPicPr>
          <p:cNvPr id="156" name="Google Shape;156;p23" title="Screenshot 2025-10-09 at 15-46-14 ARDC Nectar BinderHub Service.png"/>
          <p:cNvPicPr preferRelativeResize="0"/>
          <p:nvPr/>
        </p:nvPicPr>
        <p:blipFill>
          <a:blip r:embed="rId4">
            <a:alphaModFix/>
          </a:blip>
          <a:stretch>
            <a:fillRect/>
          </a:stretch>
        </p:blipFill>
        <p:spPr>
          <a:xfrm>
            <a:off x="4333220" y="1017720"/>
            <a:ext cx="2175800" cy="825700"/>
          </a:xfrm>
          <a:prstGeom prst="rect">
            <a:avLst/>
          </a:prstGeom>
          <a:noFill/>
          <a:ln>
            <a:noFill/>
          </a:ln>
          <a:effectLst>
            <a:outerShdw blurRad="57150" rotWithShape="0" algn="bl" dir="5400000" dist="19050">
              <a:srgbClr val="000000">
                <a:alpha val="50000"/>
              </a:srgbClr>
            </a:outerShdw>
          </a:effectLst>
        </p:spPr>
      </p:pic>
      <p:pic>
        <p:nvPicPr>
          <p:cNvPr id="157" name="Google Shape;157;p23"/>
          <p:cNvPicPr preferRelativeResize="0"/>
          <p:nvPr/>
        </p:nvPicPr>
        <p:blipFill>
          <a:blip r:embed="rId5">
            <a:alphaModFix/>
          </a:blip>
          <a:stretch>
            <a:fillRect/>
          </a:stretch>
        </p:blipFill>
        <p:spPr>
          <a:xfrm>
            <a:off x="6786672" y="881275"/>
            <a:ext cx="1952328" cy="10986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Example: </a:t>
            </a:r>
            <a:r>
              <a:rPr lang="en-GB"/>
              <a:t>A COrpus of Oz Early English (COOEE)</a:t>
            </a:r>
            <a:endParaRPr/>
          </a:p>
        </p:txBody>
      </p:sp>
      <p:sp>
        <p:nvSpPr>
          <p:cNvPr id="163" name="Google Shape;163;p24"/>
          <p:cNvSpPr txBox="1"/>
          <p:nvPr>
            <p:ph idx="1" type="body"/>
          </p:nvPr>
        </p:nvSpPr>
        <p:spPr>
          <a:xfrm>
            <a:off x="311700" y="1152475"/>
            <a:ext cx="36162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GB" sz="1200"/>
              <a:t>A</a:t>
            </a:r>
            <a:r>
              <a:rPr lang="en-GB" sz="1200"/>
              <a:t> collection of texts written in Australia between 1788 and 1900.</a:t>
            </a:r>
            <a:endParaRPr sz="1200"/>
          </a:p>
          <a:p>
            <a:pPr indent="0" lvl="0" marL="0" rtl="0" algn="l">
              <a:lnSpc>
                <a:spcPct val="100000"/>
              </a:lnSpc>
              <a:spcBef>
                <a:spcPts val="0"/>
              </a:spcBef>
              <a:spcAft>
                <a:spcPts val="0"/>
              </a:spcAft>
              <a:buClr>
                <a:schemeClr val="dk1"/>
              </a:buClr>
              <a:buSzPts val="1100"/>
              <a:buFont typeface="Arial"/>
              <a:buNone/>
            </a:pPr>
            <a:r>
              <a:t/>
            </a:r>
            <a:endParaRPr sz="1200"/>
          </a:p>
          <a:p>
            <a:pPr indent="0" lvl="0" marL="0" rtl="0" algn="l">
              <a:spcBef>
                <a:spcPts val="0"/>
              </a:spcBef>
              <a:spcAft>
                <a:spcPts val="0"/>
              </a:spcAft>
              <a:buNone/>
            </a:pPr>
            <a:r>
              <a:rPr lang="en-GB" sz="1200"/>
              <a:t>Divided into four time periods:</a:t>
            </a:r>
            <a:endParaRPr sz="1200"/>
          </a:p>
          <a:p>
            <a:pPr indent="-304800" lvl="0" marL="457200" rtl="0" algn="l">
              <a:spcBef>
                <a:spcPts val="1200"/>
              </a:spcBef>
              <a:spcAft>
                <a:spcPts val="0"/>
              </a:spcAft>
              <a:buSzPts val="1200"/>
              <a:buChar char="●"/>
            </a:pPr>
            <a:r>
              <a:rPr lang="en-GB" sz="1200"/>
              <a:t>Period 1: 1788-1825</a:t>
            </a:r>
            <a:endParaRPr sz="1200"/>
          </a:p>
          <a:p>
            <a:pPr indent="-304800" lvl="0" marL="457200" rtl="0" algn="l">
              <a:spcBef>
                <a:spcPts val="0"/>
              </a:spcBef>
              <a:spcAft>
                <a:spcPts val="0"/>
              </a:spcAft>
              <a:buSzPts val="1200"/>
              <a:buChar char="●"/>
            </a:pPr>
            <a:r>
              <a:rPr lang="en-GB" sz="1200"/>
              <a:t>Period 2: 1826-1850</a:t>
            </a:r>
            <a:endParaRPr sz="1200"/>
          </a:p>
          <a:p>
            <a:pPr indent="-304800" lvl="0" marL="457200" rtl="0" algn="l">
              <a:spcBef>
                <a:spcPts val="0"/>
              </a:spcBef>
              <a:spcAft>
                <a:spcPts val="0"/>
              </a:spcAft>
              <a:buSzPts val="1200"/>
              <a:buChar char="●"/>
            </a:pPr>
            <a:r>
              <a:rPr lang="en-GB" sz="1200"/>
              <a:t>Period 3: 1851-1875</a:t>
            </a:r>
            <a:endParaRPr sz="1200"/>
          </a:p>
          <a:p>
            <a:pPr indent="-304800" lvl="0" marL="457200" rtl="0" algn="l">
              <a:spcBef>
                <a:spcPts val="0"/>
              </a:spcBef>
              <a:spcAft>
                <a:spcPts val="0"/>
              </a:spcAft>
              <a:buSzPts val="1200"/>
              <a:buChar char="●"/>
            </a:pPr>
            <a:r>
              <a:rPr lang="en-GB" sz="1200"/>
              <a:t>Period 4: 1876-1900</a:t>
            </a:r>
            <a:endParaRPr sz="1200"/>
          </a:p>
          <a:p>
            <a:pPr indent="0" lvl="0" marL="0" rtl="0" algn="l">
              <a:spcBef>
                <a:spcPts val="1200"/>
              </a:spcBef>
              <a:spcAft>
                <a:spcPts val="0"/>
              </a:spcAft>
              <a:buNone/>
            </a:pPr>
            <a:r>
              <a:rPr lang="en-GB" sz="1200"/>
              <a:t>Contains material from four registers:</a:t>
            </a:r>
            <a:endParaRPr sz="1200"/>
          </a:p>
          <a:p>
            <a:pPr indent="-304800" lvl="0" marL="457200" rtl="0" algn="l">
              <a:spcBef>
                <a:spcPts val="1200"/>
              </a:spcBef>
              <a:spcAft>
                <a:spcPts val="0"/>
              </a:spcAft>
              <a:buSzPts val="1200"/>
              <a:buChar char="●"/>
            </a:pPr>
            <a:r>
              <a:rPr lang="en-GB" sz="1200"/>
              <a:t>Speech-based (SB)</a:t>
            </a:r>
            <a:endParaRPr sz="1200"/>
          </a:p>
          <a:p>
            <a:pPr indent="-304800" lvl="0" marL="457200" rtl="0" algn="l">
              <a:spcBef>
                <a:spcPts val="0"/>
              </a:spcBef>
              <a:spcAft>
                <a:spcPts val="0"/>
              </a:spcAft>
              <a:buSzPts val="1200"/>
              <a:buChar char="●"/>
            </a:pPr>
            <a:r>
              <a:rPr lang="en-GB" sz="1200"/>
              <a:t>Private written (PrW)</a:t>
            </a:r>
            <a:endParaRPr sz="1200"/>
          </a:p>
          <a:p>
            <a:pPr indent="-304800" lvl="0" marL="457200" rtl="0" algn="l">
              <a:spcBef>
                <a:spcPts val="0"/>
              </a:spcBef>
              <a:spcAft>
                <a:spcPts val="0"/>
              </a:spcAft>
              <a:buSzPts val="1200"/>
              <a:buChar char="●"/>
            </a:pPr>
            <a:r>
              <a:rPr lang="en-GB" sz="1200"/>
              <a:t>Public written (PcW)</a:t>
            </a:r>
            <a:endParaRPr sz="1200"/>
          </a:p>
          <a:p>
            <a:pPr indent="-304800" lvl="0" marL="457200" rtl="0" algn="l">
              <a:spcBef>
                <a:spcPts val="0"/>
              </a:spcBef>
              <a:spcAft>
                <a:spcPts val="0"/>
              </a:spcAft>
              <a:buSzPts val="1200"/>
              <a:buChar char="●"/>
            </a:pPr>
            <a:r>
              <a:rPr lang="en-GB" sz="1200"/>
              <a:t>Government English (GE)</a:t>
            </a:r>
            <a:endParaRPr sz="1200"/>
          </a:p>
        </p:txBody>
      </p:sp>
      <p:pic>
        <p:nvPicPr>
          <p:cNvPr id="164" name="Google Shape;164;p24" title="Screenshot 2025-10-08 at 09-11-58 LDaCA.png"/>
          <p:cNvPicPr preferRelativeResize="0"/>
          <p:nvPr/>
        </p:nvPicPr>
        <p:blipFill>
          <a:blip r:embed="rId3">
            <a:alphaModFix/>
          </a:blip>
          <a:stretch>
            <a:fillRect/>
          </a:stretch>
        </p:blipFill>
        <p:spPr>
          <a:xfrm>
            <a:off x="3792099" y="971435"/>
            <a:ext cx="5310801" cy="4200799"/>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COOEE Notebook - Metadata Standardisation</a:t>
            </a:r>
            <a:endParaRPr/>
          </a:p>
        </p:txBody>
      </p:sp>
      <p:sp>
        <p:nvSpPr>
          <p:cNvPr id="170" name="Google Shape;170;p25"/>
          <p:cNvSpPr txBox="1"/>
          <p:nvPr>
            <p:ph idx="1" type="body"/>
          </p:nvPr>
        </p:nvSpPr>
        <p:spPr>
          <a:xfrm>
            <a:off x="311700" y="1152475"/>
            <a:ext cx="8520600" cy="370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t>Stratifying COOEE across time period and register makes 16 sub-corpora, allowing for comparative analysis such as topic modeling.</a:t>
            </a:r>
            <a:endParaRPr sz="1400"/>
          </a:p>
          <a:p>
            <a:pPr indent="0" lvl="0" marL="0" rtl="0" algn="l">
              <a:spcBef>
                <a:spcPts val="1200"/>
              </a:spcBef>
              <a:spcAft>
                <a:spcPts val="0"/>
              </a:spcAft>
              <a:buNone/>
            </a:pPr>
            <a:r>
              <a:rPr lang="en-GB" sz="1400"/>
              <a:t>Metadata standardisation required to reduce friction, increase interoperability:</a:t>
            </a:r>
            <a:endParaRPr sz="1400"/>
          </a:p>
          <a:p>
            <a:pPr indent="-317500" lvl="0" marL="457200" rtl="0" algn="l">
              <a:spcBef>
                <a:spcPts val="0"/>
              </a:spcBef>
              <a:spcAft>
                <a:spcPts val="0"/>
              </a:spcAft>
              <a:buSzPts val="1400"/>
              <a:buChar char="●"/>
            </a:pPr>
            <a:r>
              <a:rPr lang="en-GB" sz="1400"/>
              <a:t>Mapping of collection-specific terms to </a:t>
            </a:r>
            <a:r>
              <a:rPr lang="en-GB" sz="1400" u="sng">
                <a:solidFill>
                  <a:schemeClr val="hlink"/>
                </a:solidFill>
                <a:hlinkClick r:id="rId3"/>
              </a:rPr>
              <a:t>schema.org</a:t>
            </a:r>
            <a:r>
              <a:rPr lang="en-GB" sz="1400"/>
              <a:t> standard:</a:t>
            </a:r>
            <a:endParaRPr sz="1400">
              <a:solidFill>
                <a:srgbClr val="188038"/>
              </a:solidFill>
              <a:latin typeface="Roboto Mono"/>
              <a:ea typeface="Roboto Mono"/>
              <a:cs typeface="Roboto Mono"/>
              <a:sym typeface="Roboto Mono"/>
            </a:endParaRPr>
          </a:p>
          <a:p>
            <a:pPr indent="-311150" lvl="1" marL="914400" rtl="0" algn="l">
              <a:spcBef>
                <a:spcPts val="0"/>
              </a:spcBef>
              <a:spcAft>
                <a:spcPts val="0"/>
              </a:spcAft>
              <a:buSzPts val="1300"/>
              <a:buChar char="○"/>
            </a:pPr>
            <a:r>
              <a:rPr lang="en-GB" sz="1300">
                <a:solidFill>
                  <a:srgbClr val="188038"/>
                </a:solidFill>
                <a:latin typeface="Roboto Mono"/>
                <a:ea typeface="Roboto Mono"/>
                <a:cs typeface="Roboto Mono"/>
                <a:sym typeface="Roboto Mono"/>
              </a:rPr>
              <a:t>Birth</a:t>
            </a:r>
            <a:r>
              <a:rPr lang="en-GB" sz="1300"/>
              <a:t> → </a:t>
            </a:r>
            <a:r>
              <a:rPr lang="en-GB" sz="1300">
                <a:solidFill>
                  <a:srgbClr val="188038"/>
                </a:solidFill>
                <a:latin typeface="Roboto Mono"/>
                <a:ea typeface="Roboto Mono"/>
                <a:cs typeface="Roboto Mono"/>
                <a:sym typeface="Roboto Mono"/>
              </a:rPr>
              <a:t>birthDate</a:t>
            </a:r>
            <a:endParaRPr sz="1300">
              <a:latin typeface="Roboto Mono"/>
              <a:ea typeface="Roboto Mono"/>
              <a:cs typeface="Roboto Mono"/>
              <a:sym typeface="Roboto Mono"/>
            </a:endParaRPr>
          </a:p>
          <a:p>
            <a:pPr indent="-311150" lvl="1" marL="914400" rtl="0" algn="l">
              <a:spcBef>
                <a:spcPts val="0"/>
              </a:spcBef>
              <a:spcAft>
                <a:spcPts val="0"/>
              </a:spcAft>
              <a:buSzPts val="1300"/>
              <a:buChar char="○"/>
            </a:pPr>
            <a:r>
              <a:rPr lang="en-GB" sz="1300">
                <a:solidFill>
                  <a:srgbClr val="188038"/>
                </a:solidFill>
                <a:latin typeface="Roboto Mono"/>
                <a:ea typeface="Roboto Mono"/>
                <a:cs typeface="Roboto Mono"/>
                <a:sym typeface="Roboto Mono"/>
              </a:rPr>
              <a:t>Gender</a:t>
            </a:r>
            <a:r>
              <a:rPr lang="en-GB" sz="1300"/>
              <a:t> → </a:t>
            </a:r>
            <a:r>
              <a:rPr lang="en-GB" sz="1300">
                <a:solidFill>
                  <a:srgbClr val="188038"/>
                </a:solidFill>
                <a:latin typeface="Roboto Mono"/>
                <a:ea typeface="Roboto Mono"/>
                <a:cs typeface="Roboto Mono"/>
                <a:sym typeface="Roboto Mono"/>
              </a:rPr>
              <a:t>gender</a:t>
            </a:r>
            <a:endParaRPr sz="1300">
              <a:latin typeface="Roboto Mono"/>
              <a:ea typeface="Roboto Mono"/>
              <a:cs typeface="Roboto Mono"/>
              <a:sym typeface="Roboto Mono"/>
            </a:endParaRPr>
          </a:p>
          <a:p>
            <a:pPr indent="-311150" lvl="1" marL="914400" rtl="0" algn="l">
              <a:spcBef>
                <a:spcPts val="0"/>
              </a:spcBef>
              <a:spcAft>
                <a:spcPts val="0"/>
              </a:spcAft>
              <a:buSzPts val="1300"/>
              <a:buChar char="○"/>
            </a:pPr>
            <a:r>
              <a:rPr lang="en-GB" sz="1300">
                <a:solidFill>
                  <a:srgbClr val="188038"/>
                </a:solidFill>
                <a:latin typeface="Roboto Mono"/>
                <a:ea typeface="Roboto Mono"/>
                <a:cs typeface="Roboto Mono"/>
                <a:sym typeface="Roboto Mono"/>
              </a:rPr>
              <a:t>Nr</a:t>
            </a:r>
            <a:r>
              <a:rPr lang="en-GB" sz="1300"/>
              <a:t> → </a:t>
            </a:r>
            <a:r>
              <a:rPr lang="en-GB" sz="1300">
                <a:solidFill>
                  <a:srgbClr val="188038"/>
                </a:solidFill>
                <a:latin typeface="Roboto Mono"/>
                <a:ea typeface="Roboto Mono"/>
                <a:cs typeface="Roboto Mono"/>
                <a:sym typeface="Roboto Mono"/>
              </a:rPr>
              <a:t>identifier</a:t>
            </a:r>
            <a:endParaRPr sz="1300">
              <a:solidFill>
                <a:srgbClr val="188038"/>
              </a:solidFill>
              <a:latin typeface="Roboto Mono"/>
              <a:ea typeface="Roboto Mono"/>
              <a:cs typeface="Roboto Mono"/>
              <a:sym typeface="Roboto Mono"/>
            </a:endParaRPr>
          </a:p>
          <a:p>
            <a:pPr indent="-317500" lvl="0" marL="457200" rtl="0" algn="l">
              <a:spcBef>
                <a:spcPts val="1000"/>
              </a:spcBef>
              <a:spcAft>
                <a:spcPts val="0"/>
              </a:spcAft>
              <a:buSzPts val="1400"/>
              <a:buChar char="●"/>
            </a:pPr>
            <a:r>
              <a:rPr lang="en-GB" sz="1400"/>
              <a:t>Identifying the main text of the collection for analysis with the </a:t>
            </a:r>
            <a:r>
              <a:rPr lang="en-GB" sz="1400" u="sng">
                <a:solidFill>
                  <a:schemeClr val="hlink"/>
                </a:solidFill>
                <a:hlinkClick r:id="rId4"/>
              </a:rPr>
              <a:t>Language Data Commons Schema</a:t>
            </a:r>
            <a:r>
              <a:rPr lang="en-GB" sz="1400"/>
              <a:t> term </a:t>
            </a:r>
            <a:r>
              <a:rPr lang="en-GB" sz="1400">
                <a:solidFill>
                  <a:srgbClr val="188038"/>
                </a:solidFill>
                <a:latin typeface="Roboto Mono"/>
                <a:ea typeface="Roboto Mono"/>
                <a:cs typeface="Roboto Mono"/>
                <a:sym typeface="Roboto Mono"/>
              </a:rPr>
              <a:t>ldac:mainText</a:t>
            </a:r>
            <a:r>
              <a:rPr lang="en-GB" sz="1400"/>
              <a:t>, e.g.</a:t>
            </a:r>
            <a:endParaRPr sz="1400"/>
          </a:p>
          <a:p>
            <a:pPr indent="0" lvl="0" marL="457200" rtl="0" algn="l">
              <a:lnSpc>
                <a:spcPct val="100000"/>
              </a:lnSpc>
              <a:spcBef>
                <a:spcPts val="1200"/>
              </a:spcBef>
              <a:spcAft>
                <a:spcPts val="0"/>
              </a:spcAft>
              <a:buNone/>
            </a:pPr>
            <a:r>
              <a:rPr lang="en-GB" sz="1300">
                <a:solidFill>
                  <a:srgbClr val="188038"/>
                </a:solidFill>
                <a:latin typeface="Roboto Mono"/>
                <a:ea typeface="Roboto Mono"/>
                <a:cs typeface="Roboto Mono"/>
                <a:sym typeface="Roboto Mono"/>
              </a:rPr>
              <a:t>"ldac:mainText": {</a:t>
            </a:r>
            <a:endParaRPr sz="1300">
              <a:solidFill>
                <a:srgbClr val="188038"/>
              </a:solidFill>
              <a:latin typeface="Roboto Mono"/>
              <a:ea typeface="Roboto Mono"/>
              <a:cs typeface="Roboto Mono"/>
              <a:sym typeface="Roboto Mono"/>
            </a:endParaRPr>
          </a:p>
          <a:p>
            <a:pPr indent="0" lvl="0" marL="457200" rtl="0" algn="l">
              <a:lnSpc>
                <a:spcPct val="100000"/>
              </a:lnSpc>
              <a:spcBef>
                <a:spcPts val="0"/>
              </a:spcBef>
              <a:spcAft>
                <a:spcPts val="0"/>
              </a:spcAft>
              <a:buNone/>
            </a:pPr>
            <a:r>
              <a:rPr lang="en-GB" sz="1300">
                <a:solidFill>
                  <a:srgbClr val="188038"/>
                </a:solidFill>
                <a:latin typeface="Roboto Mono"/>
                <a:ea typeface="Roboto Mono"/>
                <a:cs typeface="Roboto Mono"/>
                <a:sym typeface="Roboto Mono"/>
              </a:rPr>
              <a:t>   "@id": "data/1-001-plain.txt"</a:t>
            </a:r>
            <a:endParaRPr sz="1300">
              <a:solidFill>
                <a:srgbClr val="188038"/>
              </a:solidFill>
              <a:latin typeface="Roboto Mono"/>
              <a:ea typeface="Roboto Mono"/>
              <a:cs typeface="Roboto Mono"/>
              <a:sym typeface="Roboto Mono"/>
            </a:endParaRPr>
          </a:p>
          <a:p>
            <a:pPr indent="0" lvl="0" marL="457200" rtl="0" algn="l">
              <a:lnSpc>
                <a:spcPct val="100000"/>
              </a:lnSpc>
              <a:spcBef>
                <a:spcPts val="0"/>
              </a:spcBef>
              <a:spcAft>
                <a:spcPts val="0"/>
              </a:spcAft>
              <a:buNone/>
            </a:pPr>
            <a:r>
              <a:rPr lang="en-GB" sz="1300">
                <a:solidFill>
                  <a:srgbClr val="188038"/>
                </a:solidFill>
                <a:latin typeface="Roboto Mono"/>
                <a:ea typeface="Roboto Mono"/>
                <a:cs typeface="Roboto Mono"/>
                <a:sym typeface="Roboto Mono"/>
              </a:rPr>
              <a:t>}</a:t>
            </a:r>
            <a:endParaRPr sz="1300">
              <a:solidFill>
                <a:srgbClr val="188038"/>
              </a:solidFill>
              <a:latin typeface="Roboto Mono"/>
              <a:ea typeface="Roboto Mono"/>
              <a:cs typeface="Roboto Mono"/>
              <a:sym typeface="Roboto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COOEE Notebook - Downloading and preparing the data</a:t>
            </a:r>
            <a:endParaRPr/>
          </a:p>
        </p:txBody>
      </p:sp>
      <p:sp>
        <p:nvSpPr>
          <p:cNvPr id="176" name="Google Shape;176;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Download collection from LDaCA Portal.</a:t>
            </a:r>
            <a:endParaRPr/>
          </a:p>
          <a:p>
            <a:pPr indent="-342900" lvl="0" marL="457200" rtl="0" algn="l">
              <a:spcBef>
                <a:spcPts val="0"/>
              </a:spcBef>
              <a:spcAft>
                <a:spcPts val="0"/>
              </a:spcAft>
              <a:buSzPts val="1800"/>
              <a:buChar char="●"/>
            </a:pPr>
            <a:r>
              <a:rPr lang="en-GB"/>
              <a:t>U</a:t>
            </a:r>
            <a:r>
              <a:rPr lang="en-GB"/>
              <a:t>se RO-Crate tabulator to create a table including both text data and metadata from the </a:t>
            </a:r>
            <a:r>
              <a:rPr lang="en-GB">
                <a:solidFill>
                  <a:srgbClr val="188038"/>
                </a:solidFill>
                <a:latin typeface="Roboto Mono"/>
                <a:ea typeface="Roboto Mono"/>
                <a:cs typeface="Roboto Mono"/>
                <a:sym typeface="Roboto Mono"/>
              </a:rPr>
              <a:t>RepositoryObject</a:t>
            </a:r>
            <a:r>
              <a:rPr lang="en-GB"/>
              <a:t> entities, focussing on </a:t>
            </a:r>
            <a:r>
              <a:rPr lang="en-GB">
                <a:solidFill>
                  <a:srgbClr val="188038"/>
                </a:solidFill>
                <a:latin typeface="Roboto Mono"/>
                <a:ea typeface="Roboto Mono"/>
                <a:cs typeface="Roboto Mono"/>
                <a:sym typeface="Roboto Mono"/>
              </a:rPr>
              <a:t>ldac:mainText</a:t>
            </a:r>
            <a:r>
              <a:rPr lang="en-GB"/>
              <a:t>.</a:t>
            </a:r>
            <a:endParaRPr/>
          </a:p>
          <a:p>
            <a:pPr indent="-342900" lvl="0" marL="457200" rtl="0" algn="l">
              <a:spcBef>
                <a:spcPts val="0"/>
              </a:spcBef>
              <a:spcAft>
                <a:spcPts val="0"/>
              </a:spcAft>
              <a:buSzPts val="1800"/>
              <a:buChar char="●"/>
            </a:pPr>
            <a:r>
              <a:rPr lang="en-GB"/>
              <a:t>Convert to Pandas DataFrame</a:t>
            </a:r>
            <a:endParaRPr/>
          </a:p>
          <a:p>
            <a:pPr indent="-342900" lvl="0" marL="457200" rtl="0" algn="l">
              <a:spcBef>
                <a:spcPts val="0"/>
              </a:spcBef>
              <a:spcAft>
                <a:spcPts val="0"/>
              </a:spcAft>
              <a:buSzPts val="1800"/>
              <a:buChar char="●"/>
            </a:pPr>
            <a:r>
              <a:rPr lang="en-GB"/>
              <a:t>Slice dataframe by register and time period to create 16 documents.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Analysis</a:t>
            </a:r>
            <a:endParaRPr/>
          </a:p>
        </p:txBody>
      </p:sp>
      <p:sp>
        <p:nvSpPr>
          <p:cNvPr id="182" name="Google Shape;182;p27"/>
          <p:cNvSpPr txBox="1"/>
          <p:nvPr>
            <p:ph idx="1" type="body"/>
          </p:nvPr>
        </p:nvSpPr>
        <p:spPr>
          <a:xfrm>
            <a:off x="311700" y="1152475"/>
            <a:ext cx="2543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Because of the nature of the linked data format, we have built tools to convert linked data to tabular forms.</a:t>
            </a:r>
            <a:endParaRPr/>
          </a:p>
        </p:txBody>
      </p:sp>
      <p:pic>
        <p:nvPicPr>
          <p:cNvPr id="183" name="Google Shape;183;p27" title="Screenshot 2025-10-02 at 11.45.46 AM.png"/>
          <p:cNvPicPr preferRelativeResize="0"/>
          <p:nvPr/>
        </p:nvPicPr>
        <p:blipFill>
          <a:blip r:embed="rId3">
            <a:alphaModFix/>
          </a:blip>
          <a:stretch>
            <a:fillRect/>
          </a:stretch>
        </p:blipFill>
        <p:spPr>
          <a:xfrm>
            <a:off x="2931307" y="-462500"/>
            <a:ext cx="6578734" cy="5143499"/>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COOEE Notebook - </a:t>
            </a:r>
            <a:r>
              <a:rPr lang="en-GB"/>
              <a:t>Tokenization</a:t>
            </a:r>
            <a:endParaRPr/>
          </a:p>
        </p:txBody>
      </p:sp>
      <p:sp>
        <p:nvSpPr>
          <p:cNvPr id="189" name="Google Shape;189;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Natural Language Toolkit (NLTK)</a:t>
            </a:r>
            <a:endParaRPr/>
          </a:p>
          <a:p>
            <a:pPr indent="-342900" lvl="0" marL="457200" rtl="0" algn="l">
              <a:spcBef>
                <a:spcPts val="0"/>
              </a:spcBef>
              <a:spcAft>
                <a:spcPts val="0"/>
              </a:spcAft>
              <a:buSzPts val="1800"/>
              <a:buChar char="●"/>
            </a:pPr>
            <a:r>
              <a:rPr lang="en-GB"/>
              <a:t>D</a:t>
            </a:r>
            <a:r>
              <a:rPr lang="en-GB"/>
              <a:t>ocuments </a:t>
            </a:r>
            <a:r>
              <a:rPr lang="en-GB"/>
              <a:t>converted </a:t>
            </a:r>
            <a:r>
              <a:rPr lang="en-GB"/>
              <a:t>to </a:t>
            </a:r>
            <a:r>
              <a:rPr lang="en-GB"/>
              <a:t>lists </a:t>
            </a:r>
            <a:r>
              <a:rPr lang="en-GB"/>
              <a:t>of words</a:t>
            </a:r>
            <a:endParaRPr/>
          </a:p>
          <a:p>
            <a:pPr indent="-342900" lvl="0" marL="457200" rtl="0" algn="l">
              <a:spcBef>
                <a:spcPts val="0"/>
              </a:spcBef>
              <a:spcAft>
                <a:spcPts val="0"/>
              </a:spcAft>
              <a:buSzPts val="1800"/>
              <a:buChar char="●"/>
            </a:pPr>
            <a:r>
              <a:rPr lang="en-GB"/>
              <a:t>R</a:t>
            </a:r>
            <a:r>
              <a:rPr lang="en-GB"/>
              <a:t>emoved p</a:t>
            </a:r>
            <a:r>
              <a:rPr lang="en-GB"/>
              <a:t>unctuation marks, numbers,</a:t>
            </a:r>
            <a:r>
              <a:rPr lang="en-GB"/>
              <a:t> new line</a:t>
            </a:r>
            <a:r>
              <a:rPr lang="en-GB"/>
              <a:t> symbols and common words (e.g. </a:t>
            </a:r>
            <a:r>
              <a:rPr i="1" lang="en-GB"/>
              <a:t>the</a:t>
            </a:r>
            <a:r>
              <a:rPr lang="en-GB"/>
              <a:t>, </a:t>
            </a:r>
            <a:r>
              <a:rPr i="1" lang="en-GB"/>
              <a:t>and</a:t>
            </a:r>
            <a:r>
              <a:rPr lang="en-GB"/>
              <a:t>, </a:t>
            </a:r>
            <a:r>
              <a:rPr i="1" lang="en-GB"/>
              <a:t>of</a:t>
            </a:r>
            <a:r>
              <a:rPr lang="en-GB"/>
              <a:t>, etc.)</a:t>
            </a:r>
            <a:endParaRPr/>
          </a:p>
        </p:txBody>
      </p:sp>
      <p:sp>
        <p:nvSpPr>
          <p:cNvPr id="190" name="Google Shape;190;p28"/>
          <p:cNvSpPr txBox="1"/>
          <p:nvPr/>
        </p:nvSpPr>
        <p:spPr>
          <a:xfrm>
            <a:off x="581279" y="3064951"/>
            <a:ext cx="3211800" cy="1473900"/>
          </a:xfrm>
          <a:prstGeom prst="rect">
            <a:avLst/>
          </a:prstGeom>
          <a:noFill/>
          <a:ln cap="flat" cmpd="sng" w="9525">
            <a:solidFill>
              <a:srgbClr val="188038"/>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88038"/>
                </a:solidFill>
                <a:latin typeface="Roboto Mono"/>
                <a:ea typeface="Roboto Mono"/>
                <a:cs typeface="Roboto Mono"/>
                <a:sym typeface="Roboto Mono"/>
              </a:rPr>
              <a:t>\nI have not much news since I wrote, except that the weather is now beautiful, and in consequence the gold frenzy has burst forth now in full force,</a:t>
            </a:r>
            <a:endParaRPr>
              <a:solidFill>
                <a:schemeClr val="dk2"/>
              </a:solidFill>
            </a:endParaRPr>
          </a:p>
        </p:txBody>
      </p:sp>
      <p:cxnSp>
        <p:nvCxnSpPr>
          <p:cNvPr id="191" name="Google Shape;191;p28"/>
          <p:cNvCxnSpPr>
            <a:stCxn id="190" idx="3"/>
          </p:cNvCxnSpPr>
          <p:nvPr/>
        </p:nvCxnSpPr>
        <p:spPr>
          <a:xfrm flipH="1" rot="10800000">
            <a:off x="3793079" y="3798901"/>
            <a:ext cx="1162500" cy="3000"/>
          </a:xfrm>
          <a:prstGeom prst="straightConnector1">
            <a:avLst/>
          </a:prstGeom>
          <a:noFill/>
          <a:ln cap="flat" cmpd="sng" w="19050">
            <a:solidFill>
              <a:srgbClr val="188038"/>
            </a:solidFill>
            <a:prstDash val="solid"/>
            <a:round/>
            <a:headEnd len="med" w="med" type="none"/>
            <a:tailEnd len="med" w="med" type="triangle"/>
          </a:ln>
        </p:spPr>
      </p:cxnSp>
      <p:sp>
        <p:nvSpPr>
          <p:cNvPr id="192" name="Google Shape;192;p28"/>
          <p:cNvSpPr txBox="1"/>
          <p:nvPr/>
        </p:nvSpPr>
        <p:spPr>
          <a:xfrm>
            <a:off x="4955579" y="2976892"/>
            <a:ext cx="3612600" cy="1673400"/>
          </a:xfrm>
          <a:prstGeom prst="rect">
            <a:avLst/>
          </a:prstGeom>
          <a:noFill/>
          <a:ln cap="flat" cmpd="sng" w="9525">
            <a:solidFill>
              <a:srgbClr val="188038"/>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88038"/>
                </a:solidFill>
                <a:latin typeface="Roboto Mono"/>
                <a:ea typeface="Roboto Mono"/>
                <a:cs typeface="Roboto Mono"/>
                <a:sym typeface="Roboto Mono"/>
              </a:rPr>
              <a:t>'</a:t>
            </a:r>
            <a:r>
              <a:rPr lang="en-GB">
                <a:solidFill>
                  <a:srgbClr val="188038"/>
                </a:solidFill>
                <a:latin typeface="Roboto Mono"/>
                <a:ea typeface="Roboto Mono"/>
                <a:cs typeface="Roboto Mono"/>
                <a:sym typeface="Roboto Mono"/>
              </a:rPr>
              <a:t>m</a:t>
            </a:r>
            <a:r>
              <a:rPr lang="en-GB">
                <a:solidFill>
                  <a:srgbClr val="188038"/>
                </a:solidFill>
                <a:latin typeface="Roboto Mono"/>
                <a:ea typeface="Roboto Mono"/>
                <a:cs typeface="Roboto Mono"/>
                <a:sym typeface="Roboto Mono"/>
              </a:rPr>
              <a:t>uch',			</a:t>
            </a:r>
            <a:r>
              <a:rPr lang="en-GB">
                <a:solidFill>
                  <a:srgbClr val="188038"/>
                </a:solidFill>
                <a:latin typeface="Roboto Mono"/>
                <a:ea typeface="Roboto Mono"/>
                <a:cs typeface="Roboto Mono"/>
                <a:sym typeface="Roboto Mono"/>
              </a:rPr>
              <a:t>'consequence',</a:t>
            </a:r>
            <a:endParaRPr>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GB">
                <a:solidFill>
                  <a:srgbClr val="188038"/>
                </a:solidFill>
                <a:latin typeface="Roboto Mono"/>
                <a:ea typeface="Roboto Mono"/>
                <a:cs typeface="Roboto Mono"/>
                <a:sym typeface="Roboto Mono"/>
              </a:rPr>
              <a:t>'</a:t>
            </a:r>
            <a:r>
              <a:rPr lang="en-GB">
                <a:solidFill>
                  <a:srgbClr val="188038"/>
                </a:solidFill>
                <a:latin typeface="Roboto Mono"/>
                <a:ea typeface="Roboto Mono"/>
                <a:cs typeface="Roboto Mono"/>
                <a:sym typeface="Roboto Mono"/>
              </a:rPr>
              <a:t>n</a:t>
            </a:r>
            <a:r>
              <a:rPr lang="en-GB">
                <a:solidFill>
                  <a:srgbClr val="188038"/>
                </a:solidFill>
                <a:latin typeface="Roboto Mono"/>
                <a:ea typeface="Roboto Mono"/>
                <a:cs typeface="Roboto Mono"/>
                <a:sym typeface="Roboto Mono"/>
              </a:rPr>
              <a:t>ews',			</a:t>
            </a:r>
            <a:r>
              <a:rPr lang="en-GB">
                <a:solidFill>
                  <a:srgbClr val="188038"/>
                </a:solidFill>
                <a:latin typeface="Roboto Mono"/>
                <a:ea typeface="Roboto Mono"/>
                <a:cs typeface="Roboto Mono"/>
                <a:sym typeface="Roboto Mono"/>
              </a:rPr>
              <a:t>'gold',</a:t>
            </a:r>
            <a:endParaRPr>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GB">
                <a:solidFill>
                  <a:srgbClr val="188038"/>
                </a:solidFill>
                <a:latin typeface="Roboto Mono"/>
                <a:ea typeface="Roboto Mono"/>
                <a:cs typeface="Roboto Mono"/>
                <a:sym typeface="Roboto Mono"/>
              </a:rPr>
              <a:t>'</a:t>
            </a:r>
            <a:r>
              <a:rPr lang="en-GB">
                <a:solidFill>
                  <a:srgbClr val="188038"/>
                </a:solidFill>
                <a:latin typeface="Roboto Mono"/>
                <a:ea typeface="Roboto Mono"/>
                <a:cs typeface="Roboto Mono"/>
                <a:sym typeface="Roboto Mono"/>
              </a:rPr>
              <a:t>s</a:t>
            </a:r>
            <a:r>
              <a:rPr lang="en-GB">
                <a:solidFill>
                  <a:srgbClr val="188038"/>
                </a:solidFill>
                <a:latin typeface="Roboto Mono"/>
                <a:ea typeface="Roboto Mono"/>
                <a:cs typeface="Roboto Mono"/>
                <a:sym typeface="Roboto Mono"/>
              </a:rPr>
              <a:t>ince',			</a:t>
            </a:r>
            <a:r>
              <a:rPr lang="en-GB">
                <a:solidFill>
                  <a:srgbClr val="188038"/>
                </a:solidFill>
                <a:latin typeface="Roboto Mono"/>
                <a:ea typeface="Roboto Mono"/>
                <a:cs typeface="Roboto Mono"/>
                <a:sym typeface="Roboto Mono"/>
              </a:rPr>
              <a:t>'frenzy',</a:t>
            </a:r>
            <a:endParaRPr>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GB">
                <a:solidFill>
                  <a:srgbClr val="188038"/>
                </a:solidFill>
                <a:latin typeface="Roboto Mono"/>
                <a:ea typeface="Roboto Mono"/>
                <a:cs typeface="Roboto Mono"/>
                <a:sym typeface="Roboto Mono"/>
              </a:rPr>
              <a:t>'</a:t>
            </a:r>
            <a:r>
              <a:rPr lang="en-GB">
                <a:solidFill>
                  <a:srgbClr val="188038"/>
                </a:solidFill>
                <a:latin typeface="Roboto Mono"/>
                <a:ea typeface="Roboto Mono"/>
                <a:cs typeface="Roboto Mono"/>
                <a:sym typeface="Roboto Mono"/>
              </a:rPr>
              <a:t>w</a:t>
            </a:r>
            <a:r>
              <a:rPr lang="en-GB">
                <a:solidFill>
                  <a:srgbClr val="188038"/>
                </a:solidFill>
                <a:latin typeface="Roboto Mono"/>
                <a:ea typeface="Roboto Mono"/>
                <a:cs typeface="Roboto Mono"/>
                <a:sym typeface="Roboto Mono"/>
              </a:rPr>
              <a:t>rite',			</a:t>
            </a:r>
            <a:r>
              <a:rPr lang="en-GB">
                <a:solidFill>
                  <a:srgbClr val="188038"/>
                </a:solidFill>
                <a:latin typeface="Roboto Mono"/>
                <a:ea typeface="Roboto Mono"/>
                <a:cs typeface="Roboto Mono"/>
                <a:sym typeface="Roboto Mono"/>
              </a:rPr>
              <a:t>'burst',</a:t>
            </a:r>
            <a:endParaRPr>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GB">
                <a:solidFill>
                  <a:srgbClr val="188038"/>
                </a:solidFill>
                <a:latin typeface="Roboto Mono"/>
                <a:ea typeface="Roboto Mono"/>
                <a:cs typeface="Roboto Mono"/>
                <a:sym typeface="Roboto Mono"/>
              </a:rPr>
              <a:t>'</a:t>
            </a:r>
            <a:r>
              <a:rPr lang="en-GB">
                <a:solidFill>
                  <a:srgbClr val="188038"/>
                </a:solidFill>
                <a:latin typeface="Roboto Mono"/>
                <a:ea typeface="Roboto Mono"/>
                <a:cs typeface="Roboto Mono"/>
                <a:sym typeface="Roboto Mono"/>
              </a:rPr>
              <a:t>e</a:t>
            </a:r>
            <a:r>
              <a:rPr lang="en-GB">
                <a:solidFill>
                  <a:srgbClr val="188038"/>
                </a:solidFill>
                <a:latin typeface="Roboto Mono"/>
                <a:ea typeface="Roboto Mono"/>
                <a:cs typeface="Roboto Mono"/>
                <a:sym typeface="Roboto Mono"/>
              </a:rPr>
              <a:t>xcept',		</a:t>
            </a:r>
            <a:r>
              <a:rPr lang="en-GB">
                <a:solidFill>
                  <a:srgbClr val="188038"/>
                </a:solidFill>
                <a:latin typeface="Roboto Mono"/>
                <a:ea typeface="Roboto Mono"/>
                <a:cs typeface="Roboto Mono"/>
                <a:sym typeface="Roboto Mono"/>
              </a:rPr>
              <a:t>'forth',</a:t>
            </a:r>
            <a:endParaRPr>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GB">
                <a:solidFill>
                  <a:srgbClr val="188038"/>
                </a:solidFill>
                <a:latin typeface="Roboto Mono"/>
                <a:ea typeface="Roboto Mono"/>
                <a:cs typeface="Roboto Mono"/>
                <a:sym typeface="Roboto Mono"/>
              </a:rPr>
              <a:t>'</a:t>
            </a:r>
            <a:r>
              <a:rPr lang="en-GB">
                <a:solidFill>
                  <a:srgbClr val="188038"/>
                </a:solidFill>
                <a:latin typeface="Roboto Mono"/>
                <a:ea typeface="Roboto Mono"/>
                <a:cs typeface="Roboto Mono"/>
                <a:sym typeface="Roboto Mono"/>
              </a:rPr>
              <a:t>w</a:t>
            </a:r>
            <a:r>
              <a:rPr lang="en-GB">
                <a:solidFill>
                  <a:srgbClr val="188038"/>
                </a:solidFill>
                <a:latin typeface="Roboto Mono"/>
                <a:ea typeface="Roboto Mono"/>
                <a:cs typeface="Roboto Mono"/>
                <a:sym typeface="Roboto Mono"/>
              </a:rPr>
              <a:t>eather',		</a:t>
            </a:r>
            <a:r>
              <a:rPr lang="en-GB">
                <a:solidFill>
                  <a:srgbClr val="188038"/>
                </a:solidFill>
                <a:latin typeface="Roboto Mono"/>
                <a:ea typeface="Roboto Mono"/>
                <a:cs typeface="Roboto Mono"/>
                <a:sym typeface="Roboto Mono"/>
              </a:rPr>
              <a:t>'full',</a:t>
            </a:r>
            <a:endParaRPr>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GB">
                <a:solidFill>
                  <a:srgbClr val="188038"/>
                </a:solidFill>
                <a:latin typeface="Roboto Mono"/>
                <a:ea typeface="Roboto Mono"/>
                <a:cs typeface="Roboto Mono"/>
                <a:sym typeface="Roboto Mono"/>
              </a:rPr>
              <a:t>'</a:t>
            </a:r>
            <a:r>
              <a:rPr lang="en-GB">
                <a:solidFill>
                  <a:srgbClr val="188038"/>
                </a:solidFill>
                <a:latin typeface="Roboto Mono"/>
                <a:ea typeface="Roboto Mono"/>
                <a:cs typeface="Roboto Mono"/>
                <a:sym typeface="Roboto Mono"/>
              </a:rPr>
              <a:t>b</a:t>
            </a:r>
            <a:r>
              <a:rPr lang="en-GB">
                <a:solidFill>
                  <a:srgbClr val="188038"/>
                </a:solidFill>
                <a:latin typeface="Roboto Mono"/>
                <a:ea typeface="Roboto Mono"/>
                <a:cs typeface="Roboto Mono"/>
                <a:sym typeface="Roboto Mono"/>
              </a:rPr>
              <a:t>eautiful',		</a:t>
            </a:r>
            <a:r>
              <a:rPr lang="en-GB">
                <a:solidFill>
                  <a:srgbClr val="188038"/>
                </a:solidFill>
                <a:latin typeface="Roboto Mono"/>
                <a:ea typeface="Roboto Mono"/>
                <a:cs typeface="Roboto Mono"/>
                <a:sym typeface="Roboto Mono"/>
              </a:rPr>
              <a:t>'force',</a:t>
            </a:r>
            <a:endParaRPr>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a:solidFill>
                <a:srgbClr val="188038"/>
              </a:solidFill>
              <a:latin typeface="Roboto Mono"/>
              <a:ea typeface="Roboto Mono"/>
              <a:cs typeface="Roboto Mono"/>
              <a:sym typeface="Roboto Mono"/>
            </a:endParaRPr>
          </a:p>
          <a:p>
            <a:pPr indent="0" lvl="0" marL="0" rtl="0" algn="l">
              <a:spcBef>
                <a:spcPts val="0"/>
              </a:spcBef>
              <a:spcAft>
                <a:spcPts val="0"/>
              </a:spcAft>
              <a:buNone/>
            </a:pPr>
            <a:r>
              <a:t/>
            </a:r>
            <a:endParaRPr>
              <a:solidFill>
                <a:srgbClr val="188038"/>
              </a:solidFill>
              <a:latin typeface="Roboto Mono"/>
              <a:ea typeface="Roboto Mono"/>
              <a:cs typeface="Roboto Mono"/>
              <a:sym typeface="Roboto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COOEE Notebook - Visualising the data</a:t>
            </a:r>
            <a:endParaRPr/>
          </a:p>
        </p:txBody>
      </p:sp>
      <p:pic>
        <p:nvPicPr>
          <p:cNvPr id="198" name="Google Shape;198;p29" title="CleanShot 2025-10-17 at 10.28.27.png"/>
          <p:cNvPicPr preferRelativeResize="0"/>
          <p:nvPr/>
        </p:nvPicPr>
        <p:blipFill>
          <a:blip r:embed="rId3">
            <a:alphaModFix/>
          </a:blip>
          <a:stretch>
            <a:fillRect/>
          </a:stretch>
        </p:blipFill>
        <p:spPr>
          <a:xfrm>
            <a:off x="48468" y="1928216"/>
            <a:ext cx="4914724" cy="3550025"/>
          </a:xfrm>
          <a:prstGeom prst="rect">
            <a:avLst/>
          </a:prstGeom>
          <a:noFill/>
          <a:ln>
            <a:noFill/>
          </a:ln>
          <a:effectLst>
            <a:outerShdw blurRad="57150" rotWithShape="0" algn="bl" dir="5400000" dist="19050">
              <a:srgbClr val="000000">
                <a:alpha val="50000"/>
              </a:srgbClr>
            </a:outerShdw>
          </a:effectLst>
        </p:spPr>
      </p:pic>
      <p:pic>
        <p:nvPicPr>
          <p:cNvPr id="199" name="Google Shape;199;p29" title="CleanShot 2025-10-17 at 10.28.52.png"/>
          <p:cNvPicPr preferRelativeResize="0"/>
          <p:nvPr/>
        </p:nvPicPr>
        <p:blipFill>
          <a:blip r:embed="rId4">
            <a:alphaModFix/>
          </a:blip>
          <a:stretch>
            <a:fillRect/>
          </a:stretch>
        </p:blipFill>
        <p:spPr>
          <a:xfrm>
            <a:off x="4463100" y="1078075"/>
            <a:ext cx="4797875" cy="29163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Tabulator</a:t>
            </a:r>
            <a:endParaRPr/>
          </a:p>
        </p:txBody>
      </p:sp>
      <p:sp>
        <p:nvSpPr>
          <p:cNvPr id="205" name="Google Shape;205;p30"/>
          <p:cNvSpPr txBox="1"/>
          <p:nvPr>
            <p:ph idx="1" type="body"/>
          </p:nvPr>
        </p:nvSpPr>
        <p:spPr>
          <a:xfrm>
            <a:off x="311700" y="1152475"/>
            <a:ext cx="39405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Observable v RO-Crates?</a:t>
            </a:r>
            <a:endParaRPr/>
          </a:p>
          <a:p>
            <a:pPr indent="-342900" lvl="0" marL="457200" rtl="0" algn="l">
              <a:spcBef>
                <a:spcPts val="0"/>
              </a:spcBef>
              <a:spcAft>
                <a:spcPts val="0"/>
              </a:spcAft>
              <a:buSzPts val="1800"/>
              <a:buChar char="●"/>
            </a:pPr>
            <a:r>
              <a:rPr lang="en-GB"/>
              <a:t>Needed a tool to turn a JSON-LD graph into tables</a:t>
            </a:r>
            <a:endParaRPr/>
          </a:p>
          <a:p>
            <a:pPr indent="0" lvl="0" marL="0" rtl="0" algn="l">
              <a:spcBef>
                <a:spcPts val="1200"/>
              </a:spcBef>
              <a:spcAft>
                <a:spcPts val="0"/>
              </a:spcAft>
              <a:buNone/>
            </a:pPr>
            <a:r>
              <a:t/>
            </a:r>
            <a:endParaRPr/>
          </a:p>
          <a:p>
            <a:pPr indent="0" lvl="0" marL="457200" rtl="0" algn="l">
              <a:spcBef>
                <a:spcPts val="1200"/>
              </a:spcBef>
              <a:spcAft>
                <a:spcPts val="0"/>
              </a:spcAft>
              <a:buNone/>
            </a:pPr>
            <a:r>
              <a:rPr lang="en-GB" sz="1400">
                <a:solidFill>
                  <a:srgbClr val="188038"/>
                </a:solidFill>
                <a:latin typeface="Roboto Mono"/>
                <a:ea typeface="Roboto Mono"/>
                <a:cs typeface="Roboto Mono"/>
                <a:sym typeface="Roboto Mono"/>
              </a:rPr>
              <a:t>"Tables": {</a:t>
            </a:r>
            <a:endParaRPr sz="1400">
              <a:solidFill>
                <a:srgbClr val="188038"/>
              </a:solidFill>
              <a:latin typeface="Roboto Mono"/>
              <a:ea typeface="Roboto Mono"/>
              <a:cs typeface="Roboto Mono"/>
              <a:sym typeface="Roboto Mono"/>
            </a:endParaRPr>
          </a:p>
          <a:p>
            <a:pPr indent="0" lvl="0" marL="457200" rtl="0" algn="l">
              <a:spcBef>
                <a:spcPts val="0"/>
              </a:spcBef>
              <a:spcAft>
                <a:spcPts val="0"/>
              </a:spcAft>
              <a:buNone/>
            </a:pPr>
            <a:r>
              <a:rPr lang="en-GB" sz="1400">
                <a:solidFill>
                  <a:srgbClr val="188038"/>
                </a:solidFill>
                <a:latin typeface="Roboto Mono"/>
                <a:ea typeface="Roboto Mono"/>
                <a:cs typeface="Roboto Mono"/>
                <a:sym typeface="Roboto Mono"/>
              </a:rPr>
              <a:t>    "RepositoryObject": [..],</a:t>
            </a:r>
            <a:endParaRPr sz="1400">
              <a:solidFill>
                <a:srgbClr val="188038"/>
              </a:solidFill>
              <a:latin typeface="Roboto Mono"/>
              <a:ea typeface="Roboto Mono"/>
              <a:cs typeface="Roboto Mono"/>
              <a:sym typeface="Roboto Mono"/>
            </a:endParaRPr>
          </a:p>
          <a:p>
            <a:pPr indent="0" lvl="0" marL="457200" rtl="0" algn="l">
              <a:spcBef>
                <a:spcPts val="0"/>
              </a:spcBef>
              <a:spcAft>
                <a:spcPts val="0"/>
              </a:spcAft>
              <a:buNone/>
            </a:pPr>
            <a:r>
              <a:rPr lang="en-GB" sz="1400">
                <a:solidFill>
                  <a:srgbClr val="188038"/>
                </a:solidFill>
                <a:latin typeface="Roboto Mono"/>
                <a:ea typeface="Roboto Mono"/>
                <a:cs typeface="Roboto Mono"/>
                <a:sym typeface="Roboto Mono"/>
              </a:rPr>
              <a:t>	"Person" [..],</a:t>
            </a:r>
            <a:endParaRPr sz="1400">
              <a:solidFill>
                <a:srgbClr val="188038"/>
              </a:solidFill>
              <a:latin typeface="Roboto Mono"/>
              <a:ea typeface="Roboto Mono"/>
              <a:cs typeface="Roboto Mono"/>
              <a:sym typeface="Roboto Mono"/>
            </a:endParaRPr>
          </a:p>
          <a:p>
            <a:pPr indent="457200" lvl="0" marL="457200" rtl="0" algn="l">
              <a:spcBef>
                <a:spcPts val="0"/>
              </a:spcBef>
              <a:spcAft>
                <a:spcPts val="0"/>
              </a:spcAft>
              <a:buNone/>
            </a:pPr>
            <a:r>
              <a:rPr lang="en-GB" sz="1400">
                <a:solidFill>
                  <a:srgbClr val="188038"/>
                </a:solidFill>
                <a:latin typeface="Roboto Mono"/>
                <a:ea typeface="Roboto Mono"/>
                <a:cs typeface="Roboto Mono"/>
                <a:sym typeface="Roboto Mono"/>
              </a:rPr>
              <a:t>..</a:t>
            </a:r>
            <a:endParaRPr sz="1400">
              <a:solidFill>
                <a:srgbClr val="188038"/>
              </a:solidFill>
              <a:latin typeface="Roboto Mono"/>
              <a:ea typeface="Roboto Mono"/>
              <a:cs typeface="Roboto Mono"/>
              <a:sym typeface="Roboto Mono"/>
            </a:endParaRPr>
          </a:p>
          <a:p>
            <a:pPr indent="0" lvl="0" marL="457200" rtl="0" algn="l">
              <a:spcBef>
                <a:spcPts val="0"/>
              </a:spcBef>
              <a:spcAft>
                <a:spcPts val="0"/>
              </a:spcAft>
              <a:buNone/>
            </a:pPr>
            <a:r>
              <a:rPr lang="en-GB" sz="1400">
                <a:solidFill>
                  <a:srgbClr val="188038"/>
                </a:solidFill>
                <a:latin typeface="Roboto Mono"/>
                <a:ea typeface="Roboto Mono"/>
                <a:cs typeface="Roboto Mono"/>
                <a:sym typeface="Roboto Mono"/>
              </a:rPr>
              <a:t>}</a:t>
            </a:r>
            <a:endParaRPr sz="1400">
              <a:solidFill>
                <a:srgbClr val="188038"/>
              </a:solidFill>
              <a:latin typeface="Roboto Mono"/>
              <a:ea typeface="Roboto Mono"/>
              <a:cs typeface="Roboto Mono"/>
              <a:sym typeface="Roboto Mono"/>
            </a:endParaRPr>
          </a:p>
          <a:p>
            <a:pPr indent="0" lvl="0" marL="457200" rtl="0" algn="l">
              <a:spcBef>
                <a:spcPts val="0"/>
              </a:spcBef>
              <a:spcAft>
                <a:spcPts val="1200"/>
              </a:spcAft>
              <a:buNone/>
            </a:pPr>
            <a:r>
              <a:t/>
            </a:r>
            <a:endParaRPr/>
          </a:p>
        </p:txBody>
      </p:sp>
      <p:pic>
        <p:nvPicPr>
          <p:cNvPr id="206" name="Google Shape;206;p30" title="Screenshot 2025-10-17 at 10.40.19 am.png"/>
          <p:cNvPicPr preferRelativeResize="0"/>
          <p:nvPr/>
        </p:nvPicPr>
        <p:blipFill>
          <a:blip r:embed="rId3">
            <a:alphaModFix/>
          </a:blip>
          <a:stretch>
            <a:fillRect/>
          </a:stretch>
        </p:blipFill>
        <p:spPr>
          <a:xfrm>
            <a:off x="4480875" y="661263"/>
            <a:ext cx="4132206" cy="38209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Annotated CSV exports</a:t>
            </a:r>
            <a:endParaRPr/>
          </a:p>
        </p:txBody>
      </p:sp>
      <p:sp>
        <p:nvSpPr>
          <p:cNvPr id="212" name="Google Shape;212;p31"/>
          <p:cNvSpPr txBox="1"/>
          <p:nvPr/>
        </p:nvSpPr>
        <p:spPr>
          <a:xfrm>
            <a:off x="232050" y="2332275"/>
            <a:ext cx="86799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1200">
                <a:solidFill>
                  <a:srgbClr val="188038"/>
                </a:solidFill>
                <a:latin typeface="Roboto Mono"/>
                <a:ea typeface="Roboto Mono"/>
                <a:cs typeface="Roboto Mono"/>
                <a:sym typeface="Roboto Mono"/>
              </a:rPr>
              <a:t>{</a:t>
            </a:r>
            <a:endParaRPr sz="1200">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GB" sz="1200">
                <a:solidFill>
                  <a:srgbClr val="188038"/>
                </a:solidFill>
                <a:latin typeface="Roboto Mono"/>
                <a:ea typeface="Roboto Mono"/>
                <a:cs typeface="Roboto Mono"/>
                <a:sym typeface="Roboto Mono"/>
              </a:rPr>
              <a:t>      "name": "author_local:birthDateEstimateStart",</a:t>
            </a:r>
            <a:endParaRPr sz="1200">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GB" sz="1200">
                <a:solidFill>
                  <a:srgbClr val="188038"/>
                </a:solidFill>
                <a:latin typeface="Roboto Mono"/>
                <a:ea typeface="Roboto Mono"/>
                <a:cs typeface="Roboto Mono"/>
                <a:sym typeface="Roboto Mono"/>
              </a:rPr>
              <a:t>      "label": "local:birthDateEstimateStart",</a:t>
            </a:r>
            <a:endParaRPr sz="1200">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GB" sz="1200">
                <a:solidFill>
                  <a:srgbClr val="188038"/>
                </a:solidFill>
                <a:latin typeface="Roboto Mono"/>
                <a:ea typeface="Roboto Mono"/>
                <a:cs typeface="Roboto Mono"/>
                <a:sym typeface="Roboto Mono"/>
              </a:rPr>
              <a:t>      "propertyUrl": "arcp://name,hdl10.26180~23961609/terms#birthDateEstimateStart",</a:t>
            </a:r>
            <a:endParaRPr sz="1200">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GB" sz="1200">
                <a:solidFill>
                  <a:srgbClr val="188038"/>
                </a:solidFill>
                <a:latin typeface="Roboto Mono"/>
                <a:ea typeface="Roboto Mono"/>
                <a:cs typeface="Roboto Mono"/>
                <a:sym typeface="Roboto Mono"/>
              </a:rPr>
              <a:t>      "description": "The start of the range of possible birth dates for a person - this is used when the birth date field was specified to the decade like 188x",</a:t>
            </a:r>
            <a:endParaRPr sz="1200">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GB" sz="1200">
                <a:solidFill>
                  <a:srgbClr val="188038"/>
                </a:solidFill>
                <a:latin typeface="Roboto Mono"/>
                <a:ea typeface="Roboto Mono"/>
                <a:cs typeface="Roboto Mono"/>
                <a:sym typeface="Roboto Mono"/>
              </a:rPr>
              <a:t>      "@id": "#COLUMN_documents.csv_author_local:birthDateEstimateStart",</a:t>
            </a:r>
            <a:endParaRPr sz="1200">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GB" sz="1200">
                <a:solidFill>
                  <a:srgbClr val="188038"/>
                </a:solidFill>
                <a:latin typeface="Roboto Mono"/>
                <a:ea typeface="Roboto Mono"/>
                <a:cs typeface="Roboto Mono"/>
                <a:sym typeface="Roboto Mono"/>
              </a:rPr>
              <a:t>      "@type": "csvw:Column"</a:t>
            </a:r>
            <a:endParaRPr sz="12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GB" sz="1200">
                <a:solidFill>
                  <a:srgbClr val="188038"/>
                </a:solidFill>
                <a:latin typeface="Roboto Mono"/>
                <a:ea typeface="Roboto Mono"/>
                <a:cs typeface="Roboto Mono"/>
                <a:sym typeface="Roboto Mono"/>
              </a:rPr>
              <a:t>}</a:t>
            </a:r>
            <a:endParaRPr sz="1200">
              <a:solidFill>
                <a:srgbClr val="188038"/>
              </a:solidFill>
              <a:latin typeface="Roboto Mono"/>
              <a:ea typeface="Roboto Mono"/>
              <a:cs typeface="Roboto Mono"/>
              <a:sym typeface="Roboto Mono"/>
            </a:endParaRPr>
          </a:p>
        </p:txBody>
      </p:sp>
      <p:pic>
        <p:nvPicPr>
          <p:cNvPr id="213" name="Google Shape;213;p31" title="Screenshot 2025-10-17 at 10.23.29 am.png"/>
          <p:cNvPicPr preferRelativeResize="0"/>
          <p:nvPr/>
        </p:nvPicPr>
        <p:blipFill>
          <a:blip r:embed="rId3">
            <a:alphaModFix/>
          </a:blip>
          <a:stretch>
            <a:fillRect/>
          </a:stretch>
        </p:blipFill>
        <p:spPr>
          <a:xfrm>
            <a:off x="152400" y="1017725"/>
            <a:ext cx="8839199" cy="801888"/>
          </a:xfrm>
          <a:prstGeom prst="rect">
            <a:avLst/>
          </a:prstGeom>
          <a:noFill/>
          <a:ln>
            <a:noFill/>
          </a:ln>
        </p:spPr>
      </p:pic>
      <p:cxnSp>
        <p:nvCxnSpPr>
          <p:cNvPr id="214" name="Google Shape;214;p31"/>
          <p:cNvCxnSpPr>
            <a:endCxn id="212" idx="0"/>
          </p:cNvCxnSpPr>
          <p:nvPr/>
        </p:nvCxnSpPr>
        <p:spPr>
          <a:xfrm flipH="1">
            <a:off x="4572000" y="1874175"/>
            <a:ext cx="228000" cy="458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Getting specific</a:t>
            </a:r>
            <a:endParaRPr/>
          </a:p>
        </p:txBody>
      </p:sp>
      <p:sp>
        <p:nvSpPr>
          <p:cNvPr id="220" name="Google Shape;220;p32"/>
          <p:cNvSpPr txBox="1"/>
          <p:nvPr>
            <p:ph idx="1" type="body"/>
          </p:nvPr>
        </p:nvSpPr>
        <p:spPr>
          <a:xfrm>
            <a:off x="311700" y="1152475"/>
            <a:ext cx="4134300" cy="1190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Tabulator: general</a:t>
            </a:r>
            <a:endParaRPr/>
          </a:p>
          <a:p>
            <a:pPr indent="-342900" lvl="0" marL="457200" rtl="0" algn="l">
              <a:spcBef>
                <a:spcPts val="0"/>
              </a:spcBef>
              <a:spcAft>
                <a:spcPts val="0"/>
              </a:spcAft>
              <a:buSzPts val="1800"/>
              <a:buChar char="●"/>
            </a:pPr>
            <a:r>
              <a:rPr lang="en-GB"/>
              <a:t>Tabulator-LDaCA: takes advantage of </a:t>
            </a:r>
            <a:r>
              <a:rPr lang="en-GB"/>
              <a:t>common features</a:t>
            </a:r>
            <a:endParaRPr/>
          </a:p>
        </p:txBody>
      </p:sp>
      <p:pic>
        <p:nvPicPr>
          <p:cNvPr id="221" name="Google Shape;221;p32" title="Screenshot 2025-10-17 at 9.55.15 am.png"/>
          <p:cNvPicPr preferRelativeResize="0"/>
          <p:nvPr/>
        </p:nvPicPr>
        <p:blipFill>
          <a:blip r:embed="rId3">
            <a:alphaModFix/>
          </a:blip>
          <a:stretch>
            <a:fillRect/>
          </a:stretch>
        </p:blipFill>
        <p:spPr>
          <a:xfrm>
            <a:off x="4572000" y="2204275"/>
            <a:ext cx="4260300" cy="2364600"/>
          </a:xfrm>
          <a:prstGeom prst="rect">
            <a:avLst/>
          </a:prstGeom>
          <a:noFill/>
          <a:ln>
            <a:noFill/>
          </a:ln>
        </p:spPr>
      </p:pic>
      <p:sp>
        <p:nvSpPr>
          <p:cNvPr id="222" name="Google Shape;222;p32"/>
          <p:cNvSpPr/>
          <p:nvPr/>
        </p:nvSpPr>
        <p:spPr>
          <a:xfrm>
            <a:off x="395650" y="2944075"/>
            <a:ext cx="1613850" cy="885000"/>
          </a:xfrm>
          <a:prstGeom prst="flowChartMagneticDisk">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data.ldaca.edu.au</a:t>
            </a:r>
            <a:endParaRPr/>
          </a:p>
        </p:txBody>
      </p:sp>
      <p:sp>
        <p:nvSpPr>
          <p:cNvPr id="223" name="Google Shape;223;p32"/>
          <p:cNvSpPr/>
          <p:nvPr/>
        </p:nvSpPr>
        <p:spPr>
          <a:xfrm>
            <a:off x="2494238" y="2985713"/>
            <a:ext cx="1613850" cy="801725"/>
          </a:xfrm>
          <a:prstGeom prst="flowChartInternalStorag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Streaming tabular text</a:t>
            </a:r>
            <a:endParaRPr/>
          </a:p>
        </p:txBody>
      </p:sp>
      <p:sp>
        <p:nvSpPr>
          <p:cNvPr id="224" name="Google Shape;224;p32"/>
          <p:cNvSpPr/>
          <p:nvPr/>
        </p:nvSpPr>
        <p:spPr>
          <a:xfrm>
            <a:off x="2111325" y="3256375"/>
            <a:ext cx="281100" cy="260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32"/>
          <p:cNvSpPr/>
          <p:nvPr/>
        </p:nvSpPr>
        <p:spPr>
          <a:xfrm>
            <a:off x="4209925" y="3256388"/>
            <a:ext cx="281100" cy="260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33"/>
          <p:cNvPicPr preferRelativeResize="0"/>
          <p:nvPr/>
        </p:nvPicPr>
        <p:blipFill>
          <a:blip r:embed="rId3">
            <a:alphaModFix/>
          </a:blip>
          <a:stretch>
            <a:fillRect/>
          </a:stretch>
        </p:blipFill>
        <p:spPr>
          <a:xfrm>
            <a:off x="189900" y="1"/>
            <a:ext cx="5119151" cy="2882700"/>
          </a:xfrm>
          <a:prstGeom prst="rect">
            <a:avLst/>
          </a:prstGeom>
          <a:noFill/>
          <a:ln>
            <a:noFill/>
          </a:ln>
        </p:spPr>
      </p:pic>
      <p:pic>
        <p:nvPicPr>
          <p:cNvPr id="231" name="Google Shape;231;p33"/>
          <p:cNvPicPr preferRelativeResize="0"/>
          <p:nvPr/>
        </p:nvPicPr>
        <p:blipFill>
          <a:blip r:embed="rId4">
            <a:alphaModFix/>
          </a:blip>
          <a:stretch>
            <a:fillRect/>
          </a:stretch>
        </p:blipFill>
        <p:spPr>
          <a:xfrm>
            <a:off x="2213025" y="1795075"/>
            <a:ext cx="5552973" cy="31527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